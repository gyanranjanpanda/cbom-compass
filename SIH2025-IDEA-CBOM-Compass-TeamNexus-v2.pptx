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84048"/>
            <a:ext cx="1403206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502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8C86"/>
                </a:solidFill>
                <a:latin typeface="Segoe UI"/>
              </a:rPr>
              <a:t>SMART INDIA HACKATHON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F497D"/>
                </a:solidFill>
                <a:latin typeface="Segoe UI"/>
              </a:rPr>
              <a:t>CBOM COMPASS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916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2933"/>
                </a:solidFill>
                <a:latin typeface="Segoe UI"/>
              </a:rPr>
              <a:t>An X-ray for your organisation’s encryption.</a:t>
            </a:r>
          </a:p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A6B7B"/>
                </a:solidFill>
                <a:latin typeface="Segoe UI"/>
              </a:rPr>
              <a:t>Find every lock in the building, work out which ones a quantum computer can pick and which ones the regulator bans first — then hand back a prioritised locksmith’s list.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670048"/>
            <a:ext cx="2743200" cy="31750"/>
          </a:xfrm>
          <a:prstGeom prst="rect">
            <a:avLst/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962656"/>
            <a:ext cx="1691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8"/>
                </a:solidFill>
                <a:latin typeface="Segoe UI"/>
              </a:rPr>
              <a:t>Problem Statement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962656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Segoe UI"/>
              </a:rPr>
              <a:t>SIH25164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51276"/>
            <a:ext cx="1691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8"/>
                </a:solidFill>
                <a:latin typeface="Segoe UI"/>
              </a:rPr>
              <a:t>Theme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3351276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Segoe UI"/>
              </a:rPr>
              <a:t>Cybersecurity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39896"/>
            <a:ext cx="1691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8"/>
                </a:solidFill>
                <a:latin typeface="Segoe UI"/>
              </a:rPr>
              <a:t>PS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739896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Segoe UI"/>
              </a:rPr>
              <a:t>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128515"/>
            <a:ext cx="1691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8"/>
                </a:solidFill>
                <a:latin typeface="Segoe UI"/>
              </a:rPr>
              <a:t>Team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4128515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Segoe UI"/>
              </a:rPr>
              <a:t>&lt;TEAM ID&gt;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17136"/>
            <a:ext cx="1691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8"/>
                </a:solidFill>
                <a:latin typeface="Segoe UI"/>
              </a:rPr>
              <a:t>Team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5728" y="4517136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Segoe UI"/>
              </a:rPr>
              <a:t>Team Nexus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033771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8FA3B8"/>
                </a:solidFill>
                <a:latin typeface="Segoe UI"/>
              </a:rPr>
              <a:t>Problem Statement Title</a:t>
            </a:r>
          </a:p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3"/>
                </a:solidFill>
                <a:latin typeface="Segoe UI"/>
              </a:rPr>
              <a:t>Development of a tool for the identification and assessment of cryptographic assets and their post-quantum migration readiness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417320"/>
            <a:ext cx="4617720" cy="4114800"/>
          </a:xfrm>
          <a:prstGeom prst="roundRect">
            <a:avLst>
              <a:gd name="adj" fmla="val 3500"/>
            </a:avLst>
          </a:prstGeom>
          <a:solidFill>
            <a:srgbClr val="F3F8FC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1609344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8FA3B8"/>
                </a:solidFill>
                <a:latin typeface="Segoe UI"/>
              </a:rPr>
              <a:t>THE SHIFT WE ARE MEASURING</a:t>
            </a:r>
          </a:p>
        </p:txBody>
      </p:sp>
      <p:sp>
        <p:nvSpPr>
          <p:cNvPr id="22" name="Donut 21"/>
          <p:cNvSpPr/>
          <p:nvPr/>
        </p:nvSpPr>
        <p:spPr>
          <a:xfrm>
            <a:off x="8114842" y="1993392"/>
            <a:ext cx="595274" cy="595274"/>
          </a:xfrm>
          <a:prstGeom prst="donut">
            <a:avLst>
              <a:gd name="adj" fmla="val 19000"/>
            </a:avLst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6554" y="2302934"/>
            <a:ext cx="631850" cy="327400"/>
          </a:xfrm>
          <a:prstGeom prst="rect">
            <a:avLst/>
          </a:prstGeom>
          <a:solidFill>
            <a:srgbClr val="F3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90027" y="2362462"/>
            <a:ext cx="844905" cy="633679"/>
          </a:xfrm>
          <a:prstGeom prst="roundRect">
            <a:avLst>
              <a:gd name="adj" fmla="val 18000"/>
            </a:avLst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0471" y="2539892"/>
            <a:ext cx="144018" cy="144018"/>
          </a:xfrm>
          <a:prstGeom prst="ellipse">
            <a:avLst/>
          </a:prstGeom>
          <a:solidFill>
            <a:srgbClr val="F3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3090672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0E8C86"/>
                </a:solidFill>
                <a:latin typeface="Segoe UI"/>
              </a:rPr>
              <a:t>TODAY</a:t>
            </a:r>
          </a:p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A6B7B"/>
                </a:solidFill>
                <a:latin typeface="Segoe UI"/>
              </a:rPr>
              <a:t>RSA and ECC hold
the door shut.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162288" y="2395728"/>
            <a:ext cx="475488" cy="256032"/>
          </a:xfrm>
          <a:prstGeom prst="rightArrow">
            <a:avLst/>
          </a:prstGeom>
          <a:solidFill>
            <a:srgbClr val="8F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nut 27"/>
          <p:cNvSpPr/>
          <p:nvPr/>
        </p:nvSpPr>
        <p:spPr>
          <a:xfrm>
            <a:off x="10080802" y="1993392"/>
            <a:ext cx="595274" cy="595274"/>
          </a:xfrm>
          <a:prstGeom prst="donut">
            <a:avLst>
              <a:gd name="adj" fmla="val 19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62514" y="2302934"/>
            <a:ext cx="631850" cy="327400"/>
          </a:xfrm>
          <a:prstGeom prst="rect">
            <a:avLst/>
          </a:prstGeom>
          <a:solidFill>
            <a:srgbClr val="F3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55987" y="2362462"/>
            <a:ext cx="844905" cy="633679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19680000">
            <a:off x="10009369" y="2088635"/>
            <a:ext cx="773856" cy="68580"/>
          </a:xfrm>
          <a:prstGeom prst="rect">
            <a:avLst/>
          </a:prstGeom>
          <a:solidFill>
            <a:srgbClr val="F3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3090672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C0392B"/>
                </a:solidFill>
                <a:latin typeface="Segoe UI"/>
              </a:rPr>
              <a:t>Q-DAY</a:t>
            </a:r>
          </a:p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A6B7B"/>
                </a:solidFill>
                <a:latin typeface="Segoe UI"/>
              </a:rPr>
              <a:t>Shor’s algorithm
opens both.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877056"/>
            <a:ext cx="3886200" cy="12700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4023360"/>
            <a:ext cx="3886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5A6B7B"/>
                </a:solidFill>
                <a:latin typeface="Segoe UI"/>
              </a:rPr>
              <a:t>No key size fixes this. The mathematics is gone —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F2933"/>
                </a:solidFill>
                <a:latin typeface="Segoe UI"/>
              </a:rPr>
              <a:t>so every RSA and ECC key you own has an expiry date.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60920" y="4828032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1500" b="1" i="0">
                <a:solidFill>
                  <a:srgbClr val="1F497D"/>
                </a:solidFill>
                <a:latin typeface="Segoe UI"/>
              </a:rPr>
              <a:t>8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8FA3B8"/>
                </a:solidFill>
                <a:latin typeface="Segoe UI"/>
              </a:rPr>
              <a:t>sources scanned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4828032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1500" b="1" i="0">
                <a:solidFill>
                  <a:srgbClr val="1F497D"/>
                </a:solidFill>
                <a:latin typeface="Segoe UI"/>
              </a:rPr>
              <a:t>191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8FA3B8"/>
                </a:solidFill>
                <a:latin typeface="Segoe UI"/>
              </a:rPr>
              <a:t>assets in the demo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87000" y="4828032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1500" b="1" i="0">
                <a:solidFill>
                  <a:srgbClr val="1F497D"/>
                </a:solidFill>
                <a:latin typeface="Segoe UI"/>
              </a:rPr>
              <a:t>100%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8FA3B8"/>
                </a:solidFill>
                <a:latin typeface="Segoe UI"/>
              </a:rPr>
              <a:t>precision, measured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0533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E8C86"/>
                </a:solidFill>
                <a:latin typeface="Segoe UI"/>
              </a:rPr>
              <a:t>Working prototype  ·  262 automated tests green  ·  runs offline on one laptop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7863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1F497D"/>
                </a:solidFill>
                <a:latin typeface="Segoe UI"/>
              </a:rPr>
              <a:t>IDEA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B7B"/>
                </a:solidFill>
                <a:latin typeface="Segoe UI"/>
              </a:rPr>
              <a:t>CBOM Compass — find it, judge it, rank it, fix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05840"/>
            <a:ext cx="11384280" cy="12700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85632" y="274320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E3F4F2"/>
          </a:solidFill>
          <a:ln w="9525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0E8C86"/>
                </a:solidFill>
                <a:latin typeface="Segoe UI"/>
              </a:rPr>
              <a:t>Team Nexus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46304"/>
            <a:ext cx="1115369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10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3B8"/>
                </a:solidFill>
                <a:latin typeface="Segoe U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3B8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11556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Segoe UI"/>
              </a:rPr>
              <a:t>THE PROBLEM, IN ONE PICTURE — “harvest now, decrypt later”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44752"/>
            <a:ext cx="3419856" cy="1536192"/>
          </a:xfrm>
          <a:prstGeom prst="roundRect">
            <a:avLst>
              <a:gd name="adj" fmla="val 5000"/>
            </a:avLst>
          </a:prstGeom>
          <a:solidFill>
            <a:srgbClr val="E3F4F2"/>
          </a:solidFill>
          <a:ln w="9525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591056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E8C86"/>
                </a:solidFill>
                <a:latin typeface="Segoe UI"/>
              </a:rPr>
              <a:t>1  · 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901952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1F2933"/>
                </a:solidFill>
                <a:latin typeface="Segoe UI"/>
              </a:rPr>
              <a:t>Your data is locked with
today’s encryption.</a:t>
            </a:r>
          </a:p>
        </p:txBody>
      </p:sp>
      <p:sp>
        <p:nvSpPr>
          <p:cNvPr id="14" name="Donut 13"/>
          <p:cNvSpPr/>
          <p:nvPr/>
        </p:nvSpPr>
        <p:spPr>
          <a:xfrm>
            <a:off x="3095061" y="1645920"/>
            <a:ext cx="521573" cy="521573"/>
          </a:xfrm>
          <a:prstGeom prst="donut">
            <a:avLst>
              <a:gd name="adj" fmla="val 19000"/>
            </a:avLst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76773" y="1917138"/>
            <a:ext cx="558149" cy="286865"/>
          </a:xfrm>
          <a:prstGeom prst="rect">
            <a:avLst/>
          </a:prstGeom>
          <a:solidFill>
            <a:srgbClr val="E3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85698" y="1969295"/>
            <a:ext cx="740298" cy="555223"/>
          </a:xfrm>
          <a:prstGeom prst="roundRect">
            <a:avLst>
              <a:gd name="adj" fmla="val 18000"/>
            </a:avLst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292754" y="2124758"/>
            <a:ext cx="126187" cy="126187"/>
          </a:xfrm>
          <a:prstGeom prst="ellipse">
            <a:avLst/>
          </a:prstGeom>
          <a:solidFill>
            <a:srgbClr val="E3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77639" y="1444752"/>
            <a:ext cx="3419856" cy="1536192"/>
          </a:xfrm>
          <a:prstGeom prst="roundRect">
            <a:avLst>
              <a:gd name="adj" fmla="val 5000"/>
            </a:avLst>
          </a:prstGeom>
          <a:solidFill>
            <a:srgbClr val="FDF4E3"/>
          </a:solidFill>
          <a:ln w="9525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78807" y="1591056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9770E"/>
                </a:solidFill>
                <a:latin typeface="Segoe UI"/>
              </a:rPr>
              <a:t>2  · 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807" y="1901952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1F2933"/>
                </a:solidFill>
                <a:latin typeface="Segoe UI"/>
              </a:rPr>
              <a:t>An attacker copies the locked
file. They cannot open it — yet.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7" y="1792224"/>
            <a:ext cx="475488" cy="603504"/>
          </a:xfrm>
          <a:prstGeom prst="roundRect">
            <a:avLst>
              <a:gd name="adj" fmla="val 8000"/>
            </a:avLst>
          </a:prstGeom>
          <a:solidFill>
            <a:srgbClr val="FDF4E3"/>
          </a:solidFill>
          <a:ln w="9525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47688" y="1700784"/>
            <a:ext cx="475488" cy="603504"/>
          </a:xfrm>
          <a:prstGeom prst="roundRect">
            <a:avLst>
              <a:gd name="adj" fmla="val 8000"/>
            </a:avLst>
          </a:prstGeom>
          <a:solidFill>
            <a:srgbClr val="FDF4E3"/>
          </a:solidFill>
          <a:ln w="9525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43800" y="1444752"/>
            <a:ext cx="3419856" cy="1536192"/>
          </a:xfrm>
          <a:prstGeom prst="roundRect">
            <a:avLst>
              <a:gd name="adj" fmla="val 5000"/>
            </a:avLst>
          </a:prstGeom>
          <a:solidFill>
            <a:srgbClr val="FBE9E7"/>
          </a:solidFill>
          <a:ln w="95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4968" y="1591056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Segoe UI"/>
              </a:rPr>
              <a:t>3  ·  ~2031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4968" y="1901952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1F2933"/>
                </a:solidFill>
                <a:latin typeface="Segoe UI"/>
              </a:rPr>
              <a:t>A quantum computer opens it.
Everything since today is exposed.</a:t>
            </a:r>
          </a:p>
        </p:txBody>
      </p:sp>
      <p:sp>
        <p:nvSpPr>
          <p:cNvPr id="26" name="Donut 25"/>
          <p:cNvSpPr/>
          <p:nvPr/>
        </p:nvSpPr>
        <p:spPr>
          <a:xfrm>
            <a:off x="10227381" y="1645920"/>
            <a:ext cx="521573" cy="521573"/>
          </a:xfrm>
          <a:prstGeom prst="donut">
            <a:avLst>
              <a:gd name="adj" fmla="val 19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09093" y="1917138"/>
            <a:ext cx="558149" cy="286865"/>
          </a:xfrm>
          <a:prstGeom prst="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118018" y="1969295"/>
            <a:ext cx="740298" cy="555223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9680000">
            <a:off x="10164792" y="1729371"/>
            <a:ext cx="678045" cy="68580"/>
          </a:xfrm>
          <a:prstGeom prst="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3803904" y="2103120"/>
            <a:ext cx="237744" cy="201168"/>
          </a:xfrm>
          <a:prstGeom prst="rightArrow">
            <a:avLst/>
          </a:prstGeom>
          <a:solidFill>
            <a:srgbClr val="8F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ight Arrow 30"/>
          <p:cNvSpPr/>
          <p:nvPr/>
        </p:nvSpPr>
        <p:spPr>
          <a:xfrm>
            <a:off x="7370064" y="2103120"/>
            <a:ext cx="237744" cy="201168"/>
          </a:xfrm>
          <a:prstGeom prst="rightArrow">
            <a:avLst/>
          </a:prstGeom>
          <a:solidFill>
            <a:srgbClr val="8F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11480" y="3127248"/>
            <a:ext cx="5989320" cy="1938528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3255264"/>
            <a:ext cx="5577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  <a:latin typeface="Segoe UI"/>
              </a:rPr>
              <a:t>HOW WE DECIDE WHAT MOVES FIRST — Mosca’s inequality, drawn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3675887"/>
            <a:ext cx="3383280" cy="274320"/>
          </a:xfrm>
          <a:prstGeom prst="roundRect">
            <a:avLst>
              <a:gd name="adj" fmla="val 12000"/>
            </a:avLst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X  ·  data must stay secret  ·  10 yrs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96512" y="3675887"/>
            <a:ext cx="1691640" cy="27432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Y  ·  migration  ·  5 yrs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04872" y="3547872"/>
            <a:ext cx="28575" cy="65836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37943" y="42245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C0392B"/>
                </a:solidFill>
                <a:latin typeface="Segoe UI"/>
              </a:rPr>
              <a:t>Q-Day  2031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" y="4133087"/>
            <a:ext cx="5074920" cy="9525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4462272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8FA3B8"/>
                </a:solidFill>
                <a:latin typeface="Segoe UI"/>
              </a:rPr>
              <a:t>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30552" y="4462272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8FA3B8"/>
                </a:solidFill>
                <a:latin typeface="Segoe UI"/>
              </a:rPr>
              <a:t>2031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22192" y="4462272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8FA3B8"/>
                </a:solidFill>
                <a:latin typeface="Segoe UI"/>
              </a:rPr>
              <a:t>2036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3832" y="4462272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8FA3B8"/>
                </a:solidFill>
                <a:latin typeface="Segoe UI"/>
              </a:rPr>
              <a:t>2041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4700016"/>
            <a:ext cx="5074920" cy="274320"/>
          </a:xfrm>
          <a:prstGeom prst="roundRect">
            <a:avLst>
              <a:gd name="adj" fmla="val 30000"/>
            </a:avLst>
          </a:prstGeom>
          <a:solidFill>
            <a:srgbClr val="FBE9E7"/>
          </a:solidFill>
          <a:ln w="95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C0392B"/>
                </a:solidFill>
                <a:latin typeface="Segoe UI"/>
              </a:rPr>
              <a:t>X + Y  =  15 yrs   &gt;   Z  =  5 yrs        →   this asset is already overdue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3127248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  <a:latin typeface="Segoe UI"/>
              </a:rPr>
              <a:t>WHAT THE TOOL ACTUALLY DOES</a:t>
            </a:r>
          </a:p>
        </p:txBody>
      </p:sp>
      <p:sp>
        <p:nvSpPr>
          <p:cNvPr id="45" name="Chevron 44"/>
          <p:cNvSpPr/>
          <p:nvPr/>
        </p:nvSpPr>
        <p:spPr>
          <a:xfrm>
            <a:off x="6601968" y="3438144"/>
            <a:ext cx="1481328" cy="1005840"/>
          </a:xfrm>
          <a:prstGeom prst="chevron">
            <a:avLst/>
          </a:prstGeom>
          <a:solidFill>
            <a:srgbClr val="F3F8FC"/>
          </a:solidFill>
          <a:ln w="12700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0E8C86"/>
                </a:solidFill>
                <a:latin typeface="Segoe UI"/>
              </a:rPr>
              <a:t>1  SEE</a:t>
            </a:r>
          </a:p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every place
encryption hides</a:t>
            </a:r>
          </a:p>
        </p:txBody>
      </p:sp>
      <p:sp>
        <p:nvSpPr>
          <p:cNvPr id="46" name="Chevron 45"/>
          <p:cNvSpPr/>
          <p:nvPr/>
        </p:nvSpPr>
        <p:spPr>
          <a:xfrm>
            <a:off x="7900416" y="3438144"/>
            <a:ext cx="1481328" cy="1005840"/>
          </a:xfrm>
          <a:prstGeom prst="chevron">
            <a:avLst/>
          </a:prstGeom>
          <a:solidFill>
            <a:srgbClr val="F3F8FC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0070C0"/>
                </a:solidFill>
                <a:latin typeface="Segoe UI"/>
              </a:rPr>
              <a:t>2  JUDGE</a:t>
            </a:r>
          </a:p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broken, weak,
or genuinely fine</a:t>
            </a:r>
          </a:p>
        </p:txBody>
      </p:sp>
      <p:sp>
        <p:nvSpPr>
          <p:cNvPr id="47" name="Chevron 46"/>
          <p:cNvSpPr/>
          <p:nvPr/>
        </p:nvSpPr>
        <p:spPr>
          <a:xfrm>
            <a:off x="9198864" y="3438144"/>
            <a:ext cx="1481328" cy="1005840"/>
          </a:xfrm>
          <a:prstGeom prst="chevron">
            <a:avLst/>
          </a:prstGeom>
          <a:solidFill>
            <a:srgbClr val="F3F8FC"/>
          </a:solidFill>
          <a:ln w="12700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B9770E"/>
                </a:solidFill>
                <a:latin typeface="Segoe UI"/>
              </a:rPr>
              <a:t>3  RANK</a:t>
            </a:r>
          </a:p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what breaks
you first</a:t>
            </a:r>
          </a:p>
        </p:txBody>
      </p:sp>
      <p:sp>
        <p:nvSpPr>
          <p:cNvPr id="48" name="Chevron 47"/>
          <p:cNvSpPr/>
          <p:nvPr/>
        </p:nvSpPr>
        <p:spPr>
          <a:xfrm>
            <a:off x="10497312" y="3438144"/>
            <a:ext cx="1481328" cy="1005840"/>
          </a:xfrm>
          <a:prstGeom prst="chevron">
            <a:avLst/>
          </a:prstGeom>
          <a:solidFill>
            <a:srgbClr val="F3F8FC"/>
          </a:solidFill>
          <a:ln w="12700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1E8449"/>
                </a:solidFill>
                <a:latin typeface="Segoe UI"/>
              </a:rPr>
              <a:t>4  FIX</a:t>
            </a:r>
          </a:p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the exact NIST
replacement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01968" y="45902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2933"/>
                </a:solidFill>
                <a:latin typeface="Segoe UI"/>
              </a:rPr>
              <a:t>One command, or one drag-and-drop.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B7B"/>
                </a:solidFill>
                <a:latin typeface="Segoe UI"/>
              </a:rPr>
              <a:t>No agent, no cluster, and nothing scanned ever leaves the machine.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5193792"/>
            <a:ext cx="3685032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5193792"/>
            <a:ext cx="3685032" cy="31750"/>
          </a:xfrm>
          <a:prstGeom prst="rect">
            <a:avLst/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5340096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E8C86"/>
                </a:solidFill>
                <a:latin typeface="Segoe UI"/>
              </a:rPr>
              <a:t>Detailed explanation of the solution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072" y="5614416"/>
            <a:ext cx="336499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 i="0">
                <a:solidFill>
                  <a:srgbClr val="5A6B7B"/>
                </a:solidFill>
                <a:latin typeface="Segoe UI"/>
              </a:rPr>
              <a:t>Eight sources — code, config, dependencies, binaries, containers, TLS, SSH, cloud &amp; HSM — merged into one de-duplicated inventory.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61104" y="5193792"/>
            <a:ext cx="3685032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61104" y="5193792"/>
            <a:ext cx="3685032" cy="31750"/>
          </a:xfrm>
          <a:prstGeom prst="rect">
            <a:avLst/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25696" y="5340096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E8C86"/>
                </a:solidFill>
                <a:latin typeface="Segoe UI"/>
              </a:rPr>
              <a:t>How it addresses the problem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25696" y="5614416"/>
            <a:ext cx="336499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 i="0">
                <a:solidFill>
                  <a:srgbClr val="5A6B7B"/>
                </a:solidFill>
                <a:latin typeface="Segoe UI"/>
              </a:rPr>
              <a:t>You cannot migrate what you cannot see. “We think we use RSA somewhere” becomes 191 named assets, each with an exact location.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10728" y="5193792"/>
            <a:ext cx="3685032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110728" y="5193792"/>
            <a:ext cx="3685032" cy="31750"/>
          </a:xfrm>
          <a:prstGeom prst="rect">
            <a:avLst/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75320" y="5340096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E8C86"/>
                </a:solidFill>
                <a:latin typeface="Segoe UI"/>
              </a:rPr>
              <a:t>Innovation and uniqueness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5614416"/>
            <a:ext cx="336499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 i="0">
                <a:solidFill>
                  <a:srgbClr val="5A6B7B"/>
                </a:solidFill>
                <a:latin typeface="Segoe UI"/>
              </a:rPr>
              <a:t>Mosca made continuous, not yes/no. We refuse to cry wolf — AES-256 stays green. And every finding is re-proved from disk.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7863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1F497D"/>
                </a:solidFill>
                <a:latin typeface="Segoe UI"/>
              </a:rPr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B7B"/>
                </a:solidFill>
                <a:latin typeface="Segoe UI"/>
              </a:rPr>
              <a:t>Pure static analysis plus read-only probes. No agent, no GPU, no cluster.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05840"/>
            <a:ext cx="11384280" cy="12700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85632" y="274320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E3F4F2"/>
          </a:solidFill>
          <a:ln w="9525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0E8C86"/>
                </a:solidFill>
                <a:latin typeface="Segoe UI"/>
              </a:rPr>
              <a:t>Team Nexus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46304"/>
            <a:ext cx="1115369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10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3B8"/>
                </a:solidFill>
                <a:latin typeface="Segoe U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3B8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13385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Segoe UI"/>
              </a:rPr>
              <a:t>WHERE ENCRYPTION HIDES — eight sources, one inventory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44752"/>
            <a:ext cx="1371600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90000"/>
              </a:lnSpc>
              <a:spcAft>
                <a:spcPts val="200"/>
              </a:spcAft>
            </a:pPr>
            <a:r>
              <a:rPr sz="900" b="1" i="0">
                <a:solidFill>
                  <a:srgbClr val="0E8C86"/>
                </a:solidFill>
                <a:latin typeface="Segoe UI"/>
              </a:rPr>
              <a:t>CODE</a:t>
            </a:r>
          </a:p>
          <a:p>
            <a:pPr algn="ctr">
              <a:lnSpc>
                <a:spcPct val="92000"/>
              </a:lnSpc>
            </a:pPr>
            <a:r>
              <a:rPr sz="750" b="0" i="0">
                <a:solidFill>
                  <a:srgbClr val="5A6B7B"/>
                </a:solidFill>
                <a:latin typeface="Segoe UI"/>
              </a:rPr>
              <a:t>Python AST
+ 6 languages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44752"/>
            <a:ext cx="1371600" cy="31750"/>
          </a:xfrm>
          <a:prstGeom prst="rect">
            <a:avLst/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37944" y="1444752"/>
            <a:ext cx="1371600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90000"/>
              </a:lnSpc>
              <a:spcAft>
                <a:spcPts val="200"/>
              </a:spcAft>
            </a:pPr>
            <a:r>
              <a:rPr sz="900" b="1" i="0">
                <a:solidFill>
                  <a:srgbClr val="0E8C86"/>
                </a:solidFill>
                <a:latin typeface="Segoe UI"/>
              </a:rPr>
              <a:t>CONFIG</a:t>
            </a:r>
          </a:p>
          <a:p>
            <a:pPr algn="ctr">
              <a:lnSpc>
                <a:spcPct val="92000"/>
              </a:lnSpc>
            </a:pPr>
            <a:r>
              <a:rPr sz="750" b="0" i="0">
                <a:solidFill>
                  <a:srgbClr val="5A6B7B"/>
                </a:solidFill>
                <a:latin typeface="Segoe UI"/>
              </a:rPr>
              <a:t>SSH · IPsec
nginx · VPN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37944" y="1444752"/>
            <a:ext cx="1371600" cy="31750"/>
          </a:xfrm>
          <a:prstGeom prst="rect">
            <a:avLst/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64408" y="1444752"/>
            <a:ext cx="1371600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90000"/>
              </a:lnSpc>
              <a:spcAft>
                <a:spcPts val="200"/>
              </a:spcAft>
            </a:pPr>
            <a:r>
              <a:rPr sz="900" b="1" i="0">
                <a:solidFill>
                  <a:srgbClr val="0070C0"/>
                </a:solidFill>
                <a:latin typeface="Segoe UI"/>
              </a:rPr>
              <a:t>DEPS</a:t>
            </a:r>
          </a:p>
          <a:p>
            <a:pPr algn="ctr">
              <a:lnSpc>
                <a:spcPct val="92000"/>
              </a:lnSpc>
            </a:pPr>
            <a:r>
              <a:rPr sz="750" b="0" i="0">
                <a:solidFill>
                  <a:srgbClr val="5A6B7B"/>
                </a:solidFill>
                <a:latin typeface="Segoe UI"/>
              </a:rPr>
              <a:t>manifests +
library KB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4408" y="1444752"/>
            <a:ext cx="1371600" cy="3175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0872" y="1444752"/>
            <a:ext cx="1371600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90000"/>
              </a:lnSpc>
              <a:spcAft>
                <a:spcPts val="200"/>
              </a:spcAft>
            </a:pPr>
            <a:r>
              <a:rPr sz="900" b="1" i="0">
                <a:solidFill>
                  <a:srgbClr val="0070C0"/>
                </a:solidFill>
                <a:latin typeface="Segoe UI"/>
              </a:rPr>
              <a:t>BINARIES</a:t>
            </a:r>
          </a:p>
          <a:p>
            <a:pPr algn="ctr">
              <a:lnSpc>
                <a:spcPct val="92000"/>
              </a:lnSpc>
            </a:pPr>
            <a:r>
              <a:rPr sz="750" b="0" i="0">
                <a:solidFill>
                  <a:srgbClr val="5A6B7B"/>
                </a:solidFill>
                <a:latin typeface="Segoe UI"/>
              </a:rPr>
              <a:t>ELF · PE
Mach-O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0872" y="1444752"/>
            <a:ext cx="1371600" cy="3175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17336" y="1444752"/>
            <a:ext cx="1371600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90000"/>
              </a:lnSpc>
              <a:spcAft>
                <a:spcPts val="200"/>
              </a:spcAft>
            </a:pPr>
            <a:r>
              <a:rPr sz="900" b="1" i="0">
                <a:solidFill>
                  <a:srgbClr val="1F497D"/>
                </a:solidFill>
                <a:latin typeface="Segoe UI"/>
              </a:rPr>
              <a:t>CONTAINERS</a:t>
            </a:r>
          </a:p>
          <a:p>
            <a:pPr algn="ctr">
              <a:lnSpc>
                <a:spcPct val="92000"/>
              </a:lnSpc>
            </a:pPr>
            <a:r>
              <a:rPr sz="750" b="0" i="0">
                <a:solidFill>
                  <a:srgbClr val="5A6B7B"/>
                </a:solidFill>
                <a:latin typeface="Segoe UI"/>
              </a:rPr>
              <a:t>layers +
baked-in keys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17336" y="1444752"/>
            <a:ext cx="1371600" cy="3175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43800" y="1444752"/>
            <a:ext cx="1371600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90000"/>
              </a:lnSpc>
              <a:spcAft>
                <a:spcPts val="200"/>
              </a:spcAft>
            </a:pPr>
            <a:r>
              <a:rPr sz="900" b="1" i="0">
                <a:solidFill>
                  <a:srgbClr val="B9770E"/>
                </a:solidFill>
                <a:latin typeface="Segoe UI"/>
              </a:rPr>
              <a:t>TLS</a:t>
            </a:r>
          </a:p>
          <a:p>
            <a:pPr algn="ctr">
              <a:lnSpc>
                <a:spcPct val="92000"/>
              </a:lnSpc>
            </a:pPr>
            <a:r>
              <a:rPr sz="750" b="0" i="0">
                <a:solidFill>
                  <a:srgbClr val="5A6B7B"/>
                </a:solidFill>
                <a:latin typeface="Segoe UI"/>
              </a:rPr>
              <a:t>live
handshake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1444752"/>
            <a:ext cx="1371600" cy="31750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70264" y="1444752"/>
            <a:ext cx="1371600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90000"/>
              </a:lnSpc>
              <a:spcAft>
                <a:spcPts val="200"/>
              </a:spcAft>
            </a:pPr>
            <a:r>
              <a:rPr sz="900" b="1" i="0">
                <a:solidFill>
                  <a:srgbClr val="B9770E"/>
                </a:solidFill>
                <a:latin typeface="Segoe UI"/>
              </a:rPr>
              <a:t>SSH</a:t>
            </a:r>
          </a:p>
          <a:p>
            <a:pPr algn="ctr">
              <a:lnSpc>
                <a:spcPct val="92000"/>
              </a:lnSpc>
            </a:pPr>
            <a:r>
              <a:rPr sz="750" b="0" i="0">
                <a:solidFill>
                  <a:srgbClr val="5A6B7B"/>
                </a:solidFill>
                <a:latin typeface="Segoe UI"/>
              </a:rPr>
              <a:t>live offered
algorithms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0264" y="1444752"/>
            <a:ext cx="1371600" cy="31750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396728" y="1444752"/>
            <a:ext cx="1371600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90000"/>
              </a:lnSpc>
              <a:spcAft>
                <a:spcPts val="200"/>
              </a:spcAft>
            </a:pPr>
            <a:r>
              <a:rPr sz="900" b="1" i="0">
                <a:solidFill>
                  <a:srgbClr val="C0392B"/>
                </a:solidFill>
                <a:latin typeface="Segoe UI"/>
              </a:rPr>
              <a:t>CLOUD &amp; HSM</a:t>
            </a:r>
          </a:p>
          <a:p>
            <a:pPr algn="ctr">
              <a:lnSpc>
                <a:spcPct val="92000"/>
              </a:lnSpc>
            </a:pPr>
            <a:r>
              <a:rPr sz="750" b="0" i="0">
                <a:solidFill>
                  <a:srgbClr val="5A6B7B"/>
                </a:solidFill>
                <a:latin typeface="Segoe UI"/>
              </a:rPr>
              <a:t>AWS · Azure
GCP · PKCS#11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96728" y="1444752"/>
            <a:ext cx="1371600" cy="3175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43230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Segoe UI"/>
              </a:rPr>
              <a:t>METHODOLOGY — six stages, and one failure never stops the run</a:t>
            </a:r>
          </a:p>
        </p:txBody>
      </p:sp>
      <p:sp>
        <p:nvSpPr>
          <p:cNvPr id="28" name="Chevron 27"/>
          <p:cNvSpPr/>
          <p:nvPr/>
        </p:nvSpPr>
        <p:spPr>
          <a:xfrm>
            <a:off x="411480" y="2743200"/>
            <a:ext cx="1993392" cy="841248"/>
          </a:xfrm>
          <a:prstGeom prst="chevron">
            <a:avLst/>
          </a:prstGeom>
          <a:solidFill>
            <a:srgbClr val="F3F8FC"/>
          </a:solidFill>
          <a:ln w="12700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0E8C86"/>
                </a:solidFill>
                <a:latin typeface="Segoe UI"/>
              </a:rPr>
              <a:t>1  INGEST</a:t>
            </a:r>
          </a:p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zip or repo URL,
sandboxed at the edge</a:t>
            </a:r>
          </a:p>
        </p:txBody>
      </p:sp>
      <p:sp>
        <p:nvSpPr>
          <p:cNvPr id="29" name="Chevron 28"/>
          <p:cNvSpPr/>
          <p:nvPr/>
        </p:nvSpPr>
        <p:spPr>
          <a:xfrm>
            <a:off x="2258568" y="2743200"/>
            <a:ext cx="1993392" cy="841248"/>
          </a:xfrm>
          <a:prstGeom prst="chevron">
            <a:avLst/>
          </a:prstGeom>
          <a:solidFill>
            <a:srgbClr val="F3F8FC"/>
          </a:solidFill>
          <a:ln w="12700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0E8C86"/>
                </a:solidFill>
                <a:latin typeface="Segoe UI"/>
              </a:rPr>
              <a:t>2  SCAN</a:t>
            </a:r>
          </a:p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eight scanners,
independently</a:t>
            </a:r>
          </a:p>
        </p:txBody>
      </p:sp>
      <p:sp>
        <p:nvSpPr>
          <p:cNvPr id="30" name="Chevron 29"/>
          <p:cNvSpPr/>
          <p:nvPr/>
        </p:nvSpPr>
        <p:spPr>
          <a:xfrm>
            <a:off x="4105656" y="2743200"/>
            <a:ext cx="1993392" cy="841248"/>
          </a:xfrm>
          <a:prstGeom prst="chevron">
            <a:avLst/>
          </a:prstGeom>
          <a:solidFill>
            <a:srgbClr val="F3F8FC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0070C0"/>
                </a:solidFill>
                <a:latin typeface="Segoe UI"/>
              </a:rPr>
              <a:t>3  MERGE</a:t>
            </a:r>
          </a:p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209 raw findings
→ 191 real assets</a:t>
            </a:r>
          </a:p>
        </p:txBody>
      </p:sp>
      <p:sp>
        <p:nvSpPr>
          <p:cNvPr id="31" name="Chevron 30"/>
          <p:cNvSpPr/>
          <p:nvPr/>
        </p:nvSpPr>
        <p:spPr>
          <a:xfrm>
            <a:off x="5952744" y="2743200"/>
            <a:ext cx="1993392" cy="841248"/>
          </a:xfrm>
          <a:prstGeom prst="chevron">
            <a:avLst/>
          </a:prstGeom>
          <a:solidFill>
            <a:srgbClr val="F3F8FC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0070C0"/>
                </a:solidFill>
                <a:latin typeface="Segoe UI"/>
              </a:rPr>
              <a:t>4  ASSESS</a:t>
            </a:r>
          </a:p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Shor · classical
· NIST IR 8547</a:t>
            </a:r>
          </a:p>
        </p:txBody>
      </p:sp>
      <p:sp>
        <p:nvSpPr>
          <p:cNvPr id="32" name="Chevron 31"/>
          <p:cNvSpPr/>
          <p:nvPr/>
        </p:nvSpPr>
        <p:spPr>
          <a:xfrm>
            <a:off x="7799831" y="2743200"/>
            <a:ext cx="1993392" cy="841248"/>
          </a:xfrm>
          <a:prstGeom prst="chevron">
            <a:avLst/>
          </a:prstGeom>
          <a:solidFill>
            <a:srgbClr val="F3F8FC"/>
          </a:solidFill>
          <a:ln w="12700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B9770E"/>
                </a:solidFill>
                <a:latin typeface="Segoe UI"/>
              </a:rPr>
              <a:t>5  RANK</a:t>
            </a:r>
          </a:p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Mosca × business
criticality</a:t>
            </a:r>
          </a:p>
        </p:txBody>
      </p:sp>
      <p:sp>
        <p:nvSpPr>
          <p:cNvPr id="33" name="Chevron 32"/>
          <p:cNvSpPr/>
          <p:nvPr/>
        </p:nvSpPr>
        <p:spPr>
          <a:xfrm>
            <a:off x="9646919" y="2743200"/>
            <a:ext cx="1993392" cy="841248"/>
          </a:xfrm>
          <a:prstGeom prst="chevron">
            <a:avLst/>
          </a:prstGeom>
          <a:solidFill>
            <a:srgbClr val="F3F8FC"/>
          </a:solidFill>
          <a:ln w="12700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1E8449"/>
                </a:solidFill>
                <a:latin typeface="Segoe UI"/>
              </a:rPr>
              <a:t>6  DELIVER</a:t>
            </a:r>
          </a:p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dashboard · CBOM
· board PDF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3767328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Segoe UI"/>
              </a:rPr>
              <a:t>TECHNOLOGIES USED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114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8FA3B8"/>
                </a:solidFill>
                <a:latin typeface="Segoe UI"/>
              </a:rPr>
              <a:t>Core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" y="4078224"/>
            <a:ext cx="937259" cy="274320"/>
          </a:xfrm>
          <a:prstGeom prst="roundRect">
            <a:avLst>
              <a:gd name="adj" fmla="val 50000"/>
            </a:avLst>
          </a:prstGeom>
          <a:solidFill>
            <a:srgbClr val="E3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E8C86"/>
                </a:solidFill>
                <a:latin typeface="Segoe UI"/>
              </a:rPr>
              <a:t>Python 3.11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318004" y="4078224"/>
            <a:ext cx="662940" cy="274320"/>
          </a:xfrm>
          <a:prstGeom prst="roundRect">
            <a:avLst>
              <a:gd name="adj" fmla="val 50000"/>
            </a:avLst>
          </a:prstGeom>
          <a:solidFill>
            <a:srgbClr val="E3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E8C86"/>
                </a:solidFill>
                <a:latin typeface="Segoe UI"/>
              </a:rPr>
              <a:t>FastAPI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063240" y="4078224"/>
            <a:ext cx="662940" cy="274320"/>
          </a:xfrm>
          <a:prstGeom prst="roundRect">
            <a:avLst>
              <a:gd name="adj" fmla="val 50000"/>
            </a:avLst>
          </a:prstGeom>
          <a:solidFill>
            <a:srgbClr val="E3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E8C86"/>
                </a:solidFill>
                <a:latin typeface="Segoe UI"/>
              </a:rPr>
              <a:t>Uvicorn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08476" y="4078224"/>
            <a:ext cx="1348739" cy="274320"/>
          </a:xfrm>
          <a:prstGeom prst="roundRect">
            <a:avLst>
              <a:gd name="adj" fmla="val 50000"/>
            </a:avLst>
          </a:prstGeom>
          <a:solidFill>
            <a:srgbClr val="E3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E8C86"/>
                </a:solidFill>
                <a:latin typeface="Segoe UI"/>
              </a:rPr>
              <a:t>SQLite → Postgres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4498848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8FA3B8"/>
                </a:solidFill>
                <a:latin typeface="Segoe UI"/>
              </a:rPr>
              <a:t>Detection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98448" y="4462272"/>
            <a:ext cx="388620" cy="274320"/>
          </a:xfrm>
          <a:prstGeom prst="roundRect">
            <a:avLst>
              <a:gd name="adj" fmla="val 50000"/>
            </a:avLst>
          </a:prstGeom>
          <a:solidFill>
            <a:srgbClr val="E4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070C0"/>
                </a:solidFill>
                <a:latin typeface="Segoe UI"/>
              </a:rPr>
              <a:t>ast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769364" y="4462272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E4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070C0"/>
                </a:solidFill>
                <a:latin typeface="Segoe UI"/>
              </a:rPr>
              <a:t>LIEF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08860" y="4462272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E4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070C0"/>
                </a:solidFill>
                <a:latin typeface="Segoe UI"/>
              </a:rPr>
              <a:t>Syft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48356" y="4462272"/>
            <a:ext cx="1348739" cy="274320"/>
          </a:xfrm>
          <a:prstGeom prst="roundRect">
            <a:avLst>
              <a:gd name="adj" fmla="val 50000"/>
            </a:avLst>
          </a:prstGeom>
          <a:solidFill>
            <a:srgbClr val="E4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070C0"/>
                </a:solidFill>
                <a:latin typeface="Segoe UI"/>
              </a:rPr>
              <a:t>TLS / SSH sockets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79392" y="4462272"/>
            <a:ext cx="525780" cy="274320"/>
          </a:xfrm>
          <a:prstGeom prst="roundRect">
            <a:avLst>
              <a:gd name="adj" fmla="val 50000"/>
            </a:avLst>
          </a:prstGeom>
          <a:solidFill>
            <a:srgbClr val="E4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070C0"/>
                </a:solidFill>
                <a:latin typeface="Segoe UI"/>
              </a:rPr>
              <a:t>boto3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87468" y="4462272"/>
            <a:ext cx="525780" cy="274320"/>
          </a:xfrm>
          <a:prstGeom prst="roundRect">
            <a:avLst>
              <a:gd name="adj" fmla="val 50000"/>
            </a:avLst>
          </a:prstGeom>
          <a:solidFill>
            <a:srgbClr val="E4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070C0"/>
                </a:solidFill>
                <a:latin typeface="Segoe UI"/>
              </a:rPr>
              <a:t>azure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95544" y="4462272"/>
            <a:ext cx="388620" cy="274320"/>
          </a:xfrm>
          <a:prstGeom prst="roundRect">
            <a:avLst>
              <a:gd name="adj" fmla="val 50000"/>
            </a:avLst>
          </a:prstGeom>
          <a:solidFill>
            <a:srgbClr val="E4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070C0"/>
                </a:solidFill>
                <a:latin typeface="Segoe UI"/>
              </a:rPr>
              <a:t>gcp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98448" y="4809744"/>
            <a:ext cx="662940" cy="274320"/>
          </a:xfrm>
          <a:prstGeom prst="roundRect">
            <a:avLst>
              <a:gd name="adj" fmla="val 50000"/>
            </a:avLst>
          </a:prstGeom>
          <a:solidFill>
            <a:srgbClr val="E4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0070C0"/>
                </a:solidFill>
                <a:latin typeface="Segoe UI"/>
              </a:rPr>
              <a:t>PKCS#11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5230368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8FA3B8"/>
                </a:solidFill>
                <a:latin typeface="Segoe UI"/>
              </a:rPr>
              <a:t>Output &amp; QA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298448" y="5193792"/>
            <a:ext cx="1074420" cy="274320"/>
          </a:xfrm>
          <a:prstGeom prst="roundRect">
            <a:avLst>
              <a:gd name="adj" fmla="val 50000"/>
            </a:avLst>
          </a:prstGeom>
          <a:solidFill>
            <a:srgbClr val="E6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1E8449"/>
                </a:solidFill>
                <a:latin typeface="Segoe UI"/>
              </a:rPr>
              <a:t>CycloneDX 1.7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455164" y="5193792"/>
            <a:ext cx="800100" cy="274320"/>
          </a:xfrm>
          <a:prstGeom prst="roundRect">
            <a:avLst>
              <a:gd name="adj" fmla="val 50000"/>
            </a:avLst>
          </a:prstGeom>
          <a:solidFill>
            <a:srgbClr val="E6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1E8449"/>
                </a:solidFill>
                <a:latin typeface="Segoe UI"/>
              </a:rPr>
              <a:t>ReportLab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337560" y="5193792"/>
            <a:ext cx="937259" cy="274320"/>
          </a:xfrm>
          <a:prstGeom prst="roundRect">
            <a:avLst>
              <a:gd name="adj" fmla="val 50000"/>
            </a:avLst>
          </a:prstGeom>
          <a:solidFill>
            <a:srgbClr val="E6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1E8449"/>
                </a:solidFill>
                <a:latin typeface="Segoe UI"/>
              </a:rPr>
              <a:t>pytest x262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7116" y="519379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6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50" b="1" i="0">
                <a:solidFill>
                  <a:srgbClr val="1E8449"/>
                </a:solidFill>
                <a:latin typeface="Segoe UI"/>
              </a:rPr>
              <a:t>Playwright</a:t>
            </a:r>
          </a:p>
        </p:txBody>
      </p:sp>
      <p:pic>
        <p:nvPicPr>
          <p:cNvPr id="54" name="Picture 53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041648"/>
            <a:ext cx="2633472" cy="1490306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6446520" y="4041648"/>
            <a:ext cx="2633472" cy="1490306"/>
          </a:xfrm>
          <a:prstGeom prst="rect">
            <a:avLst/>
          </a:prstGeom>
          <a:noFill/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46520" y="559596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8FA3B8"/>
                </a:solidFill>
                <a:latin typeface="Segoe UI"/>
              </a:rPr>
              <a:t>Asset graph - blast radius. All 191 assets stay represented.</a:t>
            </a:r>
          </a:p>
        </p:txBody>
      </p:sp>
      <p:pic>
        <p:nvPicPr>
          <p:cNvPr id="57" name="Picture 56" descr="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041648"/>
            <a:ext cx="2633472" cy="164592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9144000" y="4041648"/>
            <a:ext cx="2633472" cy="1645920"/>
          </a:xfrm>
          <a:prstGeom prst="rect">
            <a:avLst/>
          </a:prstGeom>
          <a:noFill/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0" y="575157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8FA3B8"/>
                </a:solidFill>
                <a:latin typeface="Segoe UI"/>
              </a:rPr>
              <a:t>Inventory - every asset traceable to an exact file and line.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907024"/>
            <a:ext cx="11365992" cy="402336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ctr"/>
            <a:r>
              <a:rPr sz="950" b="1" i="0">
                <a:solidFill>
                  <a:srgbClr val="1F2933"/>
                </a:solidFill>
                <a:latin typeface="Segoe UI"/>
              </a:rPr>
              <a:t>Hardware required: none.  A full 191-asset scan finishes in about a second on a laptop - no GPU, no cluster, and nothing scanned ever leaves the machine.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7863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1F497D"/>
                </a:solidFill>
                <a:latin typeface="Segoe UI"/>
              </a:rPr>
              <a:t>FEASIBILITY AND VIABILITY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B7B"/>
                </a:solidFill>
                <a:latin typeface="Segoe UI"/>
              </a:rPr>
              <a:t>Feasible because it is already built, and every number below is measured.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05840"/>
            <a:ext cx="11384280" cy="12700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85632" y="274320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E3F4F2"/>
          </a:solidFill>
          <a:ln w="9525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0E8C86"/>
                </a:solidFill>
                <a:latin typeface="Segoe UI"/>
              </a:rPr>
              <a:t>Team Nexus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46304"/>
            <a:ext cx="1115369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10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3B8"/>
                </a:solidFill>
                <a:latin typeface="Segoe U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3B8"/>
                </a:solidFill>
                <a:latin typeface="Segoe U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133856"/>
            <a:ext cx="6766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Segoe UI"/>
              </a:rPr>
              <a:t>ANALYSIS OF FEASIBILITY — measured, not estimated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44752"/>
            <a:ext cx="2176272" cy="6766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82000"/>
              </a:lnSpc>
              <a:spcAft>
                <a:spcPts val="0"/>
              </a:spcAft>
            </a:pPr>
            <a:r>
              <a:rPr sz="2000" b="1" i="0">
                <a:solidFill>
                  <a:srgbClr val="0E8C86"/>
                </a:solidFill>
                <a:latin typeface="Segoe UI"/>
              </a:rPr>
              <a:t>262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tests green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44752"/>
            <a:ext cx="2176272" cy="31750"/>
          </a:xfrm>
          <a:prstGeom prst="rect">
            <a:avLst/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60904" y="1444752"/>
            <a:ext cx="2176272" cy="6766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82000"/>
              </a:lnSpc>
              <a:spcAft>
                <a:spcPts val="0"/>
              </a:spcAft>
            </a:pPr>
            <a:r>
              <a:rPr sz="2000" b="1" i="0">
                <a:solidFill>
                  <a:srgbClr val="1E8449"/>
                </a:solidFill>
                <a:latin typeface="Segoe UI"/>
              </a:rPr>
              <a:t>100%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60904" y="1444752"/>
            <a:ext cx="2176272" cy="3175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0328" y="1444752"/>
            <a:ext cx="2176272" cy="6766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82000"/>
              </a:lnSpc>
              <a:spcAft>
                <a:spcPts val="0"/>
              </a:spcAft>
            </a:pPr>
            <a:r>
              <a:rPr sz="2000" b="1" i="0">
                <a:solidFill>
                  <a:srgbClr val="1E8449"/>
                </a:solidFill>
                <a:latin typeface="Segoe UI"/>
              </a:rPr>
              <a:t>97.5%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recall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10328" y="1444752"/>
            <a:ext cx="2176272" cy="3175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1480" y="2212848"/>
            <a:ext cx="2176272" cy="6766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82000"/>
              </a:lnSpc>
              <a:spcAft>
                <a:spcPts val="0"/>
              </a:spcAft>
            </a:pPr>
            <a:r>
              <a:rPr sz="2000" b="1" i="0">
                <a:solidFill>
                  <a:srgbClr val="0070C0"/>
                </a:solidFill>
                <a:latin typeface="Segoe UI"/>
              </a:rPr>
              <a:t>7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languages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12848"/>
            <a:ext cx="2176272" cy="3175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60904" y="2212848"/>
            <a:ext cx="2176272" cy="6766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82000"/>
              </a:lnSpc>
              <a:spcAft>
                <a:spcPts val="0"/>
              </a:spcAft>
            </a:pPr>
            <a:r>
              <a:rPr sz="2000" b="1" i="0">
                <a:solidFill>
                  <a:srgbClr val="0070C0"/>
                </a:solidFill>
                <a:latin typeface="Segoe UI"/>
              </a:rPr>
              <a:t>8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source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60904" y="2212848"/>
            <a:ext cx="2176272" cy="3175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910328" y="2212848"/>
            <a:ext cx="2176272" cy="6766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82000"/>
              </a:lnSpc>
              <a:spcAft>
                <a:spcPts val="0"/>
              </a:spcAft>
            </a:pPr>
            <a:r>
              <a:rPr sz="2000" b="1" i="0">
                <a:solidFill>
                  <a:srgbClr val="1F497D"/>
                </a:solidFill>
                <a:latin typeface="Segoe UI"/>
              </a:rPr>
              <a:t>0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hard dependencies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10328" y="2212848"/>
            <a:ext cx="2176272" cy="3175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80944"/>
            <a:ext cx="6675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Segoe UI"/>
              </a:rPr>
              <a:t>Every figure comes from pytest, the accuracy evaluator and a live scan on this machine.</a:t>
            </a:r>
          </a:p>
        </p:txBody>
      </p:sp>
      <p:pic>
        <p:nvPicPr>
          <p:cNvPr id="24" name="Picture 23" descr="overview_k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273552"/>
            <a:ext cx="6263640" cy="287558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11480" y="3273552"/>
            <a:ext cx="6263640" cy="2875580"/>
          </a:xfrm>
          <a:prstGeom prst="rect">
            <a:avLst/>
          </a:prstGeom>
          <a:noFill/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21314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8FA3B8"/>
                </a:solidFill>
                <a:latin typeface="Segoe UI"/>
              </a:rPr>
              <a:t>A real scan of the demo estate: 191 assets across all eight sources, scored and ranked - the numbers above are this run.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1133856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Segoe UI"/>
              </a:rPr>
              <a:t>RISKS  →  HOW WE HANDLE THEM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1444752"/>
            <a:ext cx="4462272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1444752"/>
            <a:ext cx="31750" cy="1005840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79" y="157276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2933"/>
                </a:solidFill>
                <a:latin typeface="Segoe UI"/>
              </a:rPr>
              <a:t>Static analysis cannot see runtime-chosen algorithms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1847088"/>
            <a:ext cx="4114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Every finding carries a confidence band, and our 2 known misses are published in the corpus as misses.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2505456"/>
            <a:ext cx="4462272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2505456"/>
            <a:ext cx="31750" cy="1005840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79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2933"/>
                </a:solidFill>
                <a:latin typeface="Segoe UI"/>
              </a:rPr>
              <a:t>Q-Day is genuinely unknowable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2907792"/>
            <a:ext cx="4114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Z is a visible dial, never a constant — and the fixed NIST 2030/2035 deadline is scored beside it.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0" y="3566160"/>
            <a:ext cx="4462272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0" y="3566160"/>
            <a:ext cx="31750" cy="1005840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79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2933"/>
                </a:solidFill>
                <a:latin typeface="Segoe UI"/>
              </a:rPr>
              <a:t>Business context is not in the code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3968496"/>
            <a:ext cx="4114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Data lifetime and criticality come from a reviewed policy file. Anything defaulted is badged “assumed”.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0" y="4626864"/>
            <a:ext cx="4462272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0" y="4626864"/>
            <a:ext cx="31750" cy="1005840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79" y="475488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2933"/>
                </a:solidFill>
                <a:latin typeface="Segoe UI"/>
              </a:rPr>
              <a:t>Our own output is an attacker’s shopping list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5029200"/>
            <a:ext cx="4114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Read-only connectors, allowlisted probing, role-gated settings, audit-logged exports, keys stored as fingerprints.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5779008"/>
            <a:ext cx="4462272" cy="512064"/>
          </a:xfrm>
          <a:prstGeom prst="roundRect">
            <a:avLst>
              <a:gd name="adj" fmla="val 5000"/>
            </a:avLst>
          </a:prstGeom>
          <a:solidFill>
            <a:srgbClr val="E3F4F2"/>
          </a:solidFill>
          <a:ln w="9525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ctr"/>
            <a:r>
              <a:rPr sz="950" b="1" i="0">
                <a:solidFill>
                  <a:srgbClr val="0E8C86"/>
                </a:solidFill>
                <a:latin typeface="Segoe UI"/>
              </a:rPr>
              <a:t>The scanner is threat-modelled as a target itself, not just as a 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7863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1F497D"/>
                </a:solidFill>
                <a:latin typeface="Segoe UI"/>
              </a:rPr>
              <a:t>IMPACT AND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B7B"/>
                </a:solidFill>
                <a:latin typeface="Segoe UI"/>
              </a:rPr>
              <a:t>Inventory is the step every post-quantum transition has to start from.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05840"/>
            <a:ext cx="11384280" cy="12700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85632" y="274320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E3F4F2"/>
          </a:solidFill>
          <a:ln w="9525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0E8C86"/>
                </a:solidFill>
                <a:latin typeface="Segoe UI"/>
              </a:rPr>
              <a:t>Team Nexus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46304"/>
            <a:ext cx="1115369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10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3B8"/>
                </a:solidFill>
                <a:latin typeface="Segoe U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3B8"/>
                </a:solidFill>
                <a:latin typeface="Segoe U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133856"/>
            <a:ext cx="6766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Segoe UI"/>
              </a:rPr>
              <a:t>WHO IT HELPS, AND HOW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44752"/>
            <a:ext cx="3310128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6072" y="1627632"/>
            <a:ext cx="201168" cy="201168"/>
          </a:xfrm>
          <a:prstGeom prst="ellipse">
            <a:avLst/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59105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E8C86"/>
                </a:solidFill>
                <a:latin typeface="Segoe UI"/>
              </a:rPr>
              <a:t>CISO / risk officer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847088"/>
            <a:ext cx="27066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A ranked, defensible board report instead of a spreadsheet guess.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7911" y="1444752"/>
            <a:ext cx="3310128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32503" y="1627632"/>
            <a:ext cx="201168" cy="20116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2" y="159105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Segoe UI"/>
              </a:rPr>
              <a:t>Security engineer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1847088"/>
            <a:ext cx="27066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Algorithm, key size and exact file:line, with a confidence band.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2395728"/>
            <a:ext cx="3310128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" y="2578608"/>
            <a:ext cx="201168" cy="201168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542032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  <a:latin typeface="Segoe UI"/>
              </a:rPr>
              <a:t>DevOps /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798064"/>
            <a:ext cx="27066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One command. No agent, no cluster, no code leaving the building.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67911" y="2395728"/>
            <a:ext cx="3310128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32503" y="2578608"/>
            <a:ext cx="201168" cy="201168"/>
          </a:xfrm>
          <a:prstGeom prst="ellipse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2542032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8449"/>
                </a:solidFill>
                <a:latin typeface="Segoe UI"/>
              </a:rPr>
              <a:t>Compliance / 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2798064"/>
            <a:ext cx="27066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A CycloneDX 1.7 CBOM is regulatory evidence. A screenshot is not.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383280"/>
            <a:ext cx="6766560" cy="786384"/>
          </a:xfrm>
          <a:prstGeom prst="roundRect">
            <a:avLst>
              <a:gd name="adj" fmla="val 5000"/>
            </a:avLst>
          </a:prstGeom>
          <a:solidFill>
            <a:srgbClr val="E3F4F2"/>
          </a:solidFill>
          <a:ln w="9525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3511296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E8C86"/>
                </a:solidFill>
                <a:latin typeface="Segoe UI"/>
              </a:rPr>
              <a:t>India, at national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3776472"/>
            <a:ext cx="6355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F2933"/>
                </a:solidFill>
                <a:latin typeface="Segoe UI"/>
              </a:rPr>
              <a:t>RBI, SEBI, UIDAI, defence and telecom all hold data whose confidentiality must outlast 2035 — and none of them can migrate what they have never inventoried.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4334256"/>
            <a:ext cx="6766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97D"/>
                </a:solidFill>
                <a:latin typeface="Segoe UI"/>
              </a:rPr>
              <a:t>BENEFITS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4645152"/>
            <a:ext cx="1636776" cy="1481328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90000"/>
              </a:lnSpc>
              <a:spcAft>
                <a:spcPts val="500"/>
              </a:spcAft>
            </a:pPr>
            <a:r>
              <a:rPr sz="850" b="1" i="0">
                <a:solidFill>
                  <a:srgbClr val="0E8C86"/>
                </a:solidFill>
                <a:latin typeface="Segoe UI"/>
              </a:rPr>
              <a:t>SOCIAL</a:t>
            </a:r>
          </a:p>
          <a:p>
            <a:pPr algn="ctr">
              <a:lnSpc>
                <a:spcPct val="104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Citizen data recorded today stays private after Q-Day.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645152"/>
            <a:ext cx="1636776" cy="31750"/>
          </a:xfrm>
          <a:prstGeom prst="rect">
            <a:avLst/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121408" y="4645152"/>
            <a:ext cx="1636776" cy="1481328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90000"/>
              </a:lnSpc>
              <a:spcAft>
                <a:spcPts val="500"/>
              </a:spcAft>
            </a:pPr>
            <a:r>
              <a:rPr sz="850" b="1" i="0">
                <a:solidFill>
                  <a:srgbClr val="0070C0"/>
                </a:solidFill>
                <a:latin typeface="Segoe UI"/>
              </a:rPr>
              <a:t>ECONOMIC</a:t>
            </a:r>
          </a:p>
          <a:p>
            <a:pPr algn="ctr">
              <a:lnSpc>
                <a:spcPct val="104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Budget goes to the few assets that matter, not a blanket rewrite.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21408" y="4645152"/>
            <a:ext cx="1636776" cy="3175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336" y="4645152"/>
            <a:ext cx="1636776" cy="1481328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90000"/>
              </a:lnSpc>
              <a:spcAft>
                <a:spcPts val="500"/>
              </a:spcAft>
            </a:pPr>
            <a:r>
              <a:rPr sz="850" b="1" i="0">
                <a:solidFill>
                  <a:srgbClr val="1F497D"/>
                </a:solidFill>
                <a:latin typeface="Segoe UI"/>
              </a:rPr>
              <a:t>STRATEGIC</a:t>
            </a:r>
          </a:p>
          <a:p>
            <a:pPr algn="ctr">
              <a:lnSpc>
                <a:spcPct val="104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Self-hosted. No map of India’s weak points sent to a foreign SaaS.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31336" y="4645152"/>
            <a:ext cx="1636776" cy="3175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541264" y="4645152"/>
            <a:ext cx="1636776" cy="1481328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90000"/>
              </a:lnSpc>
              <a:spcAft>
                <a:spcPts val="500"/>
              </a:spcAft>
            </a:pPr>
            <a:r>
              <a:rPr sz="850" b="1" i="0">
                <a:solidFill>
                  <a:srgbClr val="1E8449"/>
                </a:solidFill>
                <a:latin typeface="Segoe UI"/>
              </a:rPr>
              <a:t>ENVIRONMENTAL</a:t>
            </a:r>
          </a:p>
          <a:p>
            <a:pPr algn="ctr">
              <a:lnSpc>
                <a:spcPct val="104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A laptop, for about a second. No GPU, no always-on agent.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41264" y="4645152"/>
            <a:ext cx="1636776" cy="3175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re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44752"/>
            <a:ext cx="4462272" cy="2778778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7315200" y="1444752"/>
            <a:ext cx="4462272" cy="2778778"/>
          </a:xfrm>
          <a:prstGeom prst="rect">
            <a:avLst/>
          </a:prstGeom>
          <a:noFill/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4287538"/>
            <a:ext cx="4462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8FA3B8"/>
                </a:solidFill>
                <a:latin typeface="Segoe UI"/>
              </a:rPr>
              <a:t>Recommendations — every broken asset gets a named NIST replacement, ranked by risk, latency and rotation cost.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5358384"/>
            <a:ext cx="446227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0E8C86"/>
                </a:solidFill>
                <a:latin typeface="Segoe UI"/>
              </a:rPr>
              <a:t>In plain English</a:t>
            </a:r>
          </a:p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1F2933"/>
                </a:solidFill>
                <a:latin typeface="Segoe UI"/>
              </a:rPr>
              <a:t>It does not just say “this lock is weak”. It says replace this exact lock, with this exact model, before this date — and puts the ones that matter most at the 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7863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1F497D"/>
                </a:solidFill>
                <a:latin typeface="Segoe UI"/>
              </a:rPr>
              <a:t>RESEARCH AND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B7B"/>
                </a:solidFill>
                <a:latin typeface="Segoe UI"/>
              </a:rPr>
              <a:t>What we implement, what we measured ourselves, and what changed the design.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05840"/>
            <a:ext cx="11384280" cy="12700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85632" y="274320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E3F4F2"/>
          </a:solidFill>
          <a:ln w="9525">
            <a:solidFill>
              <a:srgbClr val="0E8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0E8C86"/>
                </a:solidFill>
                <a:latin typeface="Segoe UI"/>
              </a:rPr>
              <a:t>Team Nexus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46304"/>
            <a:ext cx="1115369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19088"/>
            <a:ext cx="12191695" cy="9525"/>
          </a:xfrm>
          <a:prstGeom prst="rect">
            <a:avLst/>
          </a:prstGeom>
          <a:solidFill>
            <a:srgbClr val="CB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10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3B8"/>
                </a:solidFill>
                <a:latin typeface="Segoe U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3B8"/>
                </a:solidFill>
                <a:latin typeface="Segoe U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52144"/>
            <a:ext cx="5669280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152144"/>
            <a:ext cx="5669280" cy="31750"/>
          </a:xfrm>
          <a:prstGeom prst="rect">
            <a:avLst/>
          </a:prstGeom>
          <a:solidFill>
            <a:srgbClr val="0E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28930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E8C86"/>
                </a:solidFill>
                <a:latin typeface="Segoe UI"/>
              </a:rPr>
              <a:t>STANDARDS WE IMPLEMENT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572768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NIST IR 8547 (ipd)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1764792"/>
            <a:ext cx="5266944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RSA and ECC deprecated after 2030, disallowed after 2035 — the second, certain clock.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043684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FIPS 203 / 204 / 205 / 206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235708"/>
            <a:ext cx="5266944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ML-KEM, ML-DSA, SLH-DSA, FN-DSA — the replacements we name per asset.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514600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NIST SP 800-208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2706624"/>
            <a:ext cx="5266944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LMS / XMSS for firmware and code signing.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985516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NSA CNSA 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177540"/>
            <a:ext cx="5266944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Source of our AES-256 / SHA-384 policy flags — raised as policy, never as a break.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1152144"/>
            <a:ext cx="5669280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91072" y="1152144"/>
            <a:ext cx="5669280" cy="3175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28930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Segoe UI"/>
              </a:rPr>
              <a:t>FORMATS AND PRIOR 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572768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CycloneDX 1.7 / ECMA-424 2nd 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764792"/>
            <a:ext cx="5266944" cy="408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Ratified Dec 2025. Our CBOM output format, validated on every scan.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200656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CycloneDX Cryptography Registry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392680"/>
            <a:ext cx="5266944" cy="408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Algorithm-name normalisation, so our output is comparable with other vendors’.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828544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IBM CBOM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020568"/>
            <a:ext cx="5266944" cy="408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github.com/IBM/CBOM — the closest prior art, and the baseline we measured our output shape against.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3712463"/>
            <a:ext cx="5669280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3712463"/>
            <a:ext cx="5669280" cy="3175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38496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  <a:latin typeface="Segoe UI"/>
              </a:rPr>
              <a:t>METHOD AND THEORY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" y="4133087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M. Mosca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4325112"/>
            <a:ext cx="5266944" cy="408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The X + Y &gt; Z inequality — the backbone of our priority score.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4760975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P. Shor (1994)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" y="4952999"/>
            <a:ext cx="5266944" cy="408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Why RSA, DSA, DH, ECDSA and ECDH break outright rather than weaken: no key size fixes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" y="5388863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Grover (1996) · Brassard–Høyer–Tapp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" y="5580887"/>
            <a:ext cx="5266944" cy="408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And why they matter far less than the headlines claim — this reading is why we classify AES-128 and SHA-256 as adequate.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91072" y="3712463"/>
            <a:ext cx="5669280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91072" y="3712463"/>
            <a:ext cx="5669280" cy="3175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38496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8449"/>
                </a:solidFill>
                <a:latin typeface="Segoe UI"/>
              </a:rPr>
              <a:t>OUR OWN RESEARCH — NOT JUST CITATIONS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133087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corpus/ — ground truth we built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325112"/>
            <a:ext cx="5266944" cy="408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91 usages hand-labelled from source across 7 languages, plus 7 negative controls. Building it found 7 real bugs in our own scanner.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4760975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Measured, not asserted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4952999"/>
            <a:ext cx="5266944" cy="408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100% precision / 97.5% recall; strict 98.9% / 96.7%. A regression fails CI instead of shipping.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5388863"/>
            <a:ext cx="52669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2933"/>
                </a:solidFill>
                <a:latin typeface="Segoe UI"/>
              </a:rPr>
              <a:t>Research that changed the design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80887"/>
            <a:ext cx="5266944" cy="408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B7B"/>
                </a:solidFill>
                <a:latin typeface="Segoe UI"/>
              </a:rPr>
              <a:t>A real scan of paramiko scored an already-migrated ML-KEM exchange at 0.60 — that one finding rewrote the priority formula.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199632"/>
            <a:ext cx="10972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8FA3B8"/>
                </a:solidFill>
                <a:latin typeface="Segoe UI"/>
              </a:rPr>
              <a:t>Full specification and design record: docs/cbom-compass-prd.md   ·   scanner accuracy notes: corpus/README.md   ·   architecture, security model and stated limits: 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