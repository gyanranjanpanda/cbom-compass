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80" y="6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Open with the threat, not the tool. Attackers are recording encrypted traffic today so they can decrypt it once a quantum computer exists — 'harvest now, decrypt later'. Anything that must stay secret for longer than the time left until then is already exposed. But no organisation can migrate cryptography it cannot see. CBOM Compass scans the six places encryption hides, merges everything into one de-duplicated inventory, and scores each asset on two clocks: physics and regulation. The screenshot on the right is a real scan of github.com/golang/crypto — 144 assets, 69 broken, 83 exposed to harvest-now-decrypt-later. If asked what is genuinely new: the priority score is continuous rather than a yes/no, we deliberately refuse to overstate Grover, and every finding can be re-verified from disk.</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Two things to land here. First, there is no exotic dependency — Python, FastAPI, SQLite, and it runs offline on a laptop. Second, the pipeline is six honest stages. Emphasise stage 3: 181 raw findings collapse to 144 real assets, because the same OpenSSL seen by three scanners is one asset, while two RSA-2048 call sites in different services stay separate. Both screenshots are the live prototype, not mockups. If a judge probes scale, point at the graph: the long tail is clustered, never truncated — all 144 assets stay represented.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slide answers 'is it real?' before it answers 'is it hard?'. Every number in the top strip is reproducible on the machine in front of you: pytest for 140, cbom-compass eval for the accuracy figures. Then be honest about the limits — that honesty is the argument. We cannot see runtime-chosen algorithms, so we publish those five misses instead of hiding them. Q-Day is unknowable, so we score the NIST deadline beside it and the tool still works for a sceptic who thinks Q-Day is 2050. And the tool's own output is dangerous, so the connectors are read-only and the private keys we find are stored as fingerprints only.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Move from the tool to the consequence. For a CISO this replaces a spreadsheet guess with a defensible ranked report; for an auditor a CycloneDX CBOM is evidence in a way a screenshot never is. The national point is the one worth landing: RBI, SEBI, UIDAI, defence and telecom all hold data that must stay confidential well past 2035, and inventory is the first step of any PQC transition — the step almost nobody has done. On benefits, the strategic one usually gets the most attention: this is self-hosted, so no Indian organisation has to send a map of its cryptographic weak points to a foreign SaaS vendor.</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Do not read the citations aloud. Say that the standards column is what we implement, not what we admire — NIST IR 8547 is the deadline we score, FIPS 203/204/205 are the replacements we name. Spend the time on the bottom strip instead: we built a 50-usage labelled corpus with four negative controls, and building it found seven real bugs in our own scanner. That is the difference between claiming accuracy and measuring it. Finish on 'research that changed the design' — each of those three items is a case where reading the source material or running against real code made us rewrite something.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6/26/2025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6/26/2025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6/26/2025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6/26/2025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2025</a:t>
            </a:r>
            <a:endParaRPr lang="en-IN" sz="4000" b="1" dirty="0">
              <a:solidFill>
                <a:schemeClr val="tx2"/>
              </a:solidFill>
              <a:latin typeface="Garamond" panose="02020404030301010803" pitchFamily="18"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p:cNvSpPr txBox="1"/>
          <p:nvPr/>
        </p:nvSpPr>
        <p:spPr>
          <a:xfrm>
            <a:off x="329184" y="2103120"/>
            <a:ext cx="5577840" cy="2615184"/>
          </a:xfrm>
          <a:prstGeom prst="rect">
            <a:avLst/>
          </a:prstGeom>
          <a:noFill/>
        </p:spPr>
        <p:txBody>
          <a:bodyPr wrap="square" anchor="t" lIns="0" rIns="0" tIns="0" bIns="0">
            <a:spAutoFit/>
          </a:bodyPr>
          <a:lstStyle/>
          <a:p>
            <a:pPr algn="l">
              <a:spcAft>
                <a:spcPts val="0"/>
              </a:spcAft>
            </a:pPr>
            <a:r>
              <a:rPr sz="1000" b="0">
                <a:solidFill>
                  <a:srgbClr val="5A6B7C"/>
                </a:solidFill>
                <a:latin typeface="Arial"/>
              </a:rPr>
              <a:t>Problem Statement ID – </a:t>
            </a:r>
          </a:p>
          <a:p>
            <a:pPr algn="l">
              <a:spcAft>
                <a:spcPts val="600"/>
              </a:spcAft>
            </a:pPr>
            <a:r>
              <a:rPr sz="1200" b="1">
                <a:solidFill>
                  <a:srgbClr val="1F2933"/>
                </a:solidFill>
                <a:latin typeface="Arial"/>
              </a:rPr>
              <a:t>SIH25164</a:t>
            </a:r>
          </a:p>
          <a:p>
            <a:pPr algn="l">
              <a:spcAft>
                <a:spcPts val="0"/>
              </a:spcAft>
            </a:pPr>
            <a:r>
              <a:rPr sz="1000" b="0">
                <a:solidFill>
                  <a:srgbClr val="5A6B7C"/>
                </a:solidFill>
                <a:latin typeface="Arial"/>
              </a:rPr>
              <a:t>Problem Statement Title – </a:t>
            </a:r>
          </a:p>
          <a:p>
            <a:pPr algn="l">
              <a:lnSpc>
                <a:spcPct val="102000"/>
              </a:lnSpc>
              <a:spcAft>
                <a:spcPts val="600"/>
              </a:spcAft>
            </a:pPr>
            <a:r>
              <a:rPr sz="1000" b="1">
                <a:solidFill>
                  <a:srgbClr val="1F2933"/>
                </a:solidFill>
                <a:latin typeface="Arial"/>
              </a:rPr>
              <a:t>Development of a tool for the identification and assessment of cryptographic assets and their post-quantum migration readiness</a:t>
            </a:r>
          </a:p>
          <a:p>
            <a:pPr algn="l">
              <a:spcAft>
                <a:spcPts val="0"/>
              </a:spcAft>
            </a:pPr>
            <a:r>
              <a:rPr sz="1000" b="0">
                <a:solidFill>
                  <a:srgbClr val="5A6B7C"/>
                </a:solidFill>
                <a:latin typeface="Arial"/>
              </a:rPr>
              <a:t>Theme – </a:t>
            </a:r>
          </a:p>
          <a:p>
            <a:pPr algn="l">
              <a:spcAft>
                <a:spcPts val="600"/>
              </a:spcAft>
            </a:pPr>
            <a:r>
              <a:rPr sz="1000" b="1">
                <a:solidFill>
                  <a:srgbClr val="1F2933"/>
                </a:solidFill>
                <a:latin typeface="Arial"/>
              </a:rPr>
              <a:t>Cybersecurity</a:t>
            </a:r>
          </a:p>
          <a:p>
            <a:pPr algn="l">
              <a:spcAft>
                <a:spcPts val="0"/>
              </a:spcAft>
            </a:pPr>
            <a:r>
              <a:rPr sz="1000" b="0">
                <a:solidFill>
                  <a:srgbClr val="5A6B7C"/>
                </a:solidFill>
                <a:latin typeface="Arial"/>
              </a:rPr>
              <a:t>PS Category – </a:t>
            </a:r>
          </a:p>
          <a:p>
            <a:pPr algn="l">
              <a:spcAft>
                <a:spcPts val="600"/>
              </a:spcAft>
            </a:pPr>
            <a:r>
              <a:rPr sz="1000" b="1">
                <a:solidFill>
                  <a:srgbClr val="1F2933"/>
                </a:solidFill>
                <a:latin typeface="Arial"/>
              </a:rPr>
              <a:t>Software</a:t>
            </a:r>
          </a:p>
          <a:p>
            <a:pPr algn="l">
              <a:spcAft>
                <a:spcPts val="0"/>
              </a:spcAft>
            </a:pPr>
            <a:r>
              <a:rPr sz="1000" b="0">
                <a:solidFill>
                  <a:srgbClr val="5A6B7C"/>
                </a:solidFill>
                <a:latin typeface="Arial"/>
              </a:rPr>
              <a:t>Team ID – </a:t>
            </a:r>
          </a:p>
          <a:p>
            <a:pPr algn="l">
              <a:spcAft>
                <a:spcPts val="600"/>
              </a:spcAft>
            </a:pPr>
            <a:r>
              <a:rPr sz="1000" b="1">
                <a:solidFill>
                  <a:srgbClr val="1F2933"/>
                </a:solidFill>
                <a:latin typeface="Arial"/>
              </a:rPr>
              <a:t>&lt;TEAM ID&gt;</a:t>
            </a:r>
          </a:p>
          <a:p>
            <a:pPr algn="l">
              <a:spcAft>
                <a:spcPts val="0"/>
              </a:spcAft>
            </a:pPr>
            <a:r>
              <a:rPr sz="1000" b="0">
                <a:solidFill>
                  <a:srgbClr val="5A6B7C"/>
                </a:solidFill>
                <a:latin typeface="Arial"/>
              </a:rPr>
              <a:t>Team Name (Registered on portal) – </a:t>
            </a:r>
          </a:p>
          <a:p>
            <a:pPr algn="l"/>
            <a:r>
              <a:rPr sz="1000" b="1">
                <a:solidFill>
                  <a:srgbClr val="1F2933"/>
                </a:solidFill>
                <a:latin typeface="Arial"/>
              </a:rPr>
              <a:t>Team Nexus</a:t>
            </a:r>
          </a:p>
        </p:txBody>
      </p:sp>
      <p:sp>
        <p:nvSpPr>
          <p:cNvPr id="1028" name="Rectangle 1027"/>
          <p:cNvSpPr/>
          <p:nvPr/>
        </p:nvSpPr>
        <p:spPr>
          <a:xfrm>
            <a:off x="329184" y="4864608"/>
            <a:ext cx="1188720"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TextBox 1028"/>
          <p:cNvSpPr txBox="1"/>
          <p:nvPr/>
        </p:nvSpPr>
        <p:spPr>
          <a:xfrm>
            <a:off x="329184" y="4983480"/>
            <a:ext cx="5577840" cy="731520"/>
          </a:xfrm>
          <a:prstGeom prst="rect">
            <a:avLst/>
          </a:prstGeom>
          <a:noFill/>
        </p:spPr>
        <p:txBody>
          <a:bodyPr wrap="square" anchor="t" lIns="0" rIns="0" tIns="0" bIns="0">
            <a:spAutoFit/>
          </a:bodyPr>
          <a:lstStyle/>
          <a:p>
            <a:pPr algn="l">
              <a:lnSpc>
                <a:spcPct val="100000"/>
              </a:lnSpc>
              <a:spcAft>
                <a:spcPts val="400"/>
              </a:spcAft>
            </a:pPr>
            <a:r>
              <a:rPr sz="1250" b="1">
                <a:solidFill>
                  <a:srgbClr val="1F497D"/>
                </a:solidFill>
                <a:latin typeface="Arial"/>
              </a:rPr>
              <a:t>CBOM Compass — an X-ray for your organisation’s encryption.</a:t>
            </a:r>
          </a:p>
          <a:p>
            <a:pPr algn="l">
              <a:lnSpc>
                <a:spcPct val="104000"/>
              </a:lnSpc>
            </a:pPr>
            <a:r>
              <a:rPr sz="1050" b="0">
                <a:solidFill>
                  <a:srgbClr val="5A6B7C"/>
                </a:solidFill>
                <a:latin typeface="Arial"/>
              </a:rPr>
              <a:t>Find every lock in the building, work out which ones a quantum computer can pick and which ones the regulator bans first — then hand back a prioritised locksmith’s list.</a:t>
            </a:r>
          </a:p>
        </p:txBody>
      </p:sp>
      <p:sp>
        <p:nvSpPr>
          <p:cNvPr id="1030" name="Rounded Rectangle 1029"/>
          <p:cNvSpPr/>
          <p:nvPr/>
        </p:nvSpPr>
        <p:spPr>
          <a:xfrm>
            <a:off x="329184" y="5797296"/>
            <a:ext cx="1737360" cy="512064"/>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85000"/>
              </a:lnSpc>
              <a:spcAft>
                <a:spcPts val="0"/>
              </a:spcAft>
            </a:pPr>
            <a:r>
              <a:rPr sz="1500" b="1">
                <a:solidFill>
                  <a:srgbClr val="1F497D"/>
                </a:solidFill>
                <a:latin typeface="Arial"/>
              </a:rPr>
              <a:t>8</a:t>
            </a:r>
          </a:p>
          <a:p>
            <a:pPr algn="ctr">
              <a:lnSpc>
                <a:spcPct val="90000"/>
              </a:lnSpc>
            </a:pPr>
            <a:r>
              <a:rPr sz="750" b="0">
                <a:solidFill>
                  <a:srgbClr val="5A6B7C"/>
                </a:solidFill>
                <a:latin typeface="Arial"/>
              </a:rPr>
              <a:t>sources scanned</a:t>
            </a:r>
          </a:p>
        </p:txBody>
      </p:sp>
      <p:sp>
        <p:nvSpPr>
          <p:cNvPr id="1031" name="Rectangle 1030"/>
          <p:cNvSpPr/>
          <p:nvPr/>
        </p:nvSpPr>
        <p:spPr>
          <a:xfrm>
            <a:off x="329184" y="5797296"/>
            <a:ext cx="1737360"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Rounded Rectangle 1031"/>
          <p:cNvSpPr/>
          <p:nvPr/>
        </p:nvSpPr>
        <p:spPr>
          <a:xfrm>
            <a:off x="2203703" y="5797296"/>
            <a:ext cx="1737360" cy="512064"/>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85000"/>
              </a:lnSpc>
              <a:spcAft>
                <a:spcPts val="0"/>
              </a:spcAft>
            </a:pPr>
            <a:r>
              <a:rPr sz="1500" b="1">
                <a:solidFill>
                  <a:srgbClr val="1F497D"/>
                </a:solidFill>
                <a:latin typeface="Arial"/>
              </a:rPr>
              <a:t>191</a:t>
            </a:r>
          </a:p>
          <a:p>
            <a:pPr algn="ctr">
              <a:lnSpc>
                <a:spcPct val="90000"/>
              </a:lnSpc>
            </a:pPr>
            <a:r>
              <a:rPr sz="750" b="0">
                <a:solidFill>
                  <a:srgbClr val="5A6B7C"/>
                </a:solidFill>
                <a:latin typeface="Arial"/>
              </a:rPr>
              <a:t>assets, demo scan</a:t>
            </a:r>
          </a:p>
        </p:txBody>
      </p:sp>
      <p:sp>
        <p:nvSpPr>
          <p:cNvPr id="1033" name="Rectangle 1032"/>
          <p:cNvSpPr/>
          <p:nvPr/>
        </p:nvSpPr>
        <p:spPr>
          <a:xfrm>
            <a:off x="2203703" y="5797296"/>
            <a:ext cx="1737360"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Rounded Rectangle 1033"/>
          <p:cNvSpPr/>
          <p:nvPr/>
        </p:nvSpPr>
        <p:spPr>
          <a:xfrm>
            <a:off x="4078224" y="5797296"/>
            <a:ext cx="1737360" cy="512064"/>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lnSpc>
                <a:spcPct val="85000"/>
              </a:lnSpc>
              <a:spcAft>
                <a:spcPts val="0"/>
              </a:spcAft>
            </a:pPr>
            <a:r>
              <a:rPr sz="1500" b="1">
                <a:solidFill>
                  <a:srgbClr val="1F497D"/>
                </a:solidFill>
                <a:latin typeface="Arial"/>
              </a:rPr>
              <a:t>262</a:t>
            </a:r>
          </a:p>
          <a:p>
            <a:pPr algn="ctr">
              <a:lnSpc>
                <a:spcPct val="90000"/>
              </a:lnSpc>
            </a:pPr>
            <a:r>
              <a:rPr sz="750" b="0">
                <a:solidFill>
                  <a:srgbClr val="5A6B7C"/>
                </a:solidFill>
                <a:latin typeface="Arial"/>
              </a:rPr>
              <a:t>tests green</a:t>
            </a:r>
          </a:p>
        </p:txBody>
      </p:sp>
      <p:sp>
        <p:nvSpPr>
          <p:cNvPr id="1035" name="Rectangle 1034"/>
          <p:cNvSpPr/>
          <p:nvPr/>
        </p:nvSpPr>
        <p:spPr>
          <a:xfrm>
            <a:off x="4078224" y="5797296"/>
            <a:ext cx="1737360"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5362" name="Rounded Rectangle 15361"/>
          <p:cNvSpPr/>
          <p:nvPr/>
        </p:nvSpPr>
        <p:spPr>
          <a:xfrm>
            <a:off x="274320" y="1207008"/>
            <a:ext cx="11640312" cy="475488"/>
          </a:xfrm>
          <a:prstGeom prst="roundRect">
            <a:avLst>
              <a:gd name="adj" fmla="val 14000"/>
            </a:avLst>
          </a:prstGeom>
          <a:solidFill>
            <a:srgbClr val="E6F4F3"/>
          </a:solidFill>
          <a:ln w="9525">
            <a:solidFill>
              <a:srgbClr val="0E8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3" name="TextBox 15362"/>
          <p:cNvSpPr txBox="1"/>
          <p:nvPr/>
        </p:nvSpPr>
        <p:spPr>
          <a:xfrm>
            <a:off x="457200" y="1316736"/>
            <a:ext cx="7589520" cy="274320"/>
          </a:xfrm>
          <a:prstGeom prst="rect">
            <a:avLst/>
          </a:prstGeom>
          <a:noFill/>
        </p:spPr>
        <p:txBody>
          <a:bodyPr wrap="square" anchor="t" lIns="0" rIns="0" tIns="0" bIns="0">
            <a:spAutoFit/>
          </a:bodyPr>
          <a:lstStyle/>
          <a:p>
            <a:pPr algn="l"/>
            <a:r>
              <a:rPr sz="1250" b="1">
                <a:solidFill>
                  <a:srgbClr val="1F497D"/>
                </a:solidFill>
                <a:latin typeface="Arial"/>
              </a:rPr>
              <a:t>CBOM COMPASS — an X-ray for your organisation’s encryption</a:t>
            </a:r>
          </a:p>
        </p:txBody>
      </p:sp>
      <p:sp>
        <p:nvSpPr>
          <p:cNvPr id="15364" name="TextBox 15363"/>
          <p:cNvSpPr txBox="1"/>
          <p:nvPr/>
        </p:nvSpPr>
        <p:spPr>
          <a:xfrm>
            <a:off x="8138160" y="1335024"/>
            <a:ext cx="3703320" cy="256032"/>
          </a:xfrm>
          <a:prstGeom prst="rect">
            <a:avLst/>
          </a:prstGeom>
          <a:noFill/>
        </p:spPr>
        <p:txBody>
          <a:bodyPr wrap="square" anchor="t" lIns="0" rIns="0" tIns="0" bIns="0">
            <a:spAutoFit/>
          </a:bodyPr>
          <a:lstStyle/>
          <a:p>
            <a:pPr algn="r"/>
            <a:r>
              <a:rPr sz="919" b="1">
                <a:solidFill>
                  <a:srgbClr val="0E8C86"/>
                </a:solidFill>
                <a:latin typeface="Arial"/>
              </a:rPr>
              <a:t>SIH25164  ·  Cybersecurity  ·  working prototype</a:t>
            </a:r>
          </a:p>
        </p:txBody>
      </p:sp>
      <p:sp>
        <p:nvSpPr>
          <p:cNvPr id="15365" name="TextBox 15364"/>
          <p:cNvSpPr txBox="1"/>
          <p:nvPr/>
        </p:nvSpPr>
        <p:spPr>
          <a:xfrm>
            <a:off x="274320" y="1792224"/>
            <a:ext cx="11640312" cy="265176"/>
          </a:xfrm>
          <a:prstGeom prst="rect">
            <a:avLst/>
          </a:prstGeom>
          <a:noFill/>
        </p:spPr>
        <p:txBody>
          <a:bodyPr wrap="square" anchor="t" lIns="0" rIns="0" tIns="0" bIns="0">
            <a:spAutoFit/>
          </a:bodyPr>
          <a:lstStyle/>
          <a:p>
            <a:pPr algn="l"/>
            <a:r>
              <a:rPr sz="1100" b="1">
                <a:solidFill>
                  <a:srgbClr val="1F497D"/>
                </a:solidFill>
                <a:latin typeface="Arial"/>
              </a:rPr>
              <a:t>Proposed Solution (Describe your Idea/Solution/Prototype)</a:t>
            </a:r>
          </a:p>
        </p:txBody>
      </p:sp>
      <p:sp>
        <p:nvSpPr>
          <p:cNvPr id="15366" name="Rectangle 15365"/>
          <p:cNvSpPr/>
          <p:nvPr/>
        </p:nvSpPr>
        <p:spPr>
          <a:xfrm>
            <a:off x="274320" y="2048256"/>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TextBox 15366"/>
          <p:cNvSpPr txBox="1"/>
          <p:nvPr/>
        </p:nvSpPr>
        <p:spPr>
          <a:xfrm>
            <a:off x="274320" y="2121408"/>
            <a:ext cx="11640312" cy="219456"/>
          </a:xfrm>
          <a:prstGeom prst="rect">
            <a:avLst/>
          </a:prstGeom>
          <a:noFill/>
        </p:spPr>
        <p:txBody>
          <a:bodyPr wrap="square" anchor="t" lIns="0" rIns="0" tIns="0" bIns="0">
            <a:spAutoFit/>
          </a:bodyPr>
          <a:lstStyle/>
          <a:p>
            <a:pPr algn="l"/>
            <a:r>
              <a:rPr sz="919" b="1">
                <a:solidFill>
                  <a:srgbClr val="5A6B7C"/>
                </a:solidFill>
                <a:latin typeface="Arial"/>
              </a:rPr>
              <a:t>THE PROBLEM, IN ONE PICTURE  —  “harvest now, decrypt later”</a:t>
            </a:r>
          </a:p>
        </p:txBody>
      </p:sp>
      <p:sp>
        <p:nvSpPr>
          <p:cNvPr id="15368" name="Rounded Rectangle 15367"/>
          <p:cNvSpPr/>
          <p:nvPr/>
        </p:nvSpPr>
        <p:spPr>
          <a:xfrm>
            <a:off x="274320" y="2377440"/>
            <a:ext cx="3776472" cy="1042415"/>
          </a:xfrm>
          <a:prstGeom prst="roundRect">
            <a:avLst>
              <a:gd name="adj" fmla="val 6000"/>
            </a:avLst>
          </a:prstGeom>
          <a:solidFill>
            <a:srgbClr val="E6F4F3"/>
          </a:solidFill>
          <a:ln w="9525">
            <a:solidFill>
              <a:srgbClr val="0E8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9" name="TextBox 15368"/>
          <p:cNvSpPr txBox="1"/>
          <p:nvPr/>
        </p:nvSpPr>
        <p:spPr>
          <a:xfrm>
            <a:off x="420623" y="2468880"/>
            <a:ext cx="2011680" cy="182880"/>
          </a:xfrm>
          <a:prstGeom prst="rect">
            <a:avLst/>
          </a:prstGeom>
          <a:noFill/>
        </p:spPr>
        <p:txBody>
          <a:bodyPr wrap="square" anchor="t" lIns="0" rIns="0" tIns="0" bIns="0">
            <a:spAutoFit/>
          </a:bodyPr>
          <a:lstStyle/>
          <a:p>
            <a:pPr algn="l"/>
            <a:r>
              <a:rPr sz="860" b="1">
                <a:solidFill>
                  <a:srgbClr val="0E8C86"/>
                </a:solidFill>
                <a:latin typeface="Arial"/>
              </a:rPr>
              <a:t>1  ·  TODAY</a:t>
            </a:r>
          </a:p>
        </p:txBody>
      </p:sp>
      <p:sp>
        <p:nvSpPr>
          <p:cNvPr id="15370" name="TextBox 15369"/>
          <p:cNvSpPr txBox="1"/>
          <p:nvPr/>
        </p:nvSpPr>
        <p:spPr>
          <a:xfrm>
            <a:off x="420623" y="2688336"/>
            <a:ext cx="2615184" cy="658368"/>
          </a:xfrm>
          <a:prstGeom prst="rect">
            <a:avLst/>
          </a:prstGeom>
          <a:noFill/>
        </p:spPr>
        <p:txBody>
          <a:bodyPr wrap="square" anchor="t" lIns="0" rIns="0" tIns="0" bIns="0">
            <a:spAutoFit/>
          </a:bodyPr>
          <a:lstStyle/>
          <a:p>
            <a:pPr algn="l">
              <a:lnSpc>
                <a:spcPct val="104000"/>
              </a:lnSpc>
            </a:pPr>
            <a:r>
              <a:rPr sz="919" b="0">
                <a:solidFill>
                  <a:srgbClr val="1F2933"/>
                </a:solidFill>
                <a:latin typeface="Arial"/>
              </a:rPr>
              <a:t>Your data is locked with today’s encryption.</a:t>
            </a:r>
          </a:p>
        </p:txBody>
      </p:sp>
      <p:sp>
        <p:nvSpPr>
          <p:cNvPr id="15371" name="Donut 15370"/>
          <p:cNvSpPr/>
          <p:nvPr/>
        </p:nvSpPr>
        <p:spPr>
          <a:xfrm>
            <a:off x="3246120" y="2560320"/>
            <a:ext cx="420624" cy="420624"/>
          </a:xfrm>
          <a:prstGeom prst="donut">
            <a:avLst>
              <a:gd name="adj" fmla="val 20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Rectangle 15371"/>
          <p:cNvSpPr/>
          <p:nvPr/>
        </p:nvSpPr>
        <p:spPr>
          <a:xfrm>
            <a:off x="3227832" y="2779044"/>
            <a:ext cx="457200" cy="235549"/>
          </a:xfrm>
          <a:prstGeom prst="rect">
            <a:avLst/>
          </a:prstGeom>
          <a:solidFill>
            <a:srgbClr val="E6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3" name="Rounded Rectangle 15372"/>
          <p:cNvSpPr/>
          <p:nvPr/>
        </p:nvSpPr>
        <p:spPr>
          <a:xfrm>
            <a:off x="3172968" y="2821106"/>
            <a:ext cx="566928" cy="420624"/>
          </a:xfrm>
          <a:prstGeom prst="roundRect">
            <a:avLst>
              <a:gd name="adj" fmla="val 18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4" name="Oval 15373"/>
          <p:cNvSpPr/>
          <p:nvPr/>
        </p:nvSpPr>
        <p:spPr>
          <a:xfrm>
            <a:off x="3410712" y="2947294"/>
            <a:ext cx="91440" cy="91440"/>
          </a:xfrm>
          <a:prstGeom prst="ellipse">
            <a:avLst/>
          </a:prstGeom>
          <a:solidFill>
            <a:srgbClr val="E6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5" name="Right Arrow 15374"/>
          <p:cNvSpPr/>
          <p:nvPr/>
        </p:nvSpPr>
        <p:spPr>
          <a:xfrm>
            <a:off x="4069079" y="2816352"/>
            <a:ext cx="100584" cy="164592"/>
          </a:xfrm>
          <a:prstGeom prst="rightArrow">
            <a:avLst/>
          </a:prstGeom>
          <a:solidFill>
            <a:srgbClr val="5A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Rounded Rectangle 15375"/>
          <p:cNvSpPr/>
          <p:nvPr/>
        </p:nvSpPr>
        <p:spPr>
          <a:xfrm>
            <a:off x="4187952" y="2377440"/>
            <a:ext cx="3776472" cy="1042415"/>
          </a:xfrm>
          <a:prstGeom prst="roundRect">
            <a:avLst>
              <a:gd name="adj" fmla="val 6000"/>
            </a:avLst>
          </a:prstGeom>
          <a:solidFill>
            <a:srgbClr val="FFF6E5"/>
          </a:solidFill>
          <a:ln w="9525">
            <a:solidFill>
              <a:srgbClr val="6B4A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7" name="TextBox 15376"/>
          <p:cNvSpPr txBox="1"/>
          <p:nvPr/>
        </p:nvSpPr>
        <p:spPr>
          <a:xfrm>
            <a:off x="4334256" y="2468880"/>
            <a:ext cx="2011680" cy="182880"/>
          </a:xfrm>
          <a:prstGeom prst="rect">
            <a:avLst/>
          </a:prstGeom>
          <a:noFill/>
        </p:spPr>
        <p:txBody>
          <a:bodyPr wrap="square" anchor="t" lIns="0" rIns="0" tIns="0" bIns="0">
            <a:spAutoFit/>
          </a:bodyPr>
          <a:lstStyle/>
          <a:p>
            <a:pPr algn="l"/>
            <a:r>
              <a:rPr sz="860" b="1">
                <a:solidFill>
                  <a:srgbClr val="6B4A08"/>
                </a:solidFill>
                <a:latin typeface="Arial"/>
              </a:rPr>
              <a:t>2  ·  TODAY</a:t>
            </a:r>
          </a:p>
        </p:txBody>
      </p:sp>
      <p:sp>
        <p:nvSpPr>
          <p:cNvPr id="15378" name="TextBox 15377"/>
          <p:cNvSpPr txBox="1"/>
          <p:nvPr/>
        </p:nvSpPr>
        <p:spPr>
          <a:xfrm>
            <a:off x="4334256" y="2688336"/>
            <a:ext cx="2615184" cy="658368"/>
          </a:xfrm>
          <a:prstGeom prst="rect">
            <a:avLst/>
          </a:prstGeom>
          <a:noFill/>
        </p:spPr>
        <p:txBody>
          <a:bodyPr wrap="square" anchor="t" lIns="0" rIns="0" tIns="0" bIns="0">
            <a:spAutoFit/>
          </a:bodyPr>
          <a:lstStyle/>
          <a:p>
            <a:pPr algn="l">
              <a:lnSpc>
                <a:spcPct val="104000"/>
              </a:lnSpc>
            </a:pPr>
            <a:r>
              <a:rPr sz="919" b="0">
                <a:solidFill>
                  <a:srgbClr val="1F2933"/>
                </a:solidFill>
                <a:latin typeface="Arial"/>
              </a:rPr>
              <a:t>An attacker copies the locked file. They cannot open it — yet.</a:t>
            </a:r>
          </a:p>
        </p:txBody>
      </p:sp>
      <p:sp>
        <p:nvSpPr>
          <p:cNvPr id="15379" name="Rounded Rectangle 15378"/>
          <p:cNvSpPr/>
          <p:nvPr/>
        </p:nvSpPr>
        <p:spPr>
          <a:xfrm>
            <a:off x="7205472" y="2615184"/>
            <a:ext cx="365760" cy="457200"/>
          </a:xfrm>
          <a:prstGeom prst="roundRect">
            <a:avLst>
              <a:gd name="adj" fmla="val 10000"/>
            </a:avLst>
          </a:prstGeom>
          <a:solidFill>
            <a:srgbClr val="FFF6E5"/>
          </a:solidFill>
          <a:ln w="9525">
            <a:solidFill>
              <a:srgbClr val="6B4A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0" name="Rounded Rectangle 15379"/>
          <p:cNvSpPr/>
          <p:nvPr/>
        </p:nvSpPr>
        <p:spPr>
          <a:xfrm>
            <a:off x="7114032" y="2706624"/>
            <a:ext cx="365760" cy="457200"/>
          </a:xfrm>
          <a:prstGeom prst="roundRect">
            <a:avLst>
              <a:gd name="adj" fmla="val 10000"/>
            </a:avLst>
          </a:prstGeom>
          <a:solidFill>
            <a:srgbClr val="FFF6E5"/>
          </a:solidFill>
          <a:ln w="9525">
            <a:solidFill>
              <a:srgbClr val="6B4A0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1" name="Right Arrow 15380"/>
          <p:cNvSpPr/>
          <p:nvPr/>
        </p:nvSpPr>
        <p:spPr>
          <a:xfrm>
            <a:off x="7982712" y="2816352"/>
            <a:ext cx="100584" cy="164592"/>
          </a:xfrm>
          <a:prstGeom prst="rightArrow">
            <a:avLst/>
          </a:prstGeom>
          <a:solidFill>
            <a:srgbClr val="5A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2" name="Rounded Rectangle 15381"/>
          <p:cNvSpPr/>
          <p:nvPr/>
        </p:nvSpPr>
        <p:spPr>
          <a:xfrm>
            <a:off x="8101583" y="2377440"/>
            <a:ext cx="3776472" cy="1042415"/>
          </a:xfrm>
          <a:prstGeom prst="roundRect">
            <a:avLst>
              <a:gd name="adj" fmla="val 6000"/>
            </a:avLst>
          </a:prstGeom>
          <a:solidFill>
            <a:srgbClr val="FBEDEA"/>
          </a:solidFill>
          <a:ln w="9525">
            <a:solidFill>
              <a:srgbClr val="8C2A1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3" name="TextBox 15382"/>
          <p:cNvSpPr txBox="1"/>
          <p:nvPr/>
        </p:nvSpPr>
        <p:spPr>
          <a:xfrm>
            <a:off x="8247888" y="2468880"/>
            <a:ext cx="2011680" cy="182880"/>
          </a:xfrm>
          <a:prstGeom prst="rect">
            <a:avLst/>
          </a:prstGeom>
          <a:noFill/>
        </p:spPr>
        <p:txBody>
          <a:bodyPr wrap="square" anchor="t" lIns="0" rIns="0" tIns="0" bIns="0">
            <a:spAutoFit/>
          </a:bodyPr>
          <a:lstStyle/>
          <a:p>
            <a:pPr algn="l"/>
            <a:r>
              <a:rPr sz="860" b="1">
                <a:solidFill>
                  <a:srgbClr val="8C2A1E"/>
                </a:solidFill>
                <a:latin typeface="Arial"/>
              </a:rPr>
              <a:t>3  ·  ~2031</a:t>
            </a:r>
          </a:p>
        </p:txBody>
      </p:sp>
      <p:sp>
        <p:nvSpPr>
          <p:cNvPr id="15384" name="TextBox 15383"/>
          <p:cNvSpPr txBox="1"/>
          <p:nvPr/>
        </p:nvSpPr>
        <p:spPr>
          <a:xfrm>
            <a:off x="8247888" y="2688336"/>
            <a:ext cx="2615184" cy="658368"/>
          </a:xfrm>
          <a:prstGeom prst="rect">
            <a:avLst/>
          </a:prstGeom>
          <a:noFill/>
        </p:spPr>
        <p:txBody>
          <a:bodyPr wrap="square" anchor="t" lIns="0" rIns="0" tIns="0" bIns="0">
            <a:spAutoFit/>
          </a:bodyPr>
          <a:lstStyle/>
          <a:p>
            <a:pPr algn="l">
              <a:lnSpc>
                <a:spcPct val="104000"/>
              </a:lnSpc>
            </a:pPr>
            <a:r>
              <a:rPr sz="919" b="0">
                <a:solidFill>
                  <a:srgbClr val="1F2933"/>
                </a:solidFill>
                <a:latin typeface="Arial"/>
              </a:rPr>
              <a:t>A quantum computer opens it. Everything recorded since today is exposed.</a:t>
            </a:r>
          </a:p>
        </p:txBody>
      </p:sp>
      <p:sp>
        <p:nvSpPr>
          <p:cNvPr id="15385" name="Donut 15384"/>
          <p:cNvSpPr/>
          <p:nvPr/>
        </p:nvSpPr>
        <p:spPr>
          <a:xfrm>
            <a:off x="11073384" y="2560320"/>
            <a:ext cx="420624" cy="420624"/>
          </a:xfrm>
          <a:prstGeom prst="donut">
            <a:avLst>
              <a:gd name="adj" fmla="val 20000"/>
            </a:avLst>
          </a:prstGeom>
          <a:solidFill>
            <a:srgbClr val="8C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6" name="Rectangle 15385"/>
          <p:cNvSpPr/>
          <p:nvPr/>
        </p:nvSpPr>
        <p:spPr>
          <a:xfrm>
            <a:off x="11055096" y="2779044"/>
            <a:ext cx="457200" cy="235549"/>
          </a:xfrm>
          <a:prstGeom prst="rect">
            <a:avLst/>
          </a:prstGeom>
          <a:solidFill>
            <a:srgbClr val="FBE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7" name="Rounded Rectangle 15386"/>
          <p:cNvSpPr/>
          <p:nvPr/>
        </p:nvSpPr>
        <p:spPr>
          <a:xfrm>
            <a:off x="11000232" y="2821106"/>
            <a:ext cx="566928" cy="420624"/>
          </a:xfrm>
          <a:prstGeom prst="roundRect">
            <a:avLst>
              <a:gd name="adj" fmla="val 18000"/>
            </a:avLst>
          </a:prstGeom>
          <a:solidFill>
            <a:srgbClr val="8C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8" name="Rectangle 15387"/>
          <p:cNvSpPr/>
          <p:nvPr/>
        </p:nvSpPr>
        <p:spPr>
          <a:xfrm rot="19680000">
            <a:off x="11014496" y="2619207"/>
            <a:ext cx="546811" cy="50292"/>
          </a:xfrm>
          <a:prstGeom prst="rect">
            <a:avLst/>
          </a:prstGeom>
          <a:solidFill>
            <a:srgbClr val="FBE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9" name="TextBox 15388"/>
          <p:cNvSpPr txBox="1"/>
          <p:nvPr/>
        </p:nvSpPr>
        <p:spPr>
          <a:xfrm>
            <a:off x="274320" y="3529584"/>
            <a:ext cx="5760720" cy="219456"/>
          </a:xfrm>
          <a:prstGeom prst="rect">
            <a:avLst/>
          </a:prstGeom>
          <a:noFill/>
        </p:spPr>
        <p:txBody>
          <a:bodyPr wrap="square" anchor="t" lIns="0" rIns="0" tIns="0" bIns="0">
            <a:spAutoFit/>
          </a:bodyPr>
          <a:lstStyle/>
          <a:p>
            <a:pPr algn="l"/>
            <a:r>
              <a:rPr sz="919" b="1">
                <a:solidFill>
                  <a:srgbClr val="5A6B7C"/>
                </a:solidFill>
                <a:latin typeface="Arial"/>
              </a:rPr>
              <a:t>HOW WE DECIDE WHAT MOVES FIRST  —  Mosca’s inequality, drawn</a:t>
            </a:r>
          </a:p>
        </p:txBody>
      </p:sp>
      <p:sp>
        <p:nvSpPr>
          <p:cNvPr id="15390" name="Rounded Rectangle 15389"/>
          <p:cNvSpPr/>
          <p:nvPr/>
        </p:nvSpPr>
        <p:spPr>
          <a:xfrm>
            <a:off x="274320" y="3767328"/>
            <a:ext cx="5760720" cy="1115568"/>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91" name="Rounded Rectangle 15390"/>
          <p:cNvSpPr/>
          <p:nvPr/>
        </p:nvSpPr>
        <p:spPr>
          <a:xfrm>
            <a:off x="475488" y="3895344"/>
            <a:ext cx="3572256" cy="237744"/>
          </a:xfrm>
          <a:prstGeom prst="roundRect">
            <a:avLst>
              <a:gd name="adj" fmla="val 16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780" b="1">
                <a:solidFill>
                  <a:srgbClr val="FFFFFF"/>
                </a:solidFill>
                <a:latin typeface="Arial"/>
              </a:rPr>
              <a:t>X · data must stay secret · 10 yrs</a:t>
            </a:r>
          </a:p>
        </p:txBody>
      </p:sp>
      <p:sp>
        <p:nvSpPr>
          <p:cNvPr id="15392" name="Rounded Rectangle 15391"/>
          <p:cNvSpPr/>
          <p:nvPr/>
        </p:nvSpPr>
        <p:spPr>
          <a:xfrm>
            <a:off x="4047744" y="3895344"/>
            <a:ext cx="1786128" cy="237744"/>
          </a:xfrm>
          <a:prstGeom prst="roundRect">
            <a:avLst>
              <a:gd name="adj" fmla="val 16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780" b="1">
                <a:solidFill>
                  <a:srgbClr val="FFFFFF"/>
                </a:solidFill>
                <a:latin typeface="Arial"/>
              </a:rPr>
              <a:t>Y · migrate · 5</a:t>
            </a:r>
          </a:p>
        </p:txBody>
      </p:sp>
      <p:sp>
        <p:nvSpPr>
          <p:cNvPr id="15393" name="Rectangle 15392"/>
          <p:cNvSpPr/>
          <p:nvPr/>
        </p:nvSpPr>
        <p:spPr>
          <a:xfrm>
            <a:off x="2261616" y="3803904"/>
            <a:ext cx="20116" cy="457200"/>
          </a:xfrm>
          <a:prstGeom prst="rect">
            <a:avLst/>
          </a:prstGeom>
          <a:solidFill>
            <a:srgbClr val="8C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4" name="TextBox 15393"/>
          <p:cNvSpPr txBox="1"/>
          <p:nvPr/>
        </p:nvSpPr>
        <p:spPr>
          <a:xfrm>
            <a:off x="1758696" y="4279392"/>
            <a:ext cx="1005840" cy="182880"/>
          </a:xfrm>
          <a:prstGeom prst="rect">
            <a:avLst/>
          </a:prstGeom>
          <a:noFill/>
        </p:spPr>
        <p:txBody>
          <a:bodyPr wrap="square" anchor="t" lIns="0" rIns="0" tIns="0" bIns="0">
            <a:spAutoFit/>
          </a:bodyPr>
          <a:lstStyle/>
          <a:p>
            <a:pPr algn="ctr"/>
            <a:r>
              <a:rPr sz="780" b="1">
                <a:solidFill>
                  <a:srgbClr val="8C2A1E"/>
                </a:solidFill>
                <a:latin typeface="Arial"/>
              </a:rPr>
              <a:t>Q-Day 2031</a:t>
            </a:r>
          </a:p>
        </p:txBody>
      </p:sp>
      <p:sp>
        <p:nvSpPr>
          <p:cNvPr id="15395" name="Rectangle 15394"/>
          <p:cNvSpPr/>
          <p:nvPr/>
        </p:nvSpPr>
        <p:spPr>
          <a:xfrm>
            <a:off x="475488" y="4224528"/>
            <a:ext cx="5358384" cy="9144"/>
          </a:xfrm>
          <a:prstGeom prst="rect">
            <a:avLst/>
          </a:prstGeom>
          <a:solidFill>
            <a:srgbClr val="CBD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6" name="TextBox 15395"/>
          <p:cNvSpPr txBox="1"/>
          <p:nvPr/>
        </p:nvSpPr>
        <p:spPr>
          <a:xfrm>
            <a:off x="475488" y="4480560"/>
            <a:ext cx="512064" cy="164592"/>
          </a:xfrm>
          <a:prstGeom prst="rect">
            <a:avLst/>
          </a:prstGeom>
          <a:noFill/>
        </p:spPr>
        <p:txBody>
          <a:bodyPr wrap="square" anchor="t" lIns="0" rIns="0" tIns="0" bIns="0">
            <a:spAutoFit/>
          </a:bodyPr>
          <a:lstStyle/>
          <a:p>
            <a:pPr algn="l"/>
            <a:r>
              <a:rPr sz="750" b="0">
                <a:solidFill>
                  <a:srgbClr val="5A6B7C"/>
                </a:solidFill>
                <a:latin typeface="Arial"/>
              </a:rPr>
              <a:t>2026</a:t>
            </a:r>
          </a:p>
        </p:txBody>
      </p:sp>
      <p:sp>
        <p:nvSpPr>
          <p:cNvPr id="15397" name="TextBox 15396"/>
          <p:cNvSpPr txBox="1"/>
          <p:nvPr/>
        </p:nvSpPr>
        <p:spPr>
          <a:xfrm>
            <a:off x="2005584" y="4480560"/>
            <a:ext cx="512064" cy="164592"/>
          </a:xfrm>
          <a:prstGeom prst="rect">
            <a:avLst/>
          </a:prstGeom>
          <a:noFill/>
        </p:spPr>
        <p:txBody>
          <a:bodyPr wrap="square" anchor="t" lIns="0" rIns="0" tIns="0" bIns="0">
            <a:spAutoFit/>
          </a:bodyPr>
          <a:lstStyle/>
          <a:p>
            <a:pPr algn="ctr"/>
            <a:r>
              <a:rPr sz="750" b="0">
                <a:solidFill>
                  <a:srgbClr val="5A6B7C"/>
                </a:solidFill>
                <a:latin typeface="Arial"/>
              </a:rPr>
              <a:t>2031</a:t>
            </a:r>
          </a:p>
        </p:txBody>
      </p:sp>
      <p:sp>
        <p:nvSpPr>
          <p:cNvPr id="15398" name="TextBox 15397"/>
          <p:cNvSpPr txBox="1"/>
          <p:nvPr/>
        </p:nvSpPr>
        <p:spPr>
          <a:xfrm>
            <a:off x="3791712" y="4480560"/>
            <a:ext cx="512064" cy="164592"/>
          </a:xfrm>
          <a:prstGeom prst="rect">
            <a:avLst/>
          </a:prstGeom>
          <a:noFill/>
        </p:spPr>
        <p:txBody>
          <a:bodyPr wrap="square" anchor="t" lIns="0" rIns="0" tIns="0" bIns="0">
            <a:spAutoFit/>
          </a:bodyPr>
          <a:lstStyle/>
          <a:p>
            <a:pPr algn="ctr"/>
            <a:r>
              <a:rPr sz="750" b="0">
                <a:solidFill>
                  <a:srgbClr val="5A6B7C"/>
                </a:solidFill>
                <a:latin typeface="Arial"/>
              </a:rPr>
              <a:t>2036</a:t>
            </a:r>
          </a:p>
        </p:txBody>
      </p:sp>
      <p:sp>
        <p:nvSpPr>
          <p:cNvPr id="15399" name="TextBox 15398"/>
          <p:cNvSpPr txBox="1"/>
          <p:nvPr/>
        </p:nvSpPr>
        <p:spPr>
          <a:xfrm>
            <a:off x="5321808" y="4480560"/>
            <a:ext cx="512064" cy="164592"/>
          </a:xfrm>
          <a:prstGeom prst="rect">
            <a:avLst/>
          </a:prstGeom>
          <a:noFill/>
        </p:spPr>
        <p:txBody>
          <a:bodyPr wrap="square" anchor="t" lIns="0" rIns="0" tIns="0" bIns="0">
            <a:spAutoFit/>
          </a:bodyPr>
          <a:lstStyle/>
          <a:p>
            <a:pPr algn="r"/>
            <a:r>
              <a:rPr sz="750" b="0">
                <a:solidFill>
                  <a:srgbClr val="5A6B7C"/>
                </a:solidFill>
                <a:latin typeface="Arial"/>
              </a:rPr>
              <a:t>2041</a:t>
            </a:r>
          </a:p>
        </p:txBody>
      </p:sp>
      <p:sp>
        <p:nvSpPr>
          <p:cNvPr id="15400" name="Rounded Rectangle 15399"/>
          <p:cNvSpPr/>
          <p:nvPr/>
        </p:nvSpPr>
        <p:spPr>
          <a:xfrm>
            <a:off x="475488" y="4645152"/>
            <a:ext cx="5358384" cy="201168"/>
          </a:xfrm>
          <a:prstGeom prst="roundRect">
            <a:avLst>
              <a:gd name="adj" fmla="val 30000"/>
            </a:avLst>
          </a:prstGeom>
          <a:solidFill>
            <a:srgbClr val="FBEDEA"/>
          </a:solidFill>
          <a:ln w="9525">
            <a:solidFill>
              <a:srgbClr val="8C2A1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819" b="1">
                <a:solidFill>
                  <a:srgbClr val="8C2A1E"/>
                </a:solidFill>
                <a:latin typeface="Arial"/>
              </a:rPr>
              <a:t>X + Y = 15 yrs   &gt;   Z = 5 yrs      →   already overdue</a:t>
            </a:r>
          </a:p>
        </p:txBody>
      </p:sp>
      <p:sp>
        <p:nvSpPr>
          <p:cNvPr id="15401" name="TextBox 15400"/>
          <p:cNvSpPr txBox="1"/>
          <p:nvPr/>
        </p:nvSpPr>
        <p:spPr>
          <a:xfrm>
            <a:off x="6172200" y="3529584"/>
            <a:ext cx="5742432" cy="219456"/>
          </a:xfrm>
          <a:prstGeom prst="rect">
            <a:avLst/>
          </a:prstGeom>
          <a:noFill/>
        </p:spPr>
        <p:txBody>
          <a:bodyPr wrap="square" anchor="t" lIns="0" rIns="0" tIns="0" bIns="0">
            <a:spAutoFit/>
          </a:bodyPr>
          <a:lstStyle/>
          <a:p>
            <a:pPr algn="l"/>
            <a:r>
              <a:rPr sz="919" b="1">
                <a:solidFill>
                  <a:srgbClr val="5A6B7C"/>
                </a:solidFill>
                <a:latin typeface="Arial"/>
              </a:rPr>
              <a:t>WHAT THE TOOL ACTUALLY DOES</a:t>
            </a:r>
          </a:p>
        </p:txBody>
      </p:sp>
      <p:sp>
        <p:nvSpPr>
          <p:cNvPr id="15402" name="Rounded Rectangle 15401"/>
          <p:cNvSpPr/>
          <p:nvPr/>
        </p:nvSpPr>
        <p:spPr>
          <a:xfrm>
            <a:off x="6172200" y="3767328"/>
            <a:ext cx="1380744" cy="786384"/>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03" name="Rectangle 15402"/>
          <p:cNvSpPr/>
          <p:nvPr/>
        </p:nvSpPr>
        <p:spPr>
          <a:xfrm>
            <a:off x="6172200" y="3767328"/>
            <a:ext cx="1380744" cy="182880"/>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4" name="TextBox 15403"/>
          <p:cNvSpPr txBox="1"/>
          <p:nvPr/>
        </p:nvSpPr>
        <p:spPr>
          <a:xfrm>
            <a:off x="6172200" y="3790187"/>
            <a:ext cx="1380744" cy="164592"/>
          </a:xfrm>
          <a:prstGeom prst="rect">
            <a:avLst/>
          </a:prstGeom>
          <a:noFill/>
        </p:spPr>
        <p:txBody>
          <a:bodyPr wrap="square" anchor="t" lIns="0" rIns="0" tIns="0" bIns="0">
            <a:spAutoFit/>
          </a:bodyPr>
          <a:lstStyle/>
          <a:p>
            <a:pPr algn="ctr"/>
            <a:r>
              <a:rPr sz="819" b="1">
                <a:solidFill>
                  <a:srgbClr val="FFFFFF"/>
                </a:solidFill>
                <a:latin typeface="Arial"/>
              </a:rPr>
              <a:t>1  SEE</a:t>
            </a:r>
          </a:p>
        </p:txBody>
      </p:sp>
      <p:sp>
        <p:nvSpPr>
          <p:cNvPr id="15405" name="TextBox 15404"/>
          <p:cNvSpPr txBox="1"/>
          <p:nvPr/>
        </p:nvSpPr>
        <p:spPr>
          <a:xfrm>
            <a:off x="6208776" y="4023360"/>
            <a:ext cx="1307592" cy="493776"/>
          </a:xfrm>
          <a:prstGeom prst="rect">
            <a:avLst/>
          </a:prstGeom>
          <a:noFill/>
        </p:spPr>
        <p:txBody>
          <a:bodyPr wrap="square" anchor="t" lIns="0" rIns="0" tIns="0" bIns="0">
            <a:spAutoFit/>
          </a:bodyPr>
          <a:lstStyle/>
          <a:p>
            <a:pPr algn="ctr">
              <a:lnSpc>
                <a:spcPct val="95000"/>
              </a:lnSpc>
            </a:pPr>
            <a:r>
              <a:rPr sz="780" b="0">
                <a:solidFill>
                  <a:srgbClr val="5A6B7C"/>
                </a:solidFill>
                <a:latin typeface="Arial"/>
              </a:rPr>
              <a:t>every place
encryption hides</a:t>
            </a:r>
          </a:p>
        </p:txBody>
      </p:sp>
      <p:sp>
        <p:nvSpPr>
          <p:cNvPr id="15406" name="Rounded Rectangle 15405"/>
          <p:cNvSpPr/>
          <p:nvPr/>
        </p:nvSpPr>
        <p:spPr>
          <a:xfrm>
            <a:off x="7626096" y="3767328"/>
            <a:ext cx="1380744" cy="786384"/>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07" name="Rectangle 15406"/>
          <p:cNvSpPr/>
          <p:nvPr/>
        </p:nvSpPr>
        <p:spPr>
          <a:xfrm>
            <a:off x="7626096" y="3767328"/>
            <a:ext cx="1380744" cy="1828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8" name="TextBox 15407"/>
          <p:cNvSpPr txBox="1"/>
          <p:nvPr/>
        </p:nvSpPr>
        <p:spPr>
          <a:xfrm>
            <a:off x="7626096" y="3790187"/>
            <a:ext cx="1380744" cy="164592"/>
          </a:xfrm>
          <a:prstGeom prst="rect">
            <a:avLst/>
          </a:prstGeom>
          <a:noFill/>
        </p:spPr>
        <p:txBody>
          <a:bodyPr wrap="square" anchor="t" lIns="0" rIns="0" tIns="0" bIns="0">
            <a:spAutoFit/>
          </a:bodyPr>
          <a:lstStyle/>
          <a:p>
            <a:pPr algn="ctr"/>
            <a:r>
              <a:rPr sz="819" b="1">
                <a:solidFill>
                  <a:srgbClr val="FFFFFF"/>
                </a:solidFill>
                <a:latin typeface="Arial"/>
              </a:rPr>
              <a:t>2  JUDGE</a:t>
            </a:r>
          </a:p>
        </p:txBody>
      </p:sp>
      <p:sp>
        <p:nvSpPr>
          <p:cNvPr id="15409" name="TextBox 15408"/>
          <p:cNvSpPr txBox="1"/>
          <p:nvPr/>
        </p:nvSpPr>
        <p:spPr>
          <a:xfrm>
            <a:off x="7662671" y="4023360"/>
            <a:ext cx="1307592" cy="493776"/>
          </a:xfrm>
          <a:prstGeom prst="rect">
            <a:avLst/>
          </a:prstGeom>
          <a:noFill/>
        </p:spPr>
        <p:txBody>
          <a:bodyPr wrap="square" anchor="t" lIns="0" rIns="0" tIns="0" bIns="0">
            <a:spAutoFit/>
          </a:bodyPr>
          <a:lstStyle/>
          <a:p>
            <a:pPr algn="ctr">
              <a:lnSpc>
                <a:spcPct val="95000"/>
              </a:lnSpc>
            </a:pPr>
            <a:r>
              <a:rPr sz="780" b="0">
                <a:solidFill>
                  <a:srgbClr val="5A6B7C"/>
                </a:solidFill>
                <a:latin typeface="Arial"/>
              </a:rPr>
              <a:t>broken, weak,
or genuinely fine</a:t>
            </a:r>
          </a:p>
        </p:txBody>
      </p:sp>
      <p:sp>
        <p:nvSpPr>
          <p:cNvPr id="15410" name="Rounded Rectangle 15409"/>
          <p:cNvSpPr/>
          <p:nvPr/>
        </p:nvSpPr>
        <p:spPr>
          <a:xfrm>
            <a:off x="9079992" y="3767328"/>
            <a:ext cx="1380744" cy="786384"/>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11" name="Rectangle 15410"/>
          <p:cNvSpPr/>
          <p:nvPr/>
        </p:nvSpPr>
        <p:spPr>
          <a:xfrm>
            <a:off x="9079992" y="3767328"/>
            <a:ext cx="1380744" cy="182880"/>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2" name="TextBox 15411"/>
          <p:cNvSpPr txBox="1"/>
          <p:nvPr/>
        </p:nvSpPr>
        <p:spPr>
          <a:xfrm>
            <a:off x="9079992" y="3790187"/>
            <a:ext cx="1380744" cy="164592"/>
          </a:xfrm>
          <a:prstGeom prst="rect">
            <a:avLst/>
          </a:prstGeom>
          <a:noFill/>
        </p:spPr>
        <p:txBody>
          <a:bodyPr wrap="square" anchor="t" lIns="0" rIns="0" tIns="0" bIns="0">
            <a:spAutoFit/>
          </a:bodyPr>
          <a:lstStyle/>
          <a:p>
            <a:pPr algn="ctr"/>
            <a:r>
              <a:rPr sz="819" b="1">
                <a:solidFill>
                  <a:srgbClr val="FFFFFF"/>
                </a:solidFill>
                <a:latin typeface="Arial"/>
              </a:rPr>
              <a:t>3  RANK</a:t>
            </a:r>
          </a:p>
        </p:txBody>
      </p:sp>
      <p:sp>
        <p:nvSpPr>
          <p:cNvPr id="15413" name="TextBox 15412"/>
          <p:cNvSpPr txBox="1"/>
          <p:nvPr/>
        </p:nvSpPr>
        <p:spPr>
          <a:xfrm>
            <a:off x="9116567" y="4023360"/>
            <a:ext cx="1307592" cy="493776"/>
          </a:xfrm>
          <a:prstGeom prst="rect">
            <a:avLst/>
          </a:prstGeom>
          <a:noFill/>
        </p:spPr>
        <p:txBody>
          <a:bodyPr wrap="square" anchor="t" lIns="0" rIns="0" tIns="0" bIns="0">
            <a:spAutoFit/>
          </a:bodyPr>
          <a:lstStyle/>
          <a:p>
            <a:pPr algn="ctr">
              <a:lnSpc>
                <a:spcPct val="95000"/>
              </a:lnSpc>
            </a:pPr>
            <a:r>
              <a:rPr sz="780" b="0">
                <a:solidFill>
                  <a:srgbClr val="5A6B7C"/>
                </a:solidFill>
                <a:latin typeface="Arial"/>
              </a:rPr>
              <a:t>what breaks
you first</a:t>
            </a:r>
          </a:p>
        </p:txBody>
      </p:sp>
      <p:sp>
        <p:nvSpPr>
          <p:cNvPr id="15414" name="Rounded Rectangle 15413"/>
          <p:cNvSpPr/>
          <p:nvPr/>
        </p:nvSpPr>
        <p:spPr>
          <a:xfrm>
            <a:off x="10533888" y="3767328"/>
            <a:ext cx="1380744" cy="786384"/>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15" name="Rectangle 15414"/>
          <p:cNvSpPr/>
          <p:nvPr/>
        </p:nvSpPr>
        <p:spPr>
          <a:xfrm>
            <a:off x="10533888" y="3767328"/>
            <a:ext cx="1380744" cy="182880"/>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6" name="TextBox 15415"/>
          <p:cNvSpPr txBox="1"/>
          <p:nvPr/>
        </p:nvSpPr>
        <p:spPr>
          <a:xfrm>
            <a:off x="10533888" y="3790187"/>
            <a:ext cx="1380744" cy="164592"/>
          </a:xfrm>
          <a:prstGeom prst="rect">
            <a:avLst/>
          </a:prstGeom>
          <a:noFill/>
        </p:spPr>
        <p:txBody>
          <a:bodyPr wrap="square" anchor="t" lIns="0" rIns="0" tIns="0" bIns="0">
            <a:spAutoFit/>
          </a:bodyPr>
          <a:lstStyle/>
          <a:p>
            <a:pPr algn="ctr"/>
            <a:r>
              <a:rPr sz="819" b="1">
                <a:solidFill>
                  <a:srgbClr val="FFFFFF"/>
                </a:solidFill>
                <a:latin typeface="Arial"/>
              </a:rPr>
              <a:t>4  FIX</a:t>
            </a:r>
          </a:p>
        </p:txBody>
      </p:sp>
      <p:sp>
        <p:nvSpPr>
          <p:cNvPr id="15417" name="TextBox 15416"/>
          <p:cNvSpPr txBox="1"/>
          <p:nvPr/>
        </p:nvSpPr>
        <p:spPr>
          <a:xfrm>
            <a:off x="10570463" y="4023360"/>
            <a:ext cx="1307592" cy="493776"/>
          </a:xfrm>
          <a:prstGeom prst="rect">
            <a:avLst/>
          </a:prstGeom>
          <a:noFill/>
        </p:spPr>
        <p:txBody>
          <a:bodyPr wrap="square" anchor="t" lIns="0" rIns="0" tIns="0" bIns="0">
            <a:spAutoFit/>
          </a:bodyPr>
          <a:lstStyle/>
          <a:p>
            <a:pPr algn="ctr">
              <a:lnSpc>
                <a:spcPct val="95000"/>
              </a:lnSpc>
            </a:pPr>
            <a:r>
              <a:rPr sz="780" b="0">
                <a:solidFill>
                  <a:srgbClr val="5A6B7C"/>
                </a:solidFill>
                <a:latin typeface="Arial"/>
              </a:rPr>
              <a:t>the exact NIST
replacement</a:t>
            </a:r>
          </a:p>
        </p:txBody>
      </p:sp>
      <p:sp>
        <p:nvSpPr>
          <p:cNvPr id="15418" name="TextBox 15417"/>
          <p:cNvSpPr txBox="1"/>
          <p:nvPr/>
        </p:nvSpPr>
        <p:spPr>
          <a:xfrm>
            <a:off x="6172200" y="4626864"/>
            <a:ext cx="5742432" cy="237744"/>
          </a:xfrm>
          <a:prstGeom prst="rect">
            <a:avLst/>
          </a:prstGeom>
          <a:noFill/>
        </p:spPr>
        <p:txBody>
          <a:bodyPr wrap="square" anchor="t" lIns="0" rIns="0" tIns="0" bIns="0">
            <a:spAutoFit/>
          </a:bodyPr>
          <a:lstStyle/>
          <a:p>
            <a:pPr algn="l">
              <a:lnSpc>
                <a:spcPct val="100000"/>
              </a:lnSpc>
            </a:pPr>
            <a:r>
              <a:rPr sz="919" b="1">
                <a:solidFill>
                  <a:srgbClr val="1F2933"/>
                </a:solidFill>
                <a:latin typeface="Arial"/>
              </a:rPr>
              <a:t>One command, or one drag-and-drop. Nothing scanned ever leaves the machine.</a:t>
            </a:r>
          </a:p>
        </p:txBody>
      </p:sp>
      <p:sp>
        <p:nvSpPr>
          <p:cNvPr id="15419" name="Rounded Rectangle 15418"/>
          <p:cNvSpPr/>
          <p:nvPr/>
        </p:nvSpPr>
        <p:spPr>
          <a:xfrm>
            <a:off x="274320" y="5065776"/>
            <a:ext cx="3776472" cy="115214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20" name="Rectangle 15419"/>
          <p:cNvSpPr/>
          <p:nvPr/>
        </p:nvSpPr>
        <p:spPr>
          <a:xfrm>
            <a:off x="274320" y="5065776"/>
            <a:ext cx="45720" cy="115214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1" name="TextBox 15420"/>
          <p:cNvSpPr txBox="1"/>
          <p:nvPr/>
        </p:nvSpPr>
        <p:spPr>
          <a:xfrm>
            <a:off x="438912" y="5157216"/>
            <a:ext cx="3502152" cy="201168"/>
          </a:xfrm>
          <a:prstGeom prst="rect">
            <a:avLst/>
          </a:prstGeom>
          <a:noFill/>
        </p:spPr>
        <p:txBody>
          <a:bodyPr wrap="square" anchor="t" lIns="0" rIns="0" tIns="0" bIns="0">
            <a:spAutoFit/>
          </a:bodyPr>
          <a:lstStyle/>
          <a:p>
            <a:pPr algn="l"/>
            <a:r>
              <a:rPr sz="919" b="1">
                <a:solidFill>
                  <a:srgbClr val="0E8C86"/>
                </a:solidFill>
                <a:latin typeface="Arial"/>
              </a:rPr>
              <a:t>Detailed explanation of the proposed solution</a:t>
            </a:r>
          </a:p>
        </p:txBody>
      </p:sp>
      <p:sp>
        <p:nvSpPr>
          <p:cNvPr id="15422" name="TextBox 15421"/>
          <p:cNvSpPr txBox="1"/>
          <p:nvPr/>
        </p:nvSpPr>
        <p:spPr>
          <a:xfrm>
            <a:off x="438912" y="5394960"/>
            <a:ext cx="3483864" cy="749808"/>
          </a:xfrm>
          <a:prstGeom prst="rect">
            <a:avLst/>
          </a:prstGeom>
          <a:noFill/>
        </p:spPr>
        <p:txBody>
          <a:bodyPr wrap="square" anchor="t" lIns="0" rIns="0" tIns="0" bIns="0">
            <a:spAutoFit/>
          </a:bodyPr>
          <a:lstStyle/>
          <a:p>
            <a:pPr algn="l">
              <a:lnSpc>
                <a:spcPct val="106000"/>
              </a:lnSpc>
            </a:pPr>
            <a:r>
              <a:rPr sz="860" b="0">
                <a:solidFill>
                  <a:srgbClr val="5A6B7C"/>
                </a:solidFill>
                <a:latin typeface="Arial"/>
              </a:rPr>
              <a:t>Eight sources — code, config, dependencies, binaries, containers, TLS, SSH, cloud &amp; HSM — merged into one de-duplicated inventory.</a:t>
            </a:r>
          </a:p>
        </p:txBody>
      </p:sp>
      <p:sp>
        <p:nvSpPr>
          <p:cNvPr id="15423" name="Rounded Rectangle 15422"/>
          <p:cNvSpPr/>
          <p:nvPr/>
        </p:nvSpPr>
        <p:spPr>
          <a:xfrm>
            <a:off x="4187952" y="5065776"/>
            <a:ext cx="3776472" cy="115214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24" name="Rectangle 15423"/>
          <p:cNvSpPr/>
          <p:nvPr/>
        </p:nvSpPr>
        <p:spPr>
          <a:xfrm>
            <a:off x="4187952" y="5065776"/>
            <a:ext cx="45720" cy="115214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5" name="TextBox 15424"/>
          <p:cNvSpPr txBox="1"/>
          <p:nvPr/>
        </p:nvSpPr>
        <p:spPr>
          <a:xfrm>
            <a:off x="4352544" y="5157216"/>
            <a:ext cx="3502152" cy="201168"/>
          </a:xfrm>
          <a:prstGeom prst="rect">
            <a:avLst/>
          </a:prstGeom>
          <a:noFill/>
        </p:spPr>
        <p:txBody>
          <a:bodyPr wrap="square" anchor="t" lIns="0" rIns="0" tIns="0" bIns="0">
            <a:spAutoFit/>
          </a:bodyPr>
          <a:lstStyle/>
          <a:p>
            <a:pPr algn="l"/>
            <a:r>
              <a:rPr sz="919" b="1">
                <a:solidFill>
                  <a:srgbClr val="0070C0"/>
                </a:solidFill>
                <a:latin typeface="Arial"/>
              </a:rPr>
              <a:t>How it addresses the problem</a:t>
            </a:r>
          </a:p>
        </p:txBody>
      </p:sp>
      <p:sp>
        <p:nvSpPr>
          <p:cNvPr id="15426" name="TextBox 15425"/>
          <p:cNvSpPr txBox="1"/>
          <p:nvPr/>
        </p:nvSpPr>
        <p:spPr>
          <a:xfrm>
            <a:off x="4352544" y="5394960"/>
            <a:ext cx="3483864" cy="749808"/>
          </a:xfrm>
          <a:prstGeom prst="rect">
            <a:avLst/>
          </a:prstGeom>
          <a:noFill/>
        </p:spPr>
        <p:txBody>
          <a:bodyPr wrap="square" anchor="t" lIns="0" rIns="0" tIns="0" bIns="0">
            <a:spAutoFit/>
          </a:bodyPr>
          <a:lstStyle/>
          <a:p>
            <a:pPr algn="l">
              <a:lnSpc>
                <a:spcPct val="106000"/>
              </a:lnSpc>
            </a:pPr>
            <a:r>
              <a:rPr sz="860" b="0">
                <a:solidFill>
                  <a:srgbClr val="5A6B7C"/>
                </a:solidFill>
                <a:latin typeface="Arial"/>
              </a:rPr>
              <a:t>You cannot migrate what you cannot see. “We think we use RSA somewhere” becomes 191 named assets, each with an exact location.</a:t>
            </a:r>
          </a:p>
        </p:txBody>
      </p:sp>
      <p:sp>
        <p:nvSpPr>
          <p:cNvPr id="15427" name="Rounded Rectangle 15426"/>
          <p:cNvSpPr/>
          <p:nvPr/>
        </p:nvSpPr>
        <p:spPr>
          <a:xfrm>
            <a:off x="8101583" y="5065776"/>
            <a:ext cx="3776472" cy="115214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28" name="Rectangle 15427"/>
          <p:cNvSpPr/>
          <p:nvPr/>
        </p:nvSpPr>
        <p:spPr>
          <a:xfrm>
            <a:off x="8101583" y="5065776"/>
            <a:ext cx="45720" cy="1152144"/>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9" name="TextBox 15428"/>
          <p:cNvSpPr txBox="1"/>
          <p:nvPr/>
        </p:nvSpPr>
        <p:spPr>
          <a:xfrm>
            <a:off x="8266175" y="5157216"/>
            <a:ext cx="3502152" cy="201168"/>
          </a:xfrm>
          <a:prstGeom prst="rect">
            <a:avLst/>
          </a:prstGeom>
          <a:noFill/>
        </p:spPr>
        <p:txBody>
          <a:bodyPr wrap="square" anchor="t" lIns="0" rIns="0" tIns="0" bIns="0">
            <a:spAutoFit/>
          </a:bodyPr>
          <a:lstStyle/>
          <a:p>
            <a:pPr algn="l"/>
            <a:r>
              <a:rPr sz="919" b="1">
                <a:solidFill>
                  <a:srgbClr val="1A5C36"/>
                </a:solidFill>
                <a:latin typeface="Arial"/>
              </a:rPr>
              <a:t>Innovation and uniqueness of the solution</a:t>
            </a:r>
          </a:p>
        </p:txBody>
      </p:sp>
      <p:sp>
        <p:nvSpPr>
          <p:cNvPr id="15430" name="TextBox 15429"/>
          <p:cNvSpPr txBox="1"/>
          <p:nvPr/>
        </p:nvSpPr>
        <p:spPr>
          <a:xfrm>
            <a:off x="8266175" y="5394960"/>
            <a:ext cx="3483864" cy="749808"/>
          </a:xfrm>
          <a:prstGeom prst="rect">
            <a:avLst/>
          </a:prstGeom>
          <a:noFill/>
        </p:spPr>
        <p:txBody>
          <a:bodyPr wrap="square" anchor="t" lIns="0" rIns="0" tIns="0" bIns="0">
            <a:spAutoFit/>
          </a:bodyPr>
          <a:lstStyle/>
          <a:p>
            <a:pPr algn="l">
              <a:lnSpc>
                <a:spcPct val="106000"/>
              </a:lnSpc>
            </a:pPr>
            <a:r>
              <a:rPr sz="860" b="0">
                <a:solidFill>
                  <a:srgbClr val="5A6B7C"/>
                </a:solidFill>
                <a:latin typeface="Arial"/>
              </a:rPr>
              <a:t>Mosca made continuous, not yes/no. We refuse to cry wolf — AES-256 stays green. Every finding is re-proved from disk.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274320" y="1060704"/>
            <a:ext cx="11640312" cy="265176"/>
          </a:xfrm>
          <a:prstGeom prst="rect">
            <a:avLst/>
          </a:prstGeom>
          <a:noFill/>
        </p:spPr>
        <p:txBody>
          <a:bodyPr wrap="square" anchor="t" lIns="0" rIns="0" tIns="0" bIns="0">
            <a:spAutoFit/>
          </a:bodyPr>
          <a:lstStyle/>
          <a:p>
            <a:pPr algn="l"/>
            <a:r>
              <a:rPr sz="1100" b="1">
                <a:solidFill>
                  <a:srgbClr val="1F497D"/>
                </a:solidFill>
                <a:latin typeface="Arial"/>
              </a:rPr>
              <a:t>Technologies to be used (e.g. programming languages, frameworks, hardware)</a:t>
            </a:r>
          </a:p>
        </p:txBody>
      </p:sp>
      <p:sp>
        <p:nvSpPr>
          <p:cNvPr id="17411" name="Rectangle 17410"/>
          <p:cNvSpPr/>
          <p:nvPr/>
        </p:nvSpPr>
        <p:spPr>
          <a:xfrm>
            <a:off x="274320" y="1316736"/>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27432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0E8C86"/>
                </a:solidFill>
                <a:latin typeface="Arial"/>
              </a:rPr>
              <a:t>CODE</a:t>
            </a:r>
          </a:p>
          <a:p>
            <a:pPr algn="ctr">
              <a:lnSpc>
                <a:spcPct val="92000"/>
              </a:lnSpc>
            </a:pPr>
            <a:r>
              <a:rPr sz="750" b="0">
                <a:solidFill>
                  <a:srgbClr val="5A6B7C"/>
                </a:solidFill>
                <a:latin typeface="Arial"/>
              </a:rPr>
              <a:t>Python AST
+ 6 languages</a:t>
            </a:r>
          </a:p>
        </p:txBody>
      </p:sp>
      <p:sp>
        <p:nvSpPr>
          <p:cNvPr id="17413" name="Rectangle 17412"/>
          <p:cNvSpPr/>
          <p:nvPr/>
        </p:nvSpPr>
        <p:spPr>
          <a:xfrm>
            <a:off x="274320" y="1371600"/>
            <a:ext cx="1399032"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173736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0E8C86"/>
                </a:solidFill>
                <a:latin typeface="Arial"/>
              </a:rPr>
              <a:t>CONFIG</a:t>
            </a:r>
          </a:p>
          <a:p>
            <a:pPr algn="ctr">
              <a:lnSpc>
                <a:spcPct val="92000"/>
              </a:lnSpc>
            </a:pPr>
            <a:r>
              <a:rPr sz="750" b="0">
                <a:solidFill>
                  <a:srgbClr val="5A6B7C"/>
                </a:solidFill>
                <a:latin typeface="Arial"/>
              </a:rPr>
              <a:t>SSH · IPsec
nginx · VPN</a:t>
            </a:r>
          </a:p>
        </p:txBody>
      </p:sp>
      <p:sp>
        <p:nvSpPr>
          <p:cNvPr id="17415" name="Rectangle 17414"/>
          <p:cNvSpPr/>
          <p:nvPr/>
        </p:nvSpPr>
        <p:spPr>
          <a:xfrm>
            <a:off x="1737360" y="1371600"/>
            <a:ext cx="1399032"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320040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0070C0"/>
                </a:solidFill>
                <a:latin typeface="Arial"/>
              </a:rPr>
              <a:t>DEPS</a:t>
            </a:r>
          </a:p>
          <a:p>
            <a:pPr algn="ctr">
              <a:lnSpc>
                <a:spcPct val="92000"/>
              </a:lnSpc>
            </a:pPr>
            <a:r>
              <a:rPr sz="750" b="0">
                <a:solidFill>
                  <a:srgbClr val="5A6B7C"/>
                </a:solidFill>
                <a:latin typeface="Arial"/>
              </a:rPr>
              <a:t>manifests +
library KB</a:t>
            </a:r>
          </a:p>
        </p:txBody>
      </p:sp>
      <p:sp>
        <p:nvSpPr>
          <p:cNvPr id="17417" name="Rectangle 17416"/>
          <p:cNvSpPr/>
          <p:nvPr/>
        </p:nvSpPr>
        <p:spPr>
          <a:xfrm>
            <a:off x="3200400" y="1371600"/>
            <a:ext cx="1399032" cy="3657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466344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0070C0"/>
                </a:solidFill>
                <a:latin typeface="Arial"/>
              </a:rPr>
              <a:t>BINARIES</a:t>
            </a:r>
          </a:p>
          <a:p>
            <a:pPr algn="ctr">
              <a:lnSpc>
                <a:spcPct val="92000"/>
              </a:lnSpc>
            </a:pPr>
            <a:r>
              <a:rPr sz="750" b="0">
                <a:solidFill>
                  <a:srgbClr val="5A6B7C"/>
                </a:solidFill>
                <a:latin typeface="Arial"/>
              </a:rPr>
              <a:t>ELF · PE
Mach-O</a:t>
            </a:r>
          </a:p>
        </p:txBody>
      </p:sp>
      <p:sp>
        <p:nvSpPr>
          <p:cNvPr id="17419" name="Rectangle 17418"/>
          <p:cNvSpPr/>
          <p:nvPr/>
        </p:nvSpPr>
        <p:spPr>
          <a:xfrm>
            <a:off x="4663440" y="1371600"/>
            <a:ext cx="1399032" cy="3657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612648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1F497D"/>
                </a:solidFill>
                <a:latin typeface="Arial"/>
              </a:rPr>
              <a:t>CONTAINERS</a:t>
            </a:r>
          </a:p>
          <a:p>
            <a:pPr algn="ctr">
              <a:lnSpc>
                <a:spcPct val="92000"/>
              </a:lnSpc>
            </a:pPr>
            <a:r>
              <a:rPr sz="750" b="0">
                <a:solidFill>
                  <a:srgbClr val="5A6B7C"/>
                </a:solidFill>
                <a:latin typeface="Arial"/>
              </a:rPr>
              <a:t>layers +
baked-in keys</a:t>
            </a:r>
          </a:p>
        </p:txBody>
      </p:sp>
      <p:sp>
        <p:nvSpPr>
          <p:cNvPr id="17421" name="Rectangle 17420"/>
          <p:cNvSpPr/>
          <p:nvPr/>
        </p:nvSpPr>
        <p:spPr>
          <a:xfrm>
            <a:off x="6126480" y="1371600"/>
            <a:ext cx="1399032" cy="36576"/>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758952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6B4A08"/>
                </a:solidFill>
                <a:latin typeface="Arial"/>
              </a:rPr>
              <a:t>TLS</a:t>
            </a:r>
          </a:p>
          <a:p>
            <a:pPr algn="ctr">
              <a:lnSpc>
                <a:spcPct val="92000"/>
              </a:lnSpc>
            </a:pPr>
            <a:r>
              <a:rPr sz="750" b="0">
                <a:solidFill>
                  <a:srgbClr val="5A6B7C"/>
                </a:solidFill>
                <a:latin typeface="Arial"/>
              </a:rPr>
              <a:t>live
handshake</a:t>
            </a:r>
          </a:p>
        </p:txBody>
      </p:sp>
      <p:sp>
        <p:nvSpPr>
          <p:cNvPr id="17423" name="Rectangle 17422"/>
          <p:cNvSpPr/>
          <p:nvPr/>
        </p:nvSpPr>
        <p:spPr>
          <a:xfrm>
            <a:off x="7589520" y="1371600"/>
            <a:ext cx="1399032" cy="36576"/>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905256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6B4A08"/>
                </a:solidFill>
                <a:latin typeface="Arial"/>
              </a:rPr>
              <a:t>SSH</a:t>
            </a:r>
          </a:p>
          <a:p>
            <a:pPr algn="ctr">
              <a:lnSpc>
                <a:spcPct val="92000"/>
              </a:lnSpc>
            </a:pPr>
            <a:r>
              <a:rPr sz="750" b="0">
                <a:solidFill>
                  <a:srgbClr val="5A6B7C"/>
                </a:solidFill>
                <a:latin typeface="Arial"/>
              </a:rPr>
              <a:t>live offered
algorithms</a:t>
            </a:r>
          </a:p>
        </p:txBody>
      </p:sp>
      <p:sp>
        <p:nvSpPr>
          <p:cNvPr id="17425" name="Rectangle 17424"/>
          <p:cNvSpPr/>
          <p:nvPr/>
        </p:nvSpPr>
        <p:spPr>
          <a:xfrm>
            <a:off x="9052560" y="1371600"/>
            <a:ext cx="1399032" cy="36576"/>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ounded Rectangle 17425"/>
          <p:cNvSpPr/>
          <p:nvPr/>
        </p:nvSpPr>
        <p:spPr>
          <a:xfrm>
            <a:off x="10515600" y="1371600"/>
            <a:ext cx="1399032" cy="640080"/>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lnSpc>
                <a:spcPct val="90000"/>
              </a:lnSpc>
              <a:spcAft>
                <a:spcPts val="200"/>
              </a:spcAft>
            </a:pPr>
            <a:r>
              <a:rPr sz="819" b="1">
                <a:solidFill>
                  <a:srgbClr val="8C2A1E"/>
                </a:solidFill>
                <a:latin typeface="Arial"/>
              </a:rPr>
              <a:t>CLOUD &amp; HSM</a:t>
            </a:r>
          </a:p>
          <a:p>
            <a:pPr algn="ctr">
              <a:lnSpc>
                <a:spcPct val="92000"/>
              </a:lnSpc>
            </a:pPr>
            <a:r>
              <a:rPr sz="750" b="0">
                <a:solidFill>
                  <a:srgbClr val="5A6B7C"/>
                </a:solidFill>
                <a:latin typeface="Arial"/>
              </a:rPr>
              <a:t>AWS · Azure · GCP
PKCS#11</a:t>
            </a:r>
          </a:p>
        </p:txBody>
      </p:sp>
      <p:sp>
        <p:nvSpPr>
          <p:cNvPr id="17427" name="Rectangle 17426"/>
          <p:cNvSpPr/>
          <p:nvPr/>
        </p:nvSpPr>
        <p:spPr>
          <a:xfrm>
            <a:off x="10515600" y="1371600"/>
            <a:ext cx="1399032" cy="36576"/>
          </a:xfrm>
          <a:prstGeom prst="rect">
            <a:avLst/>
          </a:prstGeom>
          <a:solidFill>
            <a:srgbClr val="8C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274320" y="2066543"/>
            <a:ext cx="1481328" cy="347472"/>
          </a:xfrm>
          <a:prstGeom prst="roundRect">
            <a:avLst>
              <a:gd name="adj" fmla="val 14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819" b="1">
                <a:solidFill>
                  <a:srgbClr val="FFFFFF"/>
                </a:solidFill>
                <a:latin typeface="Arial"/>
              </a:rPr>
              <a:t>Core</a:t>
            </a:r>
          </a:p>
        </p:txBody>
      </p:sp>
      <p:sp>
        <p:nvSpPr>
          <p:cNvPr id="17429" name="Rounded Rectangle 17428"/>
          <p:cNvSpPr/>
          <p:nvPr/>
        </p:nvSpPr>
        <p:spPr>
          <a:xfrm>
            <a:off x="1828800" y="2066543"/>
            <a:ext cx="10085832" cy="347472"/>
          </a:xfrm>
          <a:prstGeom prst="roundRect">
            <a:avLst>
              <a:gd name="adj" fmla="val 14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819" b="0">
                <a:solidFill>
                  <a:srgbClr val="1F2933"/>
                </a:solidFill>
                <a:latin typeface="Arial"/>
              </a:rPr>
              <a:t>Python 3.11  ·  FastAPI  ·  Uvicorn  ·  SQLite documents → Postgres + JSONB by connection string</a:t>
            </a:r>
          </a:p>
        </p:txBody>
      </p:sp>
      <p:sp>
        <p:nvSpPr>
          <p:cNvPr id="17430" name="Rounded Rectangle 17429"/>
          <p:cNvSpPr/>
          <p:nvPr/>
        </p:nvSpPr>
        <p:spPr>
          <a:xfrm>
            <a:off x="274320" y="2450591"/>
            <a:ext cx="1481328" cy="347472"/>
          </a:xfrm>
          <a:prstGeom prst="roundRect">
            <a:avLst>
              <a:gd name="adj" fmla="val 14000"/>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819" b="1">
                <a:solidFill>
                  <a:srgbClr val="FFFFFF"/>
                </a:solidFill>
                <a:latin typeface="Arial"/>
              </a:rPr>
              <a:t>Output &amp; QA</a:t>
            </a:r>
          </a:p>
        </p:txBody>
      </p:sp>
      <p:sp>
        <p:nvSpPr>
          <p:cNvPr id="17431" name="Rounded Rectangle 17430"/>
          <p:cNvSpPr/>
          <p:nvPr/>
        </p:nvSpPr>
        <p:spPr>
          <a:xfrm>
            <a:off x="1828800" y="2450591"/>
            <a:ext cx="10085832" cy="347472"/>
          </a:xfrm>
          <a:prstGeom prst="roundRect">
            <a:avLst>
              <a:gd name="adj" fmla="val 14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819" b="0">
                <a:solidFill>
                  <a:srgbClr val="1F2933"/>
                </a:solidFill>
                <a:latin typeface="Arial"/>
              </a:rPr>
              <a:t>CycloneDX 1.7 / ECMA-424 2nd Ed.  ·  ReportLab board PDF  ·  zero-build HTML dashboard  ·  pytest ×262  ·  Playwright UI tests</a:t>
            </a:r>
          </a:p>
        </p:txBody>
      </p:sp>
      <p:sp>
        <p:nvSpPr>
          <p:cNvPr id="17432" name="TextBox 17431"/>
          <p:cNvSpPr txBox="1"/>
          <p:nvPr/>
        </p:nvSpPr>
        <p:spPr>
          <a:xfrm>
            <a:off x="274320" y="2816352"/>
            <a:ext cx="11640312" cy="201168"/>
          </a:xfrm>
          <a:prstGeom prst="rect">
            <a:avLst/>
          </a:prstGeom>
          <a:noFill/>
        </p:spPr>
        <p:txBody>
          <a:bodyPr wrap="square" anchor="t" lIns="0" rIns="0" tIns="0" bIns="0">
            <a:spAutoFit/>
          </a:bodyPr>
          <a:lstStyle/>
          <a:p>
            <a:pPr algn="l"/>
            <a:r>
              <a:rPr sz="819" b="0">
                <a:solidFill>
                  <a:srgbClr val="5A6B7C"/>
                </a:solidFill>
                <a:latin typeface="Arial"/>
              </a:rPr>
              <a:t>Hardware: none. Runs offline on a laptop — no GPU, no cluster, no agent, no external service; a full 191-asset scan takes about a second.</a:t>
            </a:r>
          </a:p>
        </p:txBody>
      </p:sp>
      <p:sp>
        <p:nvSpPr>
          <p:cNvPr id="17433" name="TextBox 17432"/>
          <p:cNvSpPr txBox="1"/>
          <p:nvPr/>
        </p:nvSpPr>
        <p:spPr>
          <a:xfrm>
            <a:off x="274320" y="3054096"/>
            <a:ext cx="11640312" cy="265176"/>
          </a:xfrm>
          <a:prstGeom prst="rect">
            <a:avLst/>
          </a:prstGeom>
          <a:noFill/>
        </p:spPr>
        <p:txBody>
          <a:bodyPr wrap="square" anchor="t" lIns="0" rIns="0" tIns="0" bIns="0">
            <a:spAutoFit/>
          </a:bodyPr>
          <a:lstStyle/>
          <a:p>
            <a:pPr algn="l"/>
            <a:r>
              <a:rPr sz="1100" b="1">
                <a:solidFill>
                  <a:srgbClr val="1F497D"/>
                </a:solidFill>
                <a:latin typeface="Arial"/>
              </a:rPr>
              <a:t>Methodology and process for implementation (Flow Charts/Images/ working prototype)</a:t>
            </a:r>
          </a:p>
        </p:txBody>
      </p:sp>
      <p:sp>
        <p:nvSpPr>
          <p:cNvPr id="17434" name="Rectangle 17433"/>
          <p:cNvSpPr/>
          <p:nvPr/>
        </p:nvSpPr>
        <p:spPr>
          <a:xfrm>
            <a:off x="274320" y="3310128"/>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Rounded Rectangle 17434"/>
          <p:cNvSpPr/>
          <p:nvPr/>
        </p:nvSpPr>
        <p:spPr>
          <a:xfrm>
            <a:off x="274320"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6" name="Rectangle 17435"/>
          <p:cNvSpPr/>
          <p:nvPr/>
        </p:nvSpPr>
        <p:spPr>
          <a:xfrm>
            <a:off x="274320" y="3364992"/>
            <a:ext cx="1883664" cy="21945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274320"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1  INGEST</a:t>
            </a:r>
          </a:p>
        </p:txBody>
      </p:sp>
      <p:sp>
        <p:nvSpPr>
          <p:cNvPr id="17438" name="TextBox 17437"/>
          <p:cNvSpPr txBox="1"/>
          <p:nvPr/>
        </p:nvSpPr>
        <p:spPr>
          <a:xfrm>
            <a:off x="329184"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zip upload or repo URL — traversal, zip-bomb, symlink and SSRF gated at the edge</a:t>
            </a:r>
          </a:p>
        </p:txBody>
      </p:sp>
      <p:sp>
        <p:nvSpPr>
          <p:cNvPr id="17439" name="TextBox 17438"/>
          <p:cNvSpPr txBox="1"/>
          <p:nvPr/>
        </p:nvSpPr>
        <p:spPr>
          <a:xfrm>
            <a:off x="2162556" y="3685032"/>
            <a:ext cx="109728" cy="182880"/>
          </a:xfrm>
          <a:prstGeom prst="rect">
            <a:avLst/>
          </a:prstGeom>
          <a:noFill/>
        </p:spPr>
        <p:txBody>
          <a:bodyPr wrap="square" anchor="t" lIns="0" rIns="0" tIns="0" bIns="0">
            <a:spAutoFit/>
          </a:bodyPr>
          <a:lstStyle/>
          <a:p>
            <a:pPr algn="ctr"/>
            <a:r>
              <a:rPr sz="1100" b="1">
                <a:solidFill>
                  <a:srgbClr val="CBDDEC"/>
                </a:solidFill>
                <a:latin typeface="Arial"/>
              </a:rPr>
              <a:t>›</a:t>
            </a:r>
          </a:p>
        </p:txBody>
      </p:sp>
      <p:sp>
        <p:nvSpPr>
          <p:cNvPr id="17440" name="Rounded Rectangle 17439"/>
          <p:cNvSpPr/>
          <p:nvPr/>
        </p:nvSpPr>
        <p:spPr>
          <a:xfrm>
            <a:off x="2221992"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1" name="Rectangle 17440"/>
          <p:cNvSpPr/>
          <p:nvPr/>
        </p:nvSpPr>
        <p:spPr>
          <a:xfrm>
            <a:off x="2221992" y="3364992"/>
            <a:ext cx="1883664" cy="21945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2221992"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2  SCAN</a:t>
            </a:r>
          </a:p>
        </p:txBody>
      </p:sp>
      <p:sp>
        <p:nvSpPr>
          <p:cNvPr id="17443" name="TextBox 17442"/>
          <p:cNvSpPr txBox="1"/>
          <p:nvPr/>
        </p:nvSpPr>
        <p:spPr>
          <a:xfrm>
            <a:off x="2276856"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eight scanners run independently; one failure degrades that source, never the run</a:t>
            </a:r>
          </a:p>
        </p:txBody>
      </p:sp>
      <p:sp>
        <p:nvSpPr>
          <p:cNvPr id="17444" name="TextBox 17443"/>
          <p:cNvSpPr txBox="1"/>
          <p:nvPr/>
        </p:nvSpPr>
        <p:spPr>
          <a:xfrm>
            <a:off x="4110228" y="3685032"/>
            <a:ext cx="109728" cy="182880"/>
          </a:xfrm>
          <a:prstGeom prst="rect">
            <a:avLst/>
          </a:prstGeom>
          <a:noFill/>
        </p:spPr>
        <p:txBody>
          <a:bodyPr wrap="square" anchor="t" lIns="0" rIns="0" tIns="0" bIns="0">
            <a:spAutoFit/>
          </a:bodyPr>
          <a:lstStyle/>
          <a:p>
            <a:pPr algn="ctr"/>
            <a:r>
              <a:rPr sz="1100" b="1">
                <a:solidFill>
                  <a:srgbClr val="CBDDEC"/>
                </a:solidFill>
                <a:latin typeface="Arial"/>
              </a:rPr>
              <a:t>›</a:t>
            </a:r>
          </a:p>
        </p:txBody>
      </p:sp>
      <p:sp>
        <p:nvSpPr>
          <p:cNvPr id="17445" name="Rounded Rectangle 17444"/>
          <p:cNvSpPr/>
          <p:nvPr/>
        </p:nvSpPr>
        <p:spPr>
          <a:xfrm>
            <a:off x="4169663"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6" name="Rectangle 17445"/>
          <p:cNvSpPr/>
          <p:nvPr/>
        </p:nvSpPr>
        <p:spPr>
          <a:xfrm>
            <a:off x="4169663" y="3364992"/>
            <a:ext cx="1883664" cy="21945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7" name="TextBox 17446"/>
          <p:cNvSpPr txBox="1"/>
          <p:nvPr/>
        </p:nvSpPr>
        <p:spPr>
          <a:xfrm>
            <a:off x="4169663"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3  MERGE</a:t>
            </a:r>
          </a:p>
        </p:txBody>
      </p:sp>
      <p:sp>
        <p:nvSpPr>
          <p:cNvPr id="17448" name="TextBox 17447"/>
          <p:cNvSpPr txBox="1"/>
          <p:nvPr/>
        </p:nvSpPr>
        <p:spPr>
          <a:xfrm>
            <a:off x="4224527"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cross-source identity merge — 209 raw findings become 191 real assets</a:t>
            </a:r>
          </a:p>
        </p:txBody>
      </p:sp>
      <p:sp>
        <p:nvSpPr>
          <p:cNvPr id="17449" name="TextBox 17448"/>
          <p:cNvSpPr txBox="1"/>
          <p:nvPr/>
        </p:nvSpPr>
        <p:spPr>
          <a:xfrm>
            <a:off x="6057899" y="3685032"/>
            <a:ext cx="109728" cy="182880"/>
          </a:xfrm>
          <a:prstGeom prst="rect">
            <a:avLst/>
          </a:prstGeom>
          <a:noFill/>
        </p:spPr>
        <p:txBody>
          <a:bodyPr wrap="square" anchor="t" lIns="0" rIns="0" tIns="0" bIns="0">
            <a:spAutoFit/>
          </a:bodyPr>
          <a:lstStyle/>
          <a:p>
            <a:pPr algn="ctr"/>
            <a:r>
              <a:rPr sz="1100" b="1">
                <a:solidFill>
                  <a:srgbClr val="CBDDEC"/>
                </a:solidFill>
                <a:latin typeface="Arial"/>
              </a:rPr>
              <a:t>›</a:t>
            </a:r>
          </a:p>
        </p:txBody>
      </p:sp>
      <p:sp>
        <p:nvSpPr>
          <p:cNvPr id="17450" name="Rounded Rectangle 17449"/>
          <p:cNvSpPr/>
          <p:nvPr/>
        </p:nvSpPr>
        <p:spPr>
          <a:xfrm>
            <a:off x="6117336"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1" name="Rectangle 17450"/>
          <p:cNvSpPr/>
          <p:nvPr/>
        </p:nvSpPr>
        <p:spPr>
          <a:xfrm>
            <a:off x="6117336" y="3364992"/>
            <a:ext cx="1883664" cy="21945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2" name="TextBox 17451"/>
          <p:cNvSpPr txBox="1"/>
          <p:nvPr/>
        </p:nvSpPr>
        <p:spPr>
          <a:xfrm>
            <a:off x="6117336"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4  ASSESS</a:t>
            </a:r>
          </a:p>
        </p:txBody>
      </p:sp>
      <p:sp>
        <p:nvSpPr>
          <p:cNvPr id="17453" name="TextBox 17452"/>
          <p:cNvSpPr txBox="1"/>
          <p:nvPr/>
        </p:nvSpPr>
        <p:spPr>
          <a:xfrm>
            <a:off x="6172200"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Shor-broken / classically broken / deprecated, plus NIST IR 8547 and CNSA 2.0</a:t>
            </a:r>
          </a:p>
        </p:txBody>
      </p:sp>
      <p:sp>
        <p:nvSpPr>
          <p:cNvPr id="17454" name="TextBox 17453"/>
          <p:cNvSpPr txBox="1"/>
          <p:nvPr/>
        </p:nvSpPr>
        <p:spPr>
          <a:xfrm>
            <a:off x="8005572" y="3685032"/>
            <a:ext cx="109728" cy="182880"/>
          </a:xfrm>
          <a:prstGeom prst="rect">
            <a:avLst/>
          </a:prstGeom>
          <a:noFill/>
        </p:spPr>
        <p:txBody>
          <a:bodyPr wrap="square" anchor="t" lIns="0" rIns="0" tIns="0" bIns="0">
            <a:spAutoFit/>
          </a:bodyPr>
          <a:lstStyle/>
          <a:p>
            <a:pPr algn="ctr"/>
            <a:r>
              <a:rPr sz="1100" b="1">
                <a:solidFill>
                  <a:srgbClr val="CBDDEC"/>
                </a:solidFill>
                <a:latin typeface="Arial"/>
              </a:rPr>
              <a:t>›</a:t>
            </a:r>
          </a:p>
        </p:txBody>
      </p:sp>
      <p:sp>
        <p:nvSpPr>
          <p:cNvPr id="17455" name="Rounded Rectangle 17454"/>
          <p:cNvSpPr/>
          <p:nvPr/>
        </p:nvSpPr>
        <p:spPr>
          <a:xfrm>
            <a:off x="8065008"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6" name="Rectangle 17455"/>
          <p:cNvSpPr/>
          <p:nvPr/>
        </p:nvSpPr>
        <p:spPr>
          <a:xfrm>
            <a:off x="8065008" y="3364992"/>
            <a:ext cx="1883664" cy="219456"/>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7" name="TextBox 17456"/>
          <p:cNvSpPr txBox="1"/>
          <p:nvPr/>
        </p:nvSpPr>
        <p:spPr>
          <a:xfrm>
            <a:off x="8065008"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5  RANK</a:t>
            </a:r>
          </a:p>
        </p:txBody>
      </p:sp>
      <p:sp>
        <p:nvSpPr>
          <p:cNvPr id="17458" name="TextBox 17457"/>
          <p:cNvSpPr txBox="1"/>
          <p:nvPr/>
        </p:nvSpPr>
        <p:spPr>
          <a:xfrm>
            <a:off x="8119872"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risk = vulnerability × timing × HNDL, weighted by business criticality</a:t>
            </a:r>
          </a:p>
        </p:txBody>
      </p:sp>
      <p:sp>
        <p:nvSpPr>
          <p:cNvPr id="17459" name="TextBox 17458"/>
          <p:cNvSpPr txBox="1"/>
          <p:nvPr/>
        </p:nvSpPr>
        <p:spPr>
          <a:xfrm>
            <a:off x="9953244" y="3685032"/>
            <a:ext cx="109728" cy="182880"/>
          </a:xfrm>
          <a:prstGeom prst="rect">
            <a:avLst/>
          </a:prstGeom>
          <a:noFill/>
        </p:spPr>
        <p:txBody>
          <a:bodyPr wrap="square" anchor="t" lIns="0" rIns="0" tIns="0" bIns="0">
            <a:spAutoFit/>
          </a:bodyPr>
          <a:lstStyle/>
          <a:p>
            <a:pPr algn="ctr"/>
            <a:r>
              <a:rPr sz="1100" b="1">
                <a:solidFill>
                  <a:srgbClr val="CBDDEC"/>
                </a:solidFill>
                <a:latin typeface="Arial"/>
              </a:rPr>
              <a:t>›</a:t>
            </a:r>
          </a:p>
        </p:txBody>
      </p:sp>
      <p:sp>
        <p:nvSpPr>
          <p:cNvPr id="17460" name="Rounded Rectangle 17459"/>
          <p:cNvSpPr/>
          <p:nvPr/>
        </p:nvSpPr>
        <p:spPr>
          <a:xfrm>
            <a:off x="10012680" y="3364992"/>
            <a:ext cx="1883664" cy="80467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1" name="Rectangle 17460"/>
          <p:cNvSpPr/>
          <p:nvPr/>
        </p:nvSpPr>
        <p:spPr>
          <a:xfrm>
            <a:off x="10012680" y="3364992"/>
            <a:ext cx="1883664" cy="219456"/>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2" name="TextBox 17461"/>
          <p:cNvSpPr txBox="1"/>
          <p:nvPr/>
        </p:nvSpPr>
        <p:spPr>
          <a:xfrm>
            <a:off x="10012680" y="3387852"/>
            <a:ext cx="1883664" cy="192024"/>
          </a:xfrm>
          <a:prstGeom prst="rect">
            <a:avLst/>
          </a:prstGeom>
          <a:noFill/>
        </p:spPr>
        <p:txBody>
          <a:bodyPr wrap="square" anchor="t" lIns="0" rIns="0" tIns="0" bIns="0">
            <a:spAutoFit/>
          </a:bodyPr>
          <a:lstStyle/>
          <a:p>
            <a:pPr algn="ctr"/>
            <a:r>
              <a:rPr sz="819" b="1">
                <a:solidFill>
                  <a:srgbClr val="FFFFFF"/>
                </a:solidFill>
                <a:latin typeface="Arial"/>
              </a:rPr>
              <a:t>6  DELIVER</a:t>
            </a:r>
          </a:p>
        </p:txBody>
      </p:sp>
      <p:sp>
        <p:nvSpPr>
          <p:cNvPr id="17463" name="TextBox 17462"/>
          <p:cNvSpPr txBox="1"/>
          <p:nvPr/>
        </p:nvSpPr>
        <p:spPr>
          <a:xfrm>
            <a:off x="10067544" y="3639312"/>
            <a:ext cx="1773936" cy="493776"/>
          </a:xfrm>
          <a:prstGeom prst="rect">
            <a:avLst/>
          </a:prstGeom>
          <a:noFill/>
        </p:spPr>
        <p:txBody>
          <a:bodyPr wrap="square" anchor="t" lIns="0" rIns="0" tIns="0" bIns="0">
            <a:spAutoFit/>
          </a:bodyPr>
          <a:lstStyle/>
          <a:p>
            <a:pPr algn="l">
              <a:lnSpc>
                <a:spcPct val="95000"/>
              </a:lnSpc>
            </a:pPr>
            <a:r>
              <a:rPr sz="750" b="0">
                <a:solidFill>
                  <a:srgbClr val="5A6B7C"/>
                </a:solidFill>
                <a:latin typeface="Arial"/>
              </a:rPr>
              <a:t>dashboard, CycloneDX 1.7 CBOM, board PDF, drift diff between two scans</a:t>
            </a:r>
          </a:p>
        </p:txBody>
      </p:sp>
      <p:pic>
        <p:nvPicPr>
          <p:cNvPr id="17464" name="Picture 17463" descr="graph.png"/>
          <p:cNvPicPr>
            <a:picLocks noChangeAspect="1"/>
          </p:cNvPicPr>
          <p:nvPr/>
        </p:nvPicPr>
        <p:blipFill>
          <a:blip r:embed="rId6"/>
          <a:stretch>
            <a:fillRect/>
          </a:stretch>
        </p:blipFill>
        <p:spPr>
          <a:xfrm>
            <a:off x="274320" y="4242816"/>
            <a:ext cx="5760720" cy="1788442"/>
          </a:xfrm>
          <a:prstGeom prst="rect">
            <a:avLst/>
          </a:prstGeom>
        </p:spPr>
      </p:pic>
      <p:sp>
        <p:nvSpPr>
          <p:cNvPr id="17465" name="Rectangle 17464"/>
          <p:cNvSpPr/>
          <p:nvPr/>
        </p:nvSpPr>
        <p:spPr>
          <a:xfrm>
            <a:off x="274320" y="4242816"/>
            <a:ext cx="5760720" cy="1788442"/>
          </a:xfrm>
          <a:prstGeom prst="rect">
            <a:avLst/>
          </a:prstGeom>
          <a:no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6" name="TextBox 17465"/>
          <p:cNvSpPr txBox="1"/>
          <p:nvPr/>
        </p:nvSpPr>
        <p:spPr>
          <a:xfrm>
            <a:off x="274320" y="6035040"/>
            <a:ext cx="5760720" cy="219456"/>
          </a:xfrm>
          <a:prstGeom prst="rect">
            <a:avLst/>
          </a:prstGeom>
          <a:noFill/>
        </p:spPr>
        <p:txBody>
          <a:bodyPr wrap="square" anchor="t" lIns="0" rIns="0" tIns="0" bIns="0">
            <a:spAutoFit/>
          </a:bodyPr>
          <a:lstStyle/>
          <a:p>
            <a:pPr algn="ctr">
              <a:lnSpc>
                <a:spcPct val="95000"/>
              </a:lnSpc>
            </a:pPr>
            <a:r>
              <a:rPr sz="750" b="0">
                <a:solidFill>
                  <a:srgbClr val="5A6B7C"/>
                </a:solidFill>
                <a:latin typeface="Arial"/>
              </a:rPr>
              <a:t>Asset graph — blast radius. 125 nodes, 117 low-priority assets clustered so all 191 stay represented, never truncated.</a:t>
            </a:r>
          </a:p>
        </p:txBody>
      </p:sp>
      <p:pic>
        <p:nvPicPr>
          <p:cNvPr id="17467" name="Picture 17466" descr="inventory.png"/>
          <p:cNvPicPr>
            <a:picLocks noChangeAspect="1"/>
          </p:cNvPicPr>
          <p:nvPr/>
        </p:nvPicPr>
        <p:blipFill>
          <a:blip r:embed="rId7"/>
          <a:stretch>
            <a:fillRect/>
          </a:stretch>
        </p:blipFill>
        <p:spPr>
          <a:xfrm>
            <a:off x="6172200" y="4242816"/>
            <a:ext cx="5742432" cy="1782764"/>
          </a:xfrm>
          <a:prstGeom prst="rect">
            <a:avLst/>
          </a:prstGeom>
        </p:spPr>
      </p:pic>
      <p:sp>
        <p:nvSpPr>
          <p:cNvPr id="17468" name="Rectangle 17467"/>
          <p:cNvSpPr/>
          <p:nvPr/>
        </p:nvSpPr>
        <p:spPr>
          <a:xfrm>
            <a:off x="6172200" y="4242816"/>
            <a:ext cx="5742432" cy="1782764"/>
          </a:xfrm>
          <a:prstGeom prst="rect">
            <a:avLst/>
          </a:prstGeom>
          <a:no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9" name="TextBox 17468"/>
          <p:cNvSpPr txBox="1"/>
          <p:nvPr/>
        </p:nvSpPr>
        <p:spPr>
          <a:xfrm>
            <a:off x="6172200" y="6035040"/>
            <a:ext cx="5742432" cy="219456"/>
          </a:xfrm>
          <a:prstGeom prst="rect">
            <a:avLst/>
          </a:prstGeom>
          <a:noFill/>
        </p:spPr>
        <p:txBody>
          <a:bodyPr wrap="square" anchor="t" lIns="0" rIns="0" tIns="0" bIns="0">
            <a:spAutoFit/>
          </a:bodyPr>
          <a:lstStyle/>
          <a:p>
            <a:pPr algn="ctr">
              <a:lnSpc>
                <a:spcPct val="95000"/>
              </a:lnSpc>
            </a:pPr>
            <a:r>
              <a:rPr sz="750" b="0">
                <a:solidFill>
                  <a:srgbClr val="5A6B7C"/>
                </a:solidFill>
                <a:latin typeface="Arial"/>
              </a:rPr>
              <a:t>Inventory explorer — every asset traceable to its source, its confidence band and an exact file:line for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274320" y="1060704"/>
            <a:ext cx="11640312" cy="265176"/>
          </a:xfrm>
          <a:prstGeom prst="rect">
            <a:avLst/>
          </a:prstGeom>
          <a:noFill/>
        </p:spPr>
        <p:txBody>
          <a:bodyPr wrap="square" anchor="t" lIns="0" rIns="0" tIns="0" bIns="0">
            <a:spAutoFit/>
          </a:bodyPr>
          <a:lstStyle/>
          <a:p>
            <a:pPr algn="l"/>
            <a:r>
              <a:rPr sz="1100" b="1">
                <a:solidFill>
                  <a:srgbClr val="1F497D"/>
                </a:solidFill>
                <a:latin typeface="Arial"/>
              </a:rPr>
              <a:t>Analysis of the feasibility of the idea</a:t>
            </a:r>
          </a:p>
        </p:txBody>
      </p:sp>
      <p:sp>
        <p:nvSpPr>
          <p:cNvPr id="17411" name="Rectangle 17410"/>
          <p:cNvSpPr/>
          <p:nvPr/>
        </p:nvSpPr>
        <p:spPr>
          <a:xfrm>
            <a:off x="274320" y="1316736"/>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274320"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700" b="1">
                <a:solidFill>
                  <a:srgbClr val="0E8C86"/>
                </a:solidFill>
                <a:latin typeface="Arial"/>
              </a:rPr>
              <a:t>262</a:t>
            </a:r>
          </a:p>
          <a:p>
            <a:pPr algn="ctr">
              <a:lnSpc>
                <a:spcPct val="98000"/>
              </a:lnSpc>
            </a:pPr>
            <a:r>
              <a:rPr sz="780" b="0">
                <a:solidFill>
                  <a:srgbClr val="5A6B7C"/>
                </a:solidFill>
                <a:latin typeface="Arial"/>
              </a:rPr>
              <a:t>tests green, incl. browser UI tests</a:t>
            </a:r>
          </a:p>
        </p:txBody>
      </p:sp>
      <p:sp>
        <p:nvSpPr>
          <p:cNvPr id="17413" name="Rectangle 17412"/>
          <p:cNvSpPr/>
          <p:nvPr/>
        </p:nvSpPr>
        <p:spPr>
          <a:xfrm>
            <a:off x="274320" y="1408176"/>
            <a:ext cx="1883664"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2221992"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200" b="1">
                <a:solidFill>
                  <a:srgbClr val="1A5C36"/>
                </a:solidFill>
                <a:latin typeface="Arial"/>
              </a:rPr>
              <a:t>100% / 97.5%</a:t>
            </a:r>
          </a:p>
          <a:p>
            <a:pPr algn="ctr">
              <a:lnSpc>
                <a:spcPct val="98000"/>
              </a:lnSpc>
            </a:pPr>
            <a:r>
              <a:rPr sz="780" b="0">
                <a:solidFill>
                  <a:srgbClr val="5A6B7C"/>
                </a:solidFill>
                <a:latin typeface="Arial"/>
              </a:rPr>
              <a:t>precision / recall, 91-usage corpus</a:t>
            </a:r>
          </a:p>
        </p:txBody>
      </p:sp>
      <p:sp>
        <p:nvSpPr>
          <p:cNvPr id="17415" name="Rectangle 17414"/>
          <p:cNvSpPr/>
          <p:nvPr/>
        </p:nvSpPr>
        <p:spPr>
          <a:xfrm>
            <a:off x="2221992" y="1408176"/>
            <a:ext cx="1883664" cy="36576"/>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4169663"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700" b="1">
                <a:solidFill>
                  <a:srgbClr val="0070C0"/>
                </a:solidFill>
                <a:latin typeface="Arial"/>
              </a:rPr>
              <a:t>7</a:t>
            </a:r>
          </a:p>
          <a:p>
            <a:pPr algn="ctr">
              <a:lnSpc>
                <a:spcPct val="98000"/>
              </a:lnSpc>
            </a:pPr>
            <a:r>
              <a:rPr sz="780" b="0">
                <a:solidFill>
                  <a:srgbClr val="5A6B7C"/>
                </a:solidFill>
                <a:latin typeface="Arial"/>
              </a:rPr>
              <a:t>languages, Python through Rust</a:t>
            </a:r>
          </a:p>
        </p:txBody>
      </p:sp>
      <p:sp>
        <p:nvSpPr>
          <p:cNvPr id="17417" name="Rectangle 17416"/>
          <p:cNvSpPr/>
          <p:nvPr/>
        </p:nvSpPr>
        <p:spPr>
          <a:xfrm>
            <a:off x="4169663" y="1408176"/>
            <a:ext cx="1883664" cy="3657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6117336"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700" b="1">
                <a:solidFill>
                  <a:srgbClr val="0070C0"/>
                </a:solidFill>
                <a:latin typeface="Arial"/>
              </a:rPr>
              <a:t>8</a:t>
            </a:r>
          </a:p>
          <a:p>
            <a:pPr algn="ctr">
              <a:lnSpc>
                <a:spcPct val="98000"/>
              </a:lnSpc>
            </a:pPr>
            <a:r>
              <a:rPr sz="780" b="0">
                <a:solidFill>
                  <a:srgbClr val="5A6B7C"/>
                </a:solidFill>
                <a:latin typeface="Arial"/>
              </a:rPr>
              <a:t>source types, code to PKCS#11</a:t>
            </a:r>
          </a:p>
        </p:txBody>
      </p:sp>
      <p:sp>
        <p:nvSpPr>
          <p:cNvPr id="17419" name="Rectangle 17418"/>
          <p:cNvSpPr/>
          <p:nvPr/>
        </p:nvSpPr>
        <p:spPr>
          <a:xfrm>
            <a:off x="6117336" y="1408176"/>
            <a:ext cx="1883664" cy="3657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8065008"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700" b="1">
                <a:solidFill>
                  <a:srgbClr val="1F497D"/>
                </a:solidFill>
                <a:latin typeface="Arial"/>
              </a:rPr>
              <a:t>0</a:t>
            </a:r>
          </a:p>
          <a:p>
            <a:pPr algn="ctr">
              <a:lnSpc>
                <a:spcPct val="98000"/>
              </a:lnSpc>
            </a:pPr>
            <a:r>
              <a:rPr sz="780" b="0">
                <a:solidFill>
                  <a:srgbClr val="5A6B7C"/>
                </a:solidFill>
                <a:latin typeface="Arial"/>
              </a:rPr>
              <a:t>hard dependencies, runs offline</a:t>
            </a:r>
          </a:p>
        </p:txBody>
      </p:sp>
      <p:sp>
        <p:nvSpPr>
          <p:cNvPr id="17421" name="Rectangle 17420"/>
          <p:cNvSpPr/>
          <p:nvPr/>
        </p:nvSpPr>
        <p:spPr>
          <a:xfrm>
            <a:off x="8065008" y="1408176"/>
            <a:ext cx="1883664" cy="36576"/>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10012680" y="1408176"/>
            <a:ext cx="1883664" cy="859536"/>
          </a:xfrm>
          <a:prstGeom prst="roundRect">
            <a:avLst>
              <a:gd name="adj" fmla="val 8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82000"/>
              </a:lnSpc>
              <a:spcAft>
                <a:spcPts val="300"/>
              </a:spcAft>
            </a:pPr>
            <a:r>
              <a:rPr sz="1700" b="1">
                <a:solidFill>
                  <a:srgbClr val="0E8C86"/>
                </a:solidFill>
                <a:latin typeface="Arial"/>
              </a:rPr>
              <a:t>1.7</a:t>
            </a:r>
          </a:p>
          <a:p>
            <a:pPr algn="ctr">
              <a:lnSpc>
                <a:spcPct val="98000"/>
              </a:lnSpc>
            </a:pPr>
            <a:r>
              <a:rPr sz="780" b="0">
                <a:solidFill>
                  <a:srgbClr val="5A6B7C"/>
                </a:solidFill>
                <a:latin typeface="Arial"/>
              </a:rPr>
              <a:t>CycloneDX / ECMA-424, validated</a:t>
            </a:r>
          </a:p>
        </p:txBody>
      </p:sp>
      <p:sp>
        <p:nvSpPr>
          <p:cNvPr id="17423" name="Rectangle 17422"/>
          <p:cNvSpPr/>
          <p:nvPr/>
        </p:nvSpPr>
        <p:spPr>
          <a:xfrm>
            <a:off x="10012680" y="1408176"/>
            <a:ext cx="1883664" cy="36576"/>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274320" y="2359152"/>
            <a:ext cx="11640312" cy="219456"/>
          </a:xfrm>
          <a:prstGeom prst="rect">
            <a:avLst/>
          </a:prstGeom>
          <a:noFill/>
        </p:spPr>
        <p:txBody>
          <a:bodyPr wrap="square" anchor="t" lIns="0" rIns="0" tIns="0" bIns="0">
            <a:spAutoFit/>
          </a:bodyPr>
          <a:lstStyle/>
          <a:p>
            <a:pPr algn="l"/>
            <a:r>
              <a:rPr sz="860" b="0">
                <a:solidFill>
                  <a:srgbClr val="1F2933"/>
                </a:solidFill>
                <a:latin typeface="Arial"/>
              </a:rPr>
              <a:t>Feasible because it is already built and measured. Every number above comes from pytest, the accuracy evaluator and a live scan on this machine — none of it is an estimate.</a:t>
            </a:r>
          </a:p>
        </p:txBody>
      </p:sp>
      <p:sp>
        <p:nvSpPr>
          <p:cNvPr id="17425" name="TextBox 17424"/>
          <p:cNvSpPr txBox="1"/>
          <p:nvPr/>
        </p:nvSpPr>
        <p:spPr>
          <a:xfrm>
            <a:off x="274320" y="2651760"/>
            <a:ext cx="5760720" cy="265176"/>
          </a:xfrm>
          <a:prstGeom prst="rect">
            <a:avLst/>
          </a:prstGeom>
          <a:noFill/>
        </p:spPr>
        <p:txBody>
          <a:bodyPr wrap="square" anchor="t" lIns="0" rIns="0" tIns="0" bIns="0">
            <a:spAutoFit/>
          </a:bodyPr>
          <a:lstStyle/>
          <a:p>
            <a:pPr algn="l"/>
            <a:r>
              <a:rPr sz="1100" b="1">
                <a:solidFill>
                  <a:srgbClr val="1F497D"/>
                </a:solidFill>
                <a:latin typeface="Arial"/>
              </a:rPr>
              <a:t>Potential challenges and risks</a:t>
            </a:r>
          </a:p>
        </p:txBody>
      </p:sp>
      <p:sp>
        <p:nvSpPr>
          <p:cNvPr id="17426" name="Rectangle 17425"/>
          <p:cNvSpPr/>
          <p:nvPr/>
        </p:nvSpPr>
        <p:spPr>
          <a:xfrm>
            <a:off x="274320" y="2907791"/>
            <a:ext cx="5760720"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6172200" y="2651760"/>
            <a:ext cx="5742432" cy="265176"/>
          </a:xfrm>
          <a:prstGeom prst="rect">
            <a:avLst/>
          </a:prstGeom>
          <a:noFill/>
        </p:spPr>
        <p:txBody>
          <a:bodyPr wrap="square" anchor="t" lIns="0" rIns="0" tIns="0" bIns="0">
            <a:spAutoFit/>
          </a:bodyPr>
          <a:lstStyle/>
          <a:p>
            <a:pPr algn="l"/>
            <a:r>
              <a:rPr sz="1100" b="1">
                <a:solidFill>
                  <a:srgbClr val="1F497D"/>
                </a:solidFill>
                <a:latin typeface="Arial"/>
              </a:rPr>
              <a:t>Strategies for overcoming these challenges</a:t>
            </a:r>
          </a:p>
        </p:txBody>
      </p:sp>
      <p:sp>
        <p:nvSpPr>
          <p:cNvPr id="17428" name="Rectangle 17427"/>
          <p:cNvSpPr/>
          <p:nvPr/>
        </p:nvSpPr>
        <p:spPr>
          <a:xfrm>
            <a:off x="6172200" y="2907791"/>
            <a:ext cx="574243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Rounded Rectangle 17428"/>
          <p:cNvSpPr/>
          <p:nvPr/>
        </p:nvSpPr>
        <p:spPr>
          <a:xfrm>
            <a:off x="274320" y="2980944"/>
            <a:ext cx="5760720"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Rectangle 17429"/>
          <p:cNvSpPr/>
          <p:nvPr/>
        </p:nvSpPr>
        <p:spPr>
          <a:xfrm>
            <a:off x="274320" y="2980944"/>
            <a:ext cx="45720" cy="786384"/>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438912" y="3054096"/>
            <a:ext cx="5486400" cy="182880"/>
          </a:xfrm>
          <a:prstGeom prst="rect">
            <a:avLst/>
          </a:prstGeom>
          <a:noFill/>
        </p:spPr>
        <p:txBody>
          <a:bodyPr wrap="square" anchor="t" lIns="0" rIns="0" tIns="0" bIns="0">
            <a:spAutoFit/>
          </a:bodyPr>
          <a:lstStyle/>
          <a:p>
            <a:pPr algn="l"/>
            <a:r>
              <a:rPr sz="860" b="1">
                <a:solidFill>
                  <a:srgbClr val="1F2933"/>
                </a:solidFill>
                <a:latin typeface="Arial"/>
              </a:rPr>
              <a:t>Static analysis cannot see runtime-chosen algorithms</a:t>
            </a:r>
          </a:p>
        </p:txBody>
      </p:sp>
      <p:sp>
        <p:nvSpPr>
          <p:cNvPr id="17432" name="TextBox 17431"/>
          <p:cNvSpPr txBox="1"/>
          <p:nvPr/>
        </p:nvSpPr>
        <p:spPr>
          <a:xfrm>
            <a:off x="438912" y="3264408"/>
            <a:ext cx="5468112"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Algorithm names read from the environment, or resolved through getattr, are invisible to any scanner.</a:t>
            </a:r>
          </a:p>
        </p:txBody>
      </p:sp>
      <p:sp>
        <p:nvSpPr>
          <p:cNvPr id="17433" name="Rounded Rectangle 17432"/>
          <p:cNvSpPr/>
          <p:nvPr/>
        </p:nvSpPr>
        <p:spPr>
          <a:xfrm>
            <a:off x="6172200" y="2980944"/>
            <a:ext cx="5742432"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4" name="Rectangle 17433"/>
          <p:cNvSpPr/>
          <p:nvPr/>
        </p:nvSpPr>
        <p:spPr>
          <a:xfrm>
            <a:off x="6172200" y="2980944"/>
            <a:ext cx="45720" cy="78638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TextBox 17434"/>
          <p:cNvSpPr txBox="1"/>
          <p:nvPr/>
        </p:nvSpPr>
        <p:spPr>
          <a:xfrm>
            <a:off x="6336792" y="3054096"/>
            <a:ext cx="5468112" cy="182880"/>
          </a:xfrm>
          <a:prstGeom prst="rect">
            <a:avLst/>
          </a:prstGeom>
          <a:noFill/>
        </p:spPr>
        <p:txBody>
          <a:bodyPr wrap="square" anchor="t" lIns="0" rIns="0" tIns="0" bIns="0">
            <a:spAutoFit/>
          </a:bodyPr>
          <a:lstStyle/>
          <a:p>
            <a:pPr algn="l"/>
            <a:r>
              <a:rPr sz="860" b="1">
                <a:solidFill>
                  <a:srgbClr val="0E8C86"/>
                </a:solidFill>
                <a:latin typeface="Arial"/>
              </a:rPr>
              <a:t>Confidence banding + independent ground truth</a:t>
            </a:r>
          </a:p>
        </p:txBody>
      </p:sp>
      <p:sp>
        <p:nvSpPr>
          <p:cNvPr id="17436" name="TextBox 17435"/>
          <p:cNvSpPr txBox="1"/>
          <p:nvPr/>
        </p:nvSpPr>
        <p:spPr>
          <a:xfrm>
            <a:off x="6336792" y="3264408"/>
            <a:ext cx="5449824"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Every finding carries a confidence level, and our 2 known misses are published in the corpus as misses, not hidden.</a:t>
            </a:r>
          </a:p>
        </p:txBody>
      </p:sp>
      <p:sp>
        <p:nvSpPr>
          <p:cNvPr id="17437" name="TextBox 17436"/>
          <p:cNvSpPr txBox="1"/>
          <p:nvPr/>
        </p:nvSpPr>
        <p:spPr>
          <a:xfrm>
            <a:off x="5943600" y="3255263"/>
            <a:ext cx="219456" cy="201168"/>
          </a:xfrm>
          <a:prstGeom prst="rect">
            <a:avLst/>
          </a:prstGeom>
          <a:noFill/>
        </p:spPr>
        <p:txBody>
          <a:bodyPr wrap="square" anchor="t" lIns="0" rIns="0" tIns="0" bIns="0">
            <a:spAutoFit/>
          </a:bodyPr>
          <a:lstStyle/>
          <a:p>
            <a:pPr algn="ctr"/>
            <a:r>
              <a:rPr sz="1100" b="1">
                <a:solidFill>
                  <a:srgbClr val="5A6B7C"/>
                </a:solidFill>
                <a:latin typeface="Arial"/>
              </a:rPr>
              <a:t>→</a:t>
            </a:r>
          </a:p>
        </p:txBody>
      </p:sp>
      <p:sp>
        <p:nvSpPr>
          <p:cNvPr id="17438" name="Rounded Rectangle 17437"/>
          <p:cNvSpPr/>
          <p:nvPr/>
        </p:nvSpPr>
        <p:spPr>
          <a:xfrm>
            <a:off x="274320" y="3822191"/>
            <a:ext cx="5760720"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9" name="Rectangle 17438"/>
          <p:cNvSpPr/>
          <p:nvPr/>
        </p:nvSpPr>
        <p:spPr>
          <a:xfrm>
            <a:off x="274320" y="3822191"/>
            <a:ext cx="45720" cy="786384"/>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TextBox 17439"/>
          <p:cNvSpPr txBox="1"/>
          <p:nvPr/>
        </p:nvSpPr>
        <p:spPr>
          <a:xfrm>
            <a:off x="438912" y="3895344"/>
            <a:ext cx="5486400" cy="182880"/>
          </a:xfrm>
          <a:prstGeom prst="rect">
            <a:avLst/>
          </a:prstGeom>
          <a:noFill/>
        </p:spPr>
        <p:txBody>
          <a:bodyPr wrap="square" anchor="t" lIns="0" rIns="0" tIns="0" bIns="0">
            <a:spAutoFit/>
          </a:bodyPr>
          <a:lstStyle/>
          <a:p>
            <a:pPr algn="l"/>
            <a:r>
              <a:rPr sz="860" b="1">
                <a:solidFill>
                  <a:srgbClr val="1F2933"/>
                </a:solidFill>
                <a:latin typeface="Arial"/>
              </a:rPr>
              <a:t>Q-Day (Z) is genuinely unknowable</a:t>
            </a:r>
          </a:p>
        </p:txBody>
      </p:sp>
      <p:sp>
        <p:nvSpPr>
          <p:cNvPr id="17441" name="TextBox 17440"/>
          <p:cNvSpPr txBox="1"/>
          <p:nvPr/>
        </p:nvSpPr>
        <p:spPr>
          <a:xfrm>
            <a:off x="438912" y="4105655"/>
            <a:ext cx="5468112"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Hardcode a date and every score inherits one team’s guess — easy for a sceptical auditor to dismiss.</a:t>
            </a:r>
          </a:p>
        </p:txBody>
      </p:sp>
      <p:sp>
        <p:nvSpPr>
          <p:cNvPr id="17442" name="Rounded Rectangle 17441"/>
          <p:cNvSpPr/>
          <p:nvPr/>
        </p:nvSpPr>
        <p:spPr>
          <a:xfrm>
            <a:off x="6172200" y="3822191"/>
            <a:ext cx="5742432"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3" name="Rectangle 17442"/>
          <p:cNvSpPr/>
          <p:nvPr/>
        </p:nvSpPr>
        <p:spPr>
          <a:xfrm>
            <a:off x="6172200" y="3822191"/>
            <a:ext cx="45720" cy="78638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6336792" y="3895344"/>
            <a:ext cx="5468112" cy="182880"/>
          </a:xfrm>
          <a:prstGeom prst="rect">
            <a:avLst/>
          </a:prstGeom>
          <a:noFill/>
        </p:spPr>
        <p:txBody>
          <a:bodyPr wrap="square" anchor="t" lIns="0" rIns="0" tIns="0" bIns="0">
            <a:spAutoFit/>
          </a:bodyPr>
          <a:lstStyle/>
          <a:p>
            <a:pPr algn="l"/>
            <a:r>
              <a:rPr sz="860" b="1">
                <a:solidFill>
                  <a:srgbClr val="0E8C86"/>
                </a:solidFill>
                <a:latin typeface="Arial"/>
              </a:rPr>
              <a:t>Score the certain clock alongside the uncertain one</a:t>
            </a:r>
          </a:p>
        </p:txBody>
      </p:sp>
      <p:sp>
        <p:nvSpPr>
          <p:cNvPr id="17445" name="TextBox 17444"/>
          <p:cNvSpPr txBox="1"/>
          <p:nvPr/>
        </p:nvSpPr>
        <p:spPr>
          <a:xfrm>
            <a:off x="6336792" y="4105655"/>
            <a:ext cx="5449824"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Z is a visible dial, never a constant, and the fixed NIST IR 8547 date is scored beside it.</a:t>
            </a:r>
          </a:p>
        </p:txBody>
      </p:sp>
      <p:sp>
        <p:nvSpPr>
          <p:cNvPr id="17446" name="TextBox 17445"/>
          <p:cNvSpPr txBox="1"/>
          <p:nvPr/>
        </p:nvSpPr>
        <p:spPr>
          <a:xfrm>
            <a:off x="5943600" y="4096511"/>
            <a:ext cx="219456" cy="201168"/>
          </a:xfrm>
          <a:prstGeom prst="rect">
            <a:avLst/>
          </a:prstGeom>
          <a:noFill/>
        </p:spPr>
        <p:txBody>
          <a:bodyPr wrap="square" anchor="t" lIns="0" rIns="0" tIns="0" bIns="0">
            <a:spAutoFit/>
          </a:bodyPr>
          <a:lstStyle/>
          <a:p>
            <a:pPr algn="ctr"/>
            <a:r>
              <a:rPr sz="1100" b="1">
                <a:solidFill>
                  <a:srgbClr val="5A6B7C"/>
                </a:solidFill>
                <a:latin typeface="Arial"/>
              </a:rPr>
              <a:t>→</a:t>
            </a:r>
          </a:p>
        </p:txBody>
      </p:sp>
      <p:sp>
        <p:nvSpPr>
          <p:cNvPr id="17447" name="Rounded Rectangle 17446"/>
          <p:cNvSpPr/>
          <p:nvPr/>
        </p:nvSpPr>
        <p:spPr>
          <a:xfrm>
            <a:off x="274320" y="4663440"/>
            <a:ext cx="5760720"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8" name="Rectangle 17447"/>
          <p:cNvSpPr/>
          <p:nvPr/>
        </p:nvSpPr>
        <p:spPr>
          <a:xfrm>
            <a:off x="274320" y="4663440"/>
            <a:ext cx="45720" cy="786384"/>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9" name="TextBox 17448"/>
          <p:cNvSpPr txBox="1"/>
          <p:nvPr/>
        </p:nvSpPr>
        <p:spPr>
          <a:xfrm>
            <a:off x="438912" y="4736592"/>
            <a:ext cx="5486400" cy="182880"/>
          </a:xfrm>
          <a:prstGeom prst="rect">
            <a:avLst/>
          </a:prstGeom>
          <a:noFill/>
        </p:spPr>
        <p:txBody>
          <a:bodyPr wrap="square" anchor="t" lIns="0" rIns="0" tIns="0" bIns="0">
            <a:spAutoFit/>
          </a:bodyPr>
          <a:lstStyle/>
          <a:p>
            <a:pPr algn="l"/>
            <a:r>
              <a:rPr sz="860" b="1">
                <a:solidFill>
                  <a:srgbClr val="1F2933"/>
                </a:solidFill>
                <a:latin typeface="Arial"/>
              </a:rPr>
              <a:t>Business context cannot be read out of code</a:t>
            </a:r>
          </a:p>
        </p:txBody>
      </p:sp>
      <p:sp>
        <p:nvSpPr>
          <p:cNvPr id="17450" name="TextBox 17449"/>
          <p:cNvSpPr txBox="1"/>
          <p:nvPr/>
        </p:nvSpPr>
        <p:spPr>
          <a:xfrm>
            <a:off x="438912" y="4946903"/>
            <a:ext cx="5468112"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No parser knows that a given AES call protects 25-year defence records. Guessing silently produces confident, wrong numbers.</a:t>
            </a:r>
          </a:p>
        </p:txBody>
      </p:sp>
      <p:sp>
        <p:nvSpPr>
          <p:cNvPr id="17451" name="Rounded Rectangle 17450"/>
          <p:cNvSpPr/>
          <p:nvPr/>
        </p:nvSpPr>
        <p:spPr>
          <a:xfrm>
            <a:off x="6172200" y="4663440"/>
            <a:ext cx="5742432"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2" name="Rectangle 17451"/>
          <p:cNvSpPr/>
          <p:nvPr/>
        </p:nvSpPr>
        <p:spPr>
          <a:xfrm>
            <a:off x="6172200" y="4663440"/>
            <a:ext cx="45720" cy="78638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3" name="TextBox 17452"/>
          <p:cNvSpPr txBox="1"/>
          <p:nvPr/>
        </p:nvSpPr>
        <p:spPr>
          <a:xfrm>
            <a:off x="6336792" y="4736592"/>
            <a:ext cx="5468112" cy="182880"/>
          </a:xfrm>
          <a:prstGeom prst="rect">
            <a:avLst/>
          </a:prstGeom>
          <a:noFill/>
        </p:spPr>
        <p:txBody>
          <a:bodyPr wrap="square" anchor="t" lIns="0" rIns="0" tIns="0" bIns="0">
            <a:spAutoFit/>
          </a:bodyPr>
          <a:lstStyle/>
          <a:p>
            <a:pPr algn="l"/>
            <a:r>
              <a:rPr sz="860" b="1">
                <a:solidFill>
                  <a:srgbClr val="0E8C86"/>
                </a:solidFill>
                <a:latin typeface="Arial"/>
              </a:rPr>
              <a:t>Human inputs, declared as human inputs</a:t>
            </a:r>
          </a:p>
        </p:txBody>
      </p:sp>
      <p:sp>
        <p:nvSpPr>
          <p:cNvPr id="17454" name="TextBox 17453"/>
          <p:cNvSpPr txBox="1"/>
          <p:nvPr/>
        </p:nvSpPr>
        <p:spPr>
          <a:xfrm>
            <a:off x="6336792" y="4946903"/>
            <a:ext cx="5449824"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Lifetime and criticality come from a reviewed crypto-policy.yaml; anything defaulted is stored and badged “assumed”.</a:t>
            </a:r>
          </a:p>
        </p:txBody>
      </p:sp>
      <p:sp>
        <p:nvSpPr>
          <p:cNvPr id="17455" name="TextBox 17454"/>
          <p:cNvSpPr txBox="1"/>
          <p:nvPr/>
        </p:nvSpPr>
        <p:spPr>
          <a:xfrm>
            <a:off x="5943600" y="4937759"/>
            <a:ext cx="219456" cy="201168"/>
          </a:xfrm>
          <a:prstGeom prst="rect">
            <a:avLst/>
          </a:prstGeom>
          <a:noFill/>
        </p:spPr>
        <p:txBody>
          <a:bodyPr wrap="square" anchor="t" lIns="0" rIns="0" tIns="0" bIns="0">
            <a:spAutoFit/>
          </a:bodyPr>
          <a:lstStyle/>
          <a:p>
            <a:pPr algn="ctr"/>
            <a:r>
              <a:rPr sz="1100" b="1">
                <a:solidFill>
                  <a:srgbClr val="5A6B7C"/>
                </a:solidFill>
                <a:latin typeface="Arial"/>
              </a:rPr>
              <a:t>→</a:t>
            </a:r>
          </a:p>
        </p:txBody>
      </p:sp>
      <p:sp>
        <p:nvSpPr>
          <p:cNvPr id="17456" name="Rounded Rectangle 17455"/>
          <p:cNvSpPr/>
          <p:nvPr/>
        </p:nvSpPr>
        <p:spPr>
          <a:xfrm>
            <a:off x="274320" y="5504688"/>
            <a:ext cx="5760720"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7" name="Rectangle 17456"/>
          <p:cNvSpPr/>
          <p:nvPr/>
        </p:nvSpPr>
        <p:spPr>
          <a:xfrm>
            <a:off x="274320" y="5504688"/>
            <a:ext cx="45720" cy="786384"/>
          </a:xfrm>
          <a:prstGeom prst="rect">
            <a:avLst/>
          </a:prstGeom>
          <a:solidFill>
            <a:srgbClr val="6B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8" name="TextBox 17457"/>
          <p:cNvSpPr txBox="1"/>
          <p:nvPr/>
        </p:nvSpPr>
        <p:spPr>
          <a:xfrm>
            <a:off x="438912" y="5577840"/>
            <a:ext cx="5486400" cy="182880"/>
          </a:xfrm>
          <a:prstGeom prst="rect">
            <a:avLst/>
          </a:prstGeom>
          <a:noFill/>
        </p:spPr>
        <p:txBody>
          <a:bodyPr wrap="square" anchor="t" lIns="0" rIns="0" tIns="0" bIns="0">
            <a:spAutoFit/>
          </a:bodyPr>
          <a:lstStyle/>
          <a:p>
            <a:pPr algn="l"/>
            <a:r>
              <a:rPr sz="860" b="1">
                <a:solidFill>
                  <a:srgbClr val="1F2933"/>
                </a:solidFill>
                <a:latin typeface="Arial"/>
              </a:rPr>
              <a:t>The tool’s own output is a weapon</a:t>
            </a:r>
          </a:p>
        </p:txBody>
      </p:sp>
      <p:sp>
        <p:nvSpPr>
          <p:cNvPr id="17459" name="TextBox 17458"/>
          <p:cNvSpPr txBox="1"/>
          <p:nvPr/>
        </p:nvSpPr>
        <p:spPr>
          <a:xfrm>
            <a:off x="438912" y="5788151"/>
            <a:ext cx="5468112"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A ranked list of an organisation’s weakest cryptography is an attacker’s shopping list, pre-sorted.</a:t>
            </a:r>
          </a:p>
        </p:txBody>
      </p:sp>
      <p:sp>
        <p:nvSpPr>
          <p:cNvPr id="17460" name="Rounded Rectangle 17459"/>
          <p:cNvSpPr/>
          <p:nvPr/>
        </p:nvSpPr>
        <p:spPr>
          <a:xfrm>
            <a:off x="6172200" y="5504688"/>
            <a:ext cx="5742432" cy="78638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1" name="Rectangle 17460"/>
          <p:cNvSpPr/>
          <p:nvPr/>
        </p:nvSpPr>
        <p:spPr>
          <a:xfrm>
            <a:off x="6172200" y="5504688"/>
            <a:ext cx="45720" cy="78638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2" name="TextBox 17461"/>
          <p:cNvSpPr txBox="1"/>
          <p:nvPr/>
        </p:nvSpPr>
        <p:spPr>
          <a:xfrm>
            <a:off x="6336792" y="5577840"/>
            <a:ext cx="5468112" cy="182880"/>
          </a:xfrm>
          <a:prstGeom prst="rect">
            <a:avLst/>
          </a:prstGeom>
          <a:noFill/>
        </p:spPr>
        <p:txBody>
          <a:bodyPr wrap="square" anchor="t" lIns="0" rIns="0" tIns="0" bIns="0">
            <a:spAutoFit/>
          </a:bodyPr>
          <a:lstStyle/>
          <a:p>
            <a:pPr algn="l"/>
            <a:r>
              <a:rPr sz="860" b="1">
                <a:solidFill>
                  <a:srgbClr val="0E8C86"/>
                </a:solidFill>
                <a:latin typeface="Arial"/>
              </a:rPr>
              <a:t>A security model for the scanner itself</a:t>
            </a:r>
          </a:p>
        </p:txBody>
      </p:sp>
      <p:sp>
        <p:nvSpPr>
          <p:cNvPr id="17463" name="TextBox 17462"/>
          <p:cNvSpPr txBox="1"/>
          <p:nvPr/>
        </p:nvSpPr>
        <p:spPr>
          <a:xfrm>
            <a:off x="6336792" y="5788151"/>
            <a:ext cx="5449824" cy="457200"/>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Read-only connectors (never Decrypt, never Sign) · allowlisted probing, refused not warned · role-gated settings · audit-logged exports.</a:t>
            </a:r>
          </a:p>
        </p:txBody>
      </p:sp>
      <p:sp>
        <p:nvSpPr>
          <p:cNvPr id="17464" name="TextBox 17463"/>
          <p:cNvSpPr txBox="1"/>
          <p:nvPr/>
        </p:nvSpPr>
        <p:spPr>
          <a:xfrm>
            <a:off x="5943600" y="5779007"/>
            <a:ext cx="219456" cy="201168"/>
          </a:xfrm>
          <a:prstGeom prst="rect">
            <a:avLst/>
          </a:prstGeom>
          <a:noFill/>
        </p:spPr>
        <p:txBody>
          <a:bodyPr wrap="square" anchor="t" lIns="0" rIns="0" tIns="0" bIns="0">
            <a:spAutoFit/>
          </a:bodyPr>
          <a:lstStyle/>
          <a:p>
            <a:pPr algn="ctr"/>
            <a:r>
              <a:rPr sz="1100" b="1">
                <a:solidFill>
                  <a:srgbClr val="5A6B7C"/>
                </a:solidFill>
                <a:latin typeface="Arial"/>
              </a:rPr>
              <a:t>→</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274320" y="1060704"/>
            <a:ext cx="5760720" cy="265176"/>
          </a:xfrm>
          <a:prstGeom prst="rect">
            <a:avLst/>
          </a:prstGeom>
          <a:noFill/>
        </p:spPr>
        <p:txBody>
          <a:bodyPr wrap="square" anchor="t" lIns="0" rIns="0" tIns="0" bIns="0">
            <a:spAutoFit/>
          </a:bodyPr>
          <a:lstStyle/>
          <a:p>
            <a:pPr algn="l"/>
            <a:r>
              <a:rPr sz="1100" b="1">
                <a:solidFill>
                  <a:srgbClr val="1F497D"/>
                </a:solidFill>
                <a:latin typeface="Arial"/>
              </a:rPr>
              <a:t>Potential impact on the target audience</a:t>
            </a:r>
          </a:p>
        </p:txBody>
      </p:sp>
      <p:sp>
        <p:nvSpPr>
          <p:cNvPr id="17411" name="Rectangle 17410"/>
          <p:cNvSpPr/>
          <p:nvPr/>
        </p:nvSpPr>
        <p:spPr>
          <a:xfrm>
            <a:off x="274320" y="1316736"/>
            <a:ext cx="5760720"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274320" y="1408176"/>
            <a:ext cx="5760720" cy="60350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Rectangle 17412"/>
          <p:cNvSpPr/>
          <p:nvPr/>
        </p:nvSpPr>
        <p:spPr>
          <a:xfrm>
            <a:off x="274320" y="1408176"/>
            <a:ext cx="45720" cy="60350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438912" y="1472184"/>
            <a:ext cx="5486400" cy="182880"/>
          </a:xfrm>
          <a:prstGeom prst="rect">
            <a:avLst/>
          </a:prstGeom>
          <a:noFill/>
        </p:spPr>
        <p:txBody>
          <a:bodyPr wrap="square" anchor="t" lIns="0" rIns="0" tIns="0" bIns="0">
            <a:spAutoFit/>
          </a:bodyPr>
          <a:lstStyle/>
          <a:p>
            <a:pPr algn="l"/>
            <a:r>
              <a:rPr sz="860" b="1">
                <a:solidFill>
                  <a:srgbClr val="0E8C86"/>
                </a:solidFill>
                <a:latin typeface="Arial"/>
              </a:rPr>
              <a:t>CISO / risk officer</a:t>
            </a:r>
          </a:p>
        </p:txBody>
      </p:sp>
      <p:sp>
        <p:nvSpPr>
          <p:cNvPr id="17415" name="TextBox 17414"/>
          <p:cNvSpPr txBox="1"/>
          <p:nvPr/>
        </p:nvSpPr>
        <p:spPr>
          <a:xfrm>
            <a:off x="438912" y="1673352"/>
            <a:ext cx="5468112" cy="310896"/>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A ranked, defensible board report instead of a spreadsheet guess — and owns the Z dial that drives it.</a:t>
            </a:r>
          </a:p>
        </p:txBody>
      </p:sp>
      <p:sp>
        <p:nvSpPr>
          <p:cNvPr id="17416" name="Rounded Rectangle 17415"/>
          <p:cNvSpPr/>
          <p:nvPr/>
        </p:nvSpPr>
        <p:spPr>
          <a:xfrm>
            <a:off x="274320" y="2057400"/>
            <a:ext cx="5760720" cy="60350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Rectangle 17416"/>
          <p:cNvSpPr/>
          <p:nvPr/>
        </p:nvSpPr>
        <p:spPr>
          <a:xfrm>
            <a:off x="274320" y="2057400"/>
            <a:ext cx="45720" cy="6035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438912" y="2121408"/>
            <a:ext cx="5486400" cy="182880"/>
          </a:xfrm>
          <a:prstGeom prst="rect">
            <a:avLst/>
          </a:prstGeom>
          <a:noFill/>
        </p:spPr>
        <p:txBody>
          <a:bodyPr wrap="square" anchor="t" lIns="0" rIns="0" tIns="0" bIns="0">
            <a:spAutoFit/>
          </a:bodyPr>
          <a:lstStyle/>
          <a:p>
            <a:pPr algn="l"/>
            <a:r>
              <a:rPr sz="860" b="1">
                <a:solidFill>
                  <a:srgbClr val="0070C0"/>
                </a:solidFill>
                <a:latin typeface="Arial"/>
              </a:rPr>
              <a:t>Security / crypto engineer</a:t>
            </a:r>
          </a:p>
        </p:txBody>
      </p:sp>
      <p:sp>
        <p:nvSpPr>
          <p:cNvPr id="17419" name="TextBox 17418"/>
          <p:cNvSpPr txBox="1"/>
          <p:nvPr/>
        </p:nvSpPr>
        <p:spPr>
          <a:xfrm>
            <a:off x="438912" y="2322576"/>
            <a:ext cx="5468112" cy="310896"/>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Algorithm, key size, library version and an exact file:line per finding, each with a confidence band.</a:t>
            </a:r>
          </a:p>
        </p:txBody>
      </p:sp>
      <p:sp>
        <p:nvSpPr>
          <p:cNvPr id="17420" name="Rounded Rectangle 17419"/>
          <p:cNvSpPr/>
          <p:nvPr/>
        </p:nvSpPr>
        <p:spPr>
          <a:xfrm>
            <a:off x="274320" y="2706624"/>
            <a:ext cx="5760720" cy="60350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ectangle 17420"/>
          <p:cNvSpPr/>
          <p:nvPr/>
        </p:nvSpPr>
        <p:spPr>
          <a:xfrm>
            <a:off x="274320" y="2706624"/>
            <a:ext cx="45720" cy="603504"/>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438912" y="2770632"/>
            <a:ext cx="5486400" cy="182880"/>
          </a:xfrm>
          <a:prstGeom prst="rect">
            <a:avLst/>
          </a:prstGeom>
          <a:noFill/>
        </p:spPr>
        <p:txBody>
          <a:bodyPr wrap="square" anchor="t" lIns="0" rIns="0" tIns="0" bIns="0">
            <a:spAutoFit/>
          </a:bodyPr>
          <a:lstStyle/>
          <a:p>
            <a:pPr algn="l"/>
            <a:r>
              <a:rPr sz="860" b="1">
                <a:solidFill>
                  <a:srgbClr val="1F497D"/>
                </a:solidFill>
                <a:latin typeface="Arial"/>
              </a:rPr>
              <a:t>DevOps / platform team</a:t>
            </a:r>
          </a:p>
        </p:txBody>
      </p:sp>
      <p:sp>
        <p:nvSpPr>
          <p:cNvPr id="17423" name="TextBox 17422"/>
          <p:cNvSpPr txBox="1"/>
          <p:nvPr/>
        </p:nvSpPr>
        <p:spPr>
          <a:xfrm>
            <a:off x="438912" y="2971800"/>
            <a:ext cx="5468112" cy="310896"/>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One command or one drag-and-drop. No agent, no cluster, no code leaving the building.</a:t>
            </a:r>
          </a:p>
        </p:txBody>
      </p:sp>
      <p:sp>
        <p:nvSpPr>
          <p:cNvPr id="17424" name="Rounded Rectangle 17423"/>
          <p:cNvSpPr/>
          <p:nvPr/>
        </p:nvSpPr>
        <p:spPr>
          <a:xfrm>
            <a:off x="274320" y="3355848"/>
            <a:ext cx="5760720" cy="603504"/>
          </a:xfrm>
          <a:prstGeom prst="roundRect">
            <a:avLst>
              <a:gd name="adj" fmla="val 6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5" name="Rectangle 17424"/>
          <p:cNvSpPr/>
          <p:nvPr/>
        </p:nvSpPr>
        <p:spPr>
          <a:xfrm>
            <a:off x="274320" y="3355848"/>
            <a:ext cx="45720" cy="603504"/>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TextBox 17425"/>
          <p:cNvSpPr txBox="1"/>
          <p:nvPr/>
        </p:nvSpPr>
        <p:spPr>
          <a:xfrm>
            <a:off x="438912" y="3419856"/>
            <a:ext cx="5486400" cy="182880"/>
          </a:xfrm>
          <a:prstGeom prst="rect">
            <a:avLst/>
          </a:prstGeom>
          <a:noFill/>
        </p:spPr>
        <p:txBody>
          <a:bodyPr wrap="square" anchor="t" lIns="0" rIns="0" tIns="0" bIns="0">
            <a:spAutoFit/>
          </a:bodyPr>
          <a:lstStyle/>
          <a:p>
            <a:pPr algn="l"/>
            <a:r>
              <a:rPr sz="860" b="1">
                <a:solidFill>
                  <a:srgbClr val="1A5C36"/>
                </a:solidFill>
                <a:latin typeface="Arial"/>
              </a:rPr>
              <a:t>Compliance / audit lead</a:t>
            </a:r>
          </a:p>
        </p:txBody>
      </p:sp>
      <p:sp>
        <p:nvSpPr>
          <p:cNvPr id="17427" name="TextBox 17426"/>
          <p:cNvSpPr txBox="1"/>
          <p:nvPr/>
        </p:nvSpPr>
        <p:spPr>
          <a:xfrm>
            <a:off x="438912" y="3621024"/>
            <a:ext cx="5468112" cy="310896"/>
          </a:xfrm>
          <a:prstGeom prst="rect">
            <a:avLst/>
          </a:prstGeom>
          <a:noFill/>
        </p:spPr>
        <p:txBody>
          <a:bodyPr wrap="square" anchor="t" lIns="0" rIns="0" tIns="0" bIns="0">
            <a:spAutoFit/>
          </a:bodyPr>
          <a:lstStyle/>
          <a:p>
            <a:pPr algn="l">
              <a:lnSpc>
                <a:spcPct val="102000"/>
              </a:lnSpc>
            </a:pPr>
            <a:r>
              <a:rPr sz="780" b="0">
                <a:solidFill>
                  <a:srgbClr val="5A6B7C"/>
                </a:solidFill>
                <a:latin typeface="Arial"/>
              </a:rPr>
              <a:t>A standards-conformant CycloneDX 1.7 CBOM is regulatory evidence. A screenshot is not.</a:t>
            </a:r>
          </a:p>
        </p:txBody>
      </p:sp>
      <p:sp>
        <p:nvSpPr>
          <p:cNvPr id="17428" name="Rounded Rectangle 17427"/>
          <p:cNvSpPr/>
          <p:nvPr/>
        </p:nvSpPr>
        <p:spPr>
          <a:xfrm>
            <a:off x="274320" y="4005072"/>
            <a:ext cx="5760720" cy="658368"/>
          </a:xfrm>
          <a:prstGeom prst="roundRect">
            <a:avLst>
              <a:gd name="adj" fmla="val 6000"/>
            </a:avLst>
          </a:prstGeom>
          <a:solidFill>
            <a:srgbClr val="E6F4F3"/>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ectangle 17428"/>
          <p:cNvSpPr/>
          <p:nvPr/>
        </p:nvSpPr>
        <p:spPr>
          <a:xfrm>
            <a:off x="274320" y="4005072"/>
            <a:ext cx="45720" cy="65836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438912" y="4069080"/>
            <a:ext cx="5486400" cy="182880"/>
          </a:xfrm>
          <a:prstGeom prst="rect">
            <a:avLst/>
          </a:prstGeom>
          <a:noFill/>
        </p:spPr>
        <p:txBody>
          <a:bodyPr wrap="square" anchor="t" lIns="0" rIns="0" tIns="0" bIns="0">
            <a:spAutoFit/>
          </a:bodyPr>
          <a:lstStyle/>
          <a:p>
            <a:pPr algn="l"/>
            <a:r>
              <a:rPr sz="860" b="1">
                <a:solidFill>
                  <a:srgbClr val="0E8C86"/>
                </a:solidFill>
                <a:latin typeface="Arial"/>
              </a:rPr>
              <a:t>India, at national scale</a:t>
            </a:r>
          </a:p>
        </p:txBody>
      </p:sp>
      <p:sp>
        <p:nvSpPr>
          <p:cNvPr id="17431" name="TextBox 17430"/>
          <p:cNvSpPr txBox="1"/>
          <p:nvPr/>
        </p:nvSpPr>
        <p:spPr>
          <a:xfrm>
            <a:off x="438912" y="4270248"/>
            <a:ext cx="5468112" cy="365760"/>
          </a:xfrm>
          <a:prstGeom prst="rect">
            <a:avLst/>
          </a:prstGeom>
          <a:noFill/>
        </p:spPr>
        <p:txBody>
          <a:bodyPr wrap="square" anchor="t" lIns="0" rIns="0" tIns="0" bIns="0">
            <a:spAutoFit/>
          </a:bodyPr>
          <a:lstStyle/>
          <a:p>
            <a:pPr algn="l">
              <a:lnSpc>
                <a:spcPct val="102000"/>
              </a:lnSpc>
            </a:pPr>
            <a:r>
              <a:rPr sz="780" b="0">
                <a:solidFill>
                  <a:srgbClr val="1F2933"/>
                </a:solidFill>
                <a:latin typeface="Arial"/>
              </a:rPr>
              <a:t>RBI, SEBI, UIDAI, defence and telecom all hold data whose confidentiality must outlast 2035 — and none of them can migrate what they have never inventoried.</a:t>
            </a:r>
          </a:p>
        </p:txBody>
      </p:sp>
      <p:pic>
        <p:nvPicPr>
          <p:cNvPr id="17432" name="Picture 17431" descr="recs.png"/>
          <p:cNvPicPr>
            <a:picLocks noChangeAspect="1"/>
          </p:cNvPicPr>
          <p:nvPr/>
        </p:nvPicPr>
        <p:blipFill>
          <a:blip r:embed="rId5"/>
          <a:stretch>
            <a:fillRect/>
          </a:stretch>
        </p:blipFill>
        <p:spPr>
          <a:xfrm>
            <a:off x="6172200" y="1408176"/>
            <a:ext cx="5742432" cy="2761588"/>
          </a:xfrm>
          <a:prstGeom prst="rect">
            <a:avLst/>
          </a:prstGeom>
        </p:spPr>
      </p:pic>
      <p:sp>
        <p:nvSpPr>
          <p:cNvPr id="17433" name="Rectangle 17432"/>
          <p:cNvSpPr/>
          <p:nvPr/>
        </p:nvSpPr>
        <p:spPr>
          <a:xfrm>
            <a:off x="6172200" y="1408176"/>
            <a:ext cx="5742432" cy="2761588"/>
          </a:xfrm>
          <a:prstGeom prst="rect">
            <a:avLst/>
          </a:prstGeom>
          <a:no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6172200" y="4206240"/>
            <a:ext cx="5742432" cy="219456"/>
          </a:xfrm>
          <a:prstGeom prst="rect">
            <a:avLst/>
          </a:prstGeom>
          <a:noFill/>
        </p:spPr>
        <p:txBody>
          <a:bodyPr wrap="square" anchor="t" lIns="0" rIns="0" tIns="0" bIns="0">
            <a:spAutoFit/>
          </a:bodyPr>
          <a:lstStyle/>
          <a:p>
            <a:pPr algn="ctr">
              <a:lnSpc>
                <a:spcPct val="95000"/>
              </a:lnSpc>
            </a:pPr>
            <a:r>
              <a:rPr sz="750" b="0">
                <a:solidFill>
                  <a:srgbClr val="5A6B7C"/>
                </a:solidFill>
                <a:latin typeface="Arial"/>
              </a:rPr>
              <a:t>Recommendations — every broken asset gets a named NIST replacement, ranked by risk, latency and rotation cost.</a:t>
            </a:r>
          </a:p>
        </p:txBody>
      </p:sp>
      <p:sp>
        <p:nvSpPr>
          <p:cNvPr id="17435" name="Rounded Rectangle 17434"/>
          <p:cNvSpPr/>
          <p:nvPr/>
        </p:nvSpPr>
        <p:spPr>
          <a:xfrm>
            <a:off x="6172200" y="4443984"/>
            <a:ext cx="5742432" cy="475488"/>
          </a:xfrm>
          <a:prstGeom prst="roundRect">
            <a:avLst>
              <a:gd name="adj" fmla="val 6000"/>
            </a:avLst>
          </a:prstGeom>
          <a:solidFill>
            <a:srgbClr val="E6F4F3"/>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6" name="Rectangle 17435"/>
          <p:cNvSpPr/>
          <p:nvPr/>
        </p:nvSpPr>
        <p:spPr>
          <a:xfrm>
            <a:off x="6172200" y="4443984"/>
            <a:ext cx="45720" cy="4754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6345936" y="4526280"/>
            <a:ext cx="5449824" cy="329184"/>
          </a:xfrm>
          <a:prstGeom prst="rect">
            <a:avLst/>
          </a:prstGeom>
          <a:noFill/>
        </p:spPr>
        <p:txBody>
          <a:bodyPr wrap="square" anchor="t" lIns="0" rIns="0" tIns="0" bIns="0">
            <a:spAutoFit/>
          </a:bodyPr>
          <a:lstStyle/>
          <a:p>
            <a:pPr algn="l">
              <a:lnSpc>
                <a:spcPct val="102000"/>
              </a:lnSpc>
            </a:pPr>
            <a:r>
              <a:rPr sz="819" b="0">
                <a:solidFill>
                  <a:srgbClr val="1F2933"/>
                </a:solidFill>
                <a:latin typeface="Arial"/>
              </a:rPr>
              <a:t>In plain English: it does not just say “this lock is weak”. It says replace this exact lock, with this exact model, before this date.</a:t>
            </a:r>
          </a:p>
        </p:txBody>
      </p:sp>
      <p:sp>
        <p:nvSpPr>
          <p:cNvPr id="17438" name="TextBox 17437"/>
          <p:cNvSpPr txBox="1"/>
          <p:nvPr/>
        </p:nvSpPr>
        <p:spPr>
          <a:xfrm>
            <a:off x="274320" y="5047488"/>
            <a:ext cx="11640312" cy="265176"/>
          </a:xfrm>
          <a:prstGeom prst="rect">
            <a:avLst/>
          </a:prstGeom>
          <a:noFill/>
        </p:spPr>
        <p:txBody>
          <a:bodyPr wrap="square" anchor="t" lIns="0" rIns="0" tIns="0" bIns="0">
            <a:spAutoFit/>
          </a:bodyPr>
          <a:lstStyle/>
          <a:p>
            <a:pPr algn="l"/>
            <a:r>
              <a:rPr sz="1100" b="1">
                <a:solidFill>
                  <a:srgbClr val="1F497D"/>
                </a:solidFill>
                <a:latin typeface="Arial"/>
              </a:rPr>
              <a:t>Benefits of the solution (social, economic, environmental, etc.)</a:t>
            </a:r>
          </a:p>
        </p:txBody>
      </p:sp>
      <p:sp>
        <p:nvSpPr>
          <p:cNvPr id="17439" name="Rectangle 17438"/>
          <p:cNvSpPr/>
          <p:nvPr/>
        </p:nvSpPr>
        <p:spPr>
          <a:xfrm>
            <a:off x="274320" y="5303520"/>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Rounded Rectangle 17439"/>
          <p:cNvSpPr/>
          <p:nvPr/>
        </p:nvSpPr>
        <p:spPr>
          <a:xfrm>
            <a:off x="274320" y="5394960"/>
            <a:ext cx="2862072" cy="85039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1" name="Rectangle 17440"/>
          <p:cNvSpPr/>
          <p:nvPr/>
        </p:nvSpPr>
        <p:spPr>
          <a:xfrm>
            <a:off x="274320" y="5394960"/>
            <a:ext cx="2862072" cy="19202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274320" y="5417820"/>
            <a:ext cx="2862072" cy="173736"/>
          </a:xfrm>
          <a:prstGeom prst="rect">
            <a:avLst/>
          </a:prstGeom>
          <a:noFill/>
        </p:spPr>
        <p:txBody>
          <a:bodyPr wrap="square" anchor="t" lIns="0" rIns="0" tIns="0" bIns="0">
            <a:spAutoFit/>
          </a:bodyPr>
          <a:lstStyle/>
          <a:p>
            <a:pPr algn="ctr"/>
            <a:r>
              <a:rPr sz="819" b="1">
                <a:solidFill>
                  <a:srgbClr val="FFFFFF"/>
                </a:solidFill>
                <a:latin typeface="Arial"/>
              </a:rPr>
              <a:t>SOCIAL</a:t>
            </a:r>
          </a:p>
        </p:txBody>
      </p:sp>
      <p:sp>
        <p:nvSpPr>
          <p:cNvPr id="17443" name="TextBox 17442"/>
          <p:cNvSpPr txBox="1"/>
          <p:nvPr/>
        </p:nvSpPr>
        <p:spPr>
          <a:xfrm>
            <a:off x="393192" y="5660136"/>
            <a:ext cx="2624328" cy="548640"/>
          </a:xfrm>
          <a:prstGeom prst="rect">
            <a:avLst/>
          </a:prstGeom>
          <a:noFill/>
        </p:spPr>
        <p:txBody>
          <a:bodyPr wrap="square" anchor="t" lIns="0" rIns="0" tIns="0" bIns="0">
            <a:spAutoFit/>
          </a:bodyPr>
          <a:lstStyle/>
          <a:p>
            <a:pPr algn="ctr">
              <a:lnSpc>
                <a:spcPct val="102000"/>
              </a:lnSpc>
            </a:pPr>
            <a:r>
              <a:rPr sz="780" b="0">
                <a:solidFill>
                  <a:srgbClr val="5A6B7C"/>
                </a:solidFill>
                <a:latin typeface="Arial"/>
              </a:rPr>
              <a:t>Citizen data recorded today — Aadhaar-linked, health, financial — stays private after Q-Day.</a:t>
            </a:r>
          </a:p>
        </p:txBody>
      </p:sp>
      <p:sp>
        <p:nvSpPr>
          <p:cNvPr id="17444" name="Rounded Rectangle 17443"/>
          <p:cNvSpPr/>
          <p:nvPr/>
        </p:nvSpPr>
        <p:spPr>
          <a:xfrm>
            <a:off x="3209544" y="5394960"/>
            <a:ext cx="2862072" cy="85039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5" name="Rectangle 17444"/>
          <p:cNvSpPr/>
          <p:nvPr/>
        </p:nvSpPr>
        <p:spPr>
          <a:xfrm>
            <a:off x="3209544" y="5394960"/>
            <a:ext cx="2862072" cy="19202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6" name="TextBox 17445"/>
          <p:cNvSpPr txBox="1"/>
          <p:nvPr/>
        </p:nvSpPr>
        <p:spPr>
          <a:xfrm>
            <a:off x="3209544" y="5417820"/>
            <a:ext cx="2862072" cy="173736"/>
          </a:xfrm>
          <a:prstGeom prst="rect">
            <a:avLst/>
          </a:prstGeom>
          <a:noFill/>
        </p:spPr>
        <p:txBody>
          <a:bodyPr wrap="square" anchor="t" lIns="0" rIns="0" tIns="0" bIns="0">
            <a:spAutoFit/>
          </a:bodyPr>
          <a:lstStyle/>
          <a:p>
            <a:pPr algn="ctr"/>
            <a:r>
              <a:rPr sz="819" b="1">
                <a:solidFill>
                  <a:srgbClr val="FFFFFF"/>
                </a:solidFill>
                <a:latin typeface="Arial"/>
              </a:rPr>
              <a:t>ECONOMIC</a:t>
            </a:r>
          </a:p>
        </p:txBody>
      </p:sp>
      <p:sp>
        <p:nvSpPr>
          <p:cNvPr id="17447" name="TextBox 17446"/>
          <p:cNvSpPr txBox="1"/>
          <p:nvPr/>
        </p:nvSpPr>
        <p:spPr>
          <a:xfrm>
            <a:off x="3328415" y="5660136"/>
            <a:ext cx="2624328" cy="548640"/>
          </a:xfrm>
          <a:prstGeom prst="rect">
            <a:avLst/>
          </a:prstGeom>
          <a:noFill/>
        </p:spPr>
        <p:txBody>
          <a:bodyPr wrap="square" anchor="t" lIns="0" rIns="0" tIns="0" bIns="0">
            <a:spAutoFit/>
          </a:bodyPr>
          <a:lstStyle/>
          <a:p>
            <a:pPr algn="ctr">
              <a:lnSpc>
                <a:spcPct val="102000"/>
              </a:lnSpc>
            </a:pPr>
            <a:r>
              <a:rPr sz="780" b="0">
                <a:solidFill>
                  <a:srgbClr val="5A6B7C"/>
                </a:solidFill>
                <a:latin typeface="Arial"/>
              </a:rPr>
              <a:t>Budget goes to the assets that matter instead of a blanket rewrite. Weeks of consultancy become one command.</a:t>
            </a:r>
          </a:p>
        </p:txBody>
      </p:sp>
      <p:sp>
        <p:nvSpPr>
          <p:cNvPr id="17448" name="Rounded Rectangle 17447"/>
          <p:cNvSpPr/>
          <p:nvPr/>
        </p:nvSpPr>
        <p:spPr>
          <a:xfrm>
            <a:off x="6144768" y="5394960"/>
            <a:ext cx="2862072" cy="85039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9" name="Rectangle 17448"/>
          <p:cNvSpPr/>
          <p:nvPr/>
        </p:nvSpPr>
        <p:spPr>
          <a:xfrm>
            <a:off x="6144768" y="5394960"/>
            <a:ext cx="2862072" cy="192024"/>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TextBox 17449"/>
          <p:cNvSpPr txBox="1"/>
          <p:nvPr/>
        </p:nvSpPr>
        <p:spPr>
          <a:xfrm>
            <a:off x="6144768" y="5417820"/>
            <a:ext cx="2862072" cy="173736"/>
          </a:xfrm>
          <a:prstGeom prst="rect">
            <a:avLst/>
          </a:prstGeom>
          <a:noFill/>
        </p:spPr>
        <p:txBody>
          <a:bodyPr wrap="square" anchor="t" lIns="0" rIns="0" tIns="0" bIns="0">
            <a:spAutoFit/>
          </a:bodyPr>
          <a:lstStyle/>
          <a:p>
            <a:pPr algn="ctr"/>
            <a:r>
              <a:rPr sz="819" b="1">
                <a:solidFill>
                  <a:srgbClr val="FFFFFF"/>
                </a:solidFill>
                <a:latin typeface="Arial"/>
              </a:rPr>
              <a:t>STRATEGIC</a:t>
            </a:r>
          </a:p>
        </p:txBody>
      </p:sp>
      <p:sp>
        <p:nvSpPr>
          <p:cNvPr id="17451" name="TextBox 17450"/>
          <p:cNvSpPr txBox="1"/>
          <p:nvPr/>
        </p:nvSpPr>
        <p:spPr>
          <a:xfrm>
            <a:off x="6263640" y="5660136"/>
            <a:ext cx="2624328" cy="548640"/>
          </a:xfrm>
          <a:prstGeom prst="rect">
            <a:avLst/>
          </a:prstGeom>
          <a:noFill/>
        </p:spPr>
        <p:txBody>
          <a:bodyPr wrap="square" anchor="t" lIns="0" rIns="0" tIns="0" bIns="0">
            <a:spAutoFit/>
          </a:bodyPr>
          <a:lstStyle/>
          <a:p>
            <a:pPr algn="ctr">
              <a:lnSpc>
                <a:spcPct val="102000"/>
              </a:lnSpc>
            </a:pPr>
            <a:r>
              <a:rPr sz="780" b="0">
                <a:solidFill>
                  <a:srgbClr val="5A6B7C"/>
                </a:solidFill>
                <a:latin typeface="Arial"/>
              </a:rPr>
              <a:t>Open and self-hosted. No Indian organisation hands a map of its weak points to a foreign SaaS vendor.</a:t>
            </a:r>
          </a:p>
        </p:txBody>
      </p:sp>
      <p:sp>
        <p:nvSpPr>
          <p:cNvPr id="17452" name="Rounded Rectangle 17451"/>
          <p:cNvSpPr/>
          <p:nvPr/>
        </p:nvSpPr>
        <p:spPr>
          <a:xfrm>
            <a:off x="9079992" y="5394960"/>
            <a:ext cx="2862072" cy="850392"/>
          </a:xfrm>
          <a:prstGeom prst="roundRect">
            <a:avLst>
              <a:gd name="adj" fmla="val 8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3" name="Rectangle 17452"/>
          <p:cNvSpPr/>
          <p:nvPr/>
        </p:nvSpPr>
        <p:spPr>
          <a:xfrm>
            <a:off x="9079992" y="5394960"/>
            <a:ext cx="2862072" cy="192024"/>
          </a:xfrm>
          <a:prstGeom prst="rect">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TextBox 17453"/>
          <p:cNvSpPr txBox="1"/>
          <p:nvPr/>
        </p:nvSpPr>
        <p:spPr>
          <a:xfrm>
            <a:off x="9079992" y="5417820"/>
            <a:ext cx="2862072" cy="173736"/>
          </a:xfrm>
          <a:prstGeom prst="rect">
            <a:avLst/>
          </a:prstGeom>
          <a:noFill/>
        </p:spPr>
        <p:txBody>
          <a:bodyPr wrap="square" anchor="t" lIns="0" rIns="0" tIns="0" bIns="0">
            <a:spAutoFit/>
          </a:bodyPr>
          <a:lstStyle/>
          <a:p>
            <a:pPr algn="ctr"/>
            <a:r>
              <a:rPr sz="819" b="1">
                <a:solidFill>
                  <a:srgbClr val="FFFFFF"/>
                </a:solidFill>
                <a:latin typeface="Arial"/>
              </a:rPr>
              <a:t>ENVIRONMENTAL</a:t>
            </a:r>
          </a:p>
        </p:txBody>
      </p:sp>
      <p:sp>
        <p:nvSpPr>
          <p:cNvPr id="17455" name="TextBox 17454"/>
          <p:cNvSpPr txBox="1"/>
          <p:nvPr/>
        </p:nvSpPr>
        <p:spPr>
          <a:xfrm>
            <a:off x="9198864" y="5660136"/>
            <a:ext cx="2624328" cy="548640"/>
          </a:xfrm>
          <a:prstGeom prst="rect">
            <a:avLst/>
          </a:prstGeom>
          <a:noFill/>
        </p:spPr>
        <p:txBody>
          <a:bodyPr wrap="square" anchor="t" lIns="0" rIns="0" tIns="0" bIns="0">
            <a:spAutoFit/>
          </a:bodyPr>
          <a:lstStyle/>
          <a:p>
            <a:pPr algn="ctr">
              <a:lnSpc>
                <a:spcPct val="102000"/>
              </a:lnSpc>
            </a:pPr>
            <a:r>
              <a:rPr sz="780" b="0">
                <a:solidFill>
                  <a:srgbClr val="5A6B7C"/>
                </a:solidFill>
                <a:latin typeface="Arial"/>
              </a:rPr>
              <a:t>Static analysis on a laptop. No GPU, no always-on agent, no cluster.</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274320" y="1060704"/>
            <a:ext cx="11640312" cy="265176"/>
          </a:xfrm>
          <a:prstGeom prst="rect">
            <a:avLst/>
          </a:prstGeom>
          <a:noFill/>
        </p:spPr>
        <p:txBody>
          <a:bodyPr wrap="square" anchor="t" lIns="0" rIns="0" tIns="0" bIns="0">
            <a:spAutoFit/>
          </a:bodyPr>
          <a:lstStyle/>
          <a:p>
            <a:pPr algn="l"/>
            <a:r>
              <a:rPr sz="1100" b="1">
                <a:solidFill>
                  <a:srgbClr val="1F497D"/>
                </a:solidFill>
                <a:latin typeface="Arial"/>
              </a:rPr>
              <a:t>Details / Links of the reference and research work</a:t>
            </a:r>
          </a:p>
        </p:txBody>
      </p:sp>
      <p:sp>
        <p:nvSpPr>
          <p:cNvPr id="17411" name="Rectangle 17410"/>
          <p:cNvSpPr/>
          <p:nvPr/>
        </p:nvSpPr>
        <p:spPr>
          <a:xfrm>
            <a:off x="274320" y="1316736"/>
            <a:ext cx="11640312" cy="1828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274320" y="1408176"/>
            <a:ext cx="3776472" cy="2395728"/>
          </a:xfrm>
          <a:prstGeom prst="roundRect">
            <a:avLst>
              <a:gd name="adj" fmla="val 5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Rounded Rectangle 17412"/>
          <p:cNvSpPr/>
          <p:nvPr/>
        </p:nvSpPr>
        <p:spPr>
          <a:xfrm>
            <a:off x="274320" y="1408176"/>
            <a:ext cx="3776472" cy="274320"/>
          </a:xfrm>
          <a:prstGeom prst="roundRect">
            <a:avLst>
              <a:gd name="adj" fmla="val 40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919" b="1">
                <a:solidFill>
                  <a:srgbClr val="FFFFFF"/>
                </a:solidFill>
                <a:latin typeface="Arial"/>
              </a:rPr>
              <a:t>Standards we implement</a:t>
            </a:r>
          </a:p>
        </p:txBody>
      </p:sp>
      <p:sp>
        <p:nvSpPr>
          <p:cNvPr id="17414" name="TextBox 17413"/>
          <p:cNvSpPr txBox="1"/>
          <p:nvPr/>
        </p:nvSpPr>
        <p:spPr>
          <a:xfrm>
            <a:off x="429768" y="1773936"/>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NIST IR 8547 (ipd)</a:t>
            </a:r>
          </a:p>
        </p:txBody>
      </p:sp>
      <p:sp>
        <p:nvSpPr>
          <p:cNvPr id="17415" name="TextBox 17414"/>
          <p:cNvSpPr txBox="1"/>
          <p:nvPr/>
        </p:nvSpPr>
        <p:spPr>
          <a:xfrm>
            <a:off x="429768" y="1965960"/>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RSA and ECC deprecated after 2030, disallowed after 2035 — the second, certain clock we score alongside Q-Day.</a:t>
            </a:r>
          </a:p>
        </p:txBody>
      </p:sp>
      <p:sp>
        <p:nvSpPr>
          <p:cNvPr id="17416" name="TextBox 17415"/>
          <p:cNvSpPr txBox="1"/>
          <p:nvPr/>
        </p:nvSpPr>
        <p:spPr>
          <a:xfrm>
            <a:off x="429768" y="2450591"/>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FIPS 203 / 204 / 205 / 206 (ipd)</a:t>
            </a:r>
          </a:p>
        </p:txBody>
      </p:sp>
      <p:sp>
        <p:nvSpPr>
          <p:cNvPr id="17417" name="TextBox 17416"/>
          <p:cNvSpPr txBox="1"/>
          <p:nvPr/>
        </p:nvSpPr>
        <p:spPr>
          <a:xfrm>
            <a:off x="429768" y="2642615"/>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ML-KEM, ML-DSA, SLH-DSA, FN-DSA — the replacements we name per asset. FIPS 206 carries a maturity badge, never a default.</a:t>
            </a:r>
          </a:p>
        </p:txBody>
      </p:sp>
      <p:sp>
        <p:nvSpPr>
          <p:cNvPr id="17418" name="TextBox 17417"/>
          <p:cNvSpPr txBox="1"/>
          <p:nvPr/>
        </p:nvSpPr>
        <p:spPr>
          <a:xfrm>
            <a:off x="429768" y="3127248"/>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NIST SP 800-208  ·  NSA CNSA 2.0</a:t>
            </a:r>
          </a:p>
        </p:txBody>
      </p:sp>
      <p:sp>
        <p:nvSpPr>
          <p:cNvPr id="17419" name="TextBox 17418"/>
          <p:cNvSpPr txBox="1"/>
          <p:nvPr/>
        </p:nvSpPr>
        <p:spPr>
          <a:xfrm>
            <a:off x="429768" y="3319272"/>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LMS / XMSS for firmware signing; CNSA is the source of our AES-256 and SHA-384 flags, raised as policy, never as a break.</a:t>
            </a:r>
          </a:p>
        </p:txBody>
      </p:sp>
      <p:sp>
        <p:nvSpPr>
          <p:cNvPr id="17420" name="Rounded Rectangle 17419"/>
          <p:cNvSpPr/>
          <p:nvPr/>
        </p:nvSpPr>
        <p:spPr>
          <a:xfrm>
            <a:off x="4187952" y="1408176"/>
            <a:ext cx="3776472" cy="2395728"/>
          </a:xfrm>
          <a:prstGeom prst="roundRect">
            <a:avLst>
              <a:gd name="adj" fmla="val 5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ounded Rectangle 17420"/>
          <p:cNvSpPr/>
          <p:nvPr/>
        </p:nvSpPr>
        <p:spPr>
          <a:xfrm>
            <a:off x="4187952" y="1408176"/>
            <a:ext cx="3776472" cy="274320"/>
          </a:xfrm>
          <a:prstGeom prst="roundRect">
            <a:avLst>
              <a:gd name="adj" fmla="val 4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919" b="1">
                <a:solidFill>
                  <a:srgbClr val="FFFFFF"/>
                </a:solidFill>
                <a:latin typeface="Arial"/>
              </a:rPr>
              <a:t>Formats and prior art</a:t>
            </a:r>
          </a:p>
        </p:txBody>
      </p:sp>
      <p:sp>
        <p:nvSpPr>
          <p:cNvPr id="17422" name="TextBox 17421"/>
          <p:cNvSpPr txBox="1"/>
          <p:nvPr/>
        </p:nvSpPr>
        <p:spPr>
          <a:xfrm>
            <a:off x="4343400" y="1773936"/>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CycloneDX 1.7, ratified ECMA-424 2nd Ed. (Dec 2025)</a:t>
            </a:r>
          </a:p>
        </p:txBody>
      </p:sp>
      <p:sp>
        <p:nvSpPr>
          <p:cNvPr id="17423" name="TextBox 17422"/>
          <p:cNvSpPr txBox="1"/>
          <p:nvPr/>
        </p:nvSpPr>
        <p:spPr>
          <a:xfrm>
            <a:off x="4343400" y="1965960"/>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cyclonedx.org/capabilities/cbom  ·  our CBOM output format, validated on every single scan.</a:t>
            </a:r>
          </a:p>
        </p:txBody>
      </p:sp>
      <p:sp>
        <p:nvSpPr>
          <p:cNvPr id="17424" name="TextBox 17423"/>
          <p:cNvSpPr txBox="1"/>
          <p:nvPr/>
        </p:nvSpPr>
        <p:spPr>
          <a:xfrm>
            <a:off x="4343400" y="2450591"/>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CycloneDX Cryptography Registry</a:t>
            </a:r>
          </a:p>
        </p:txBody>
      </p:sp>
      <p:sp>
        <p:nvSpPr>
          <p:cNvPr id="17425" name="TextBox 17424"/>
          <p:cNvSpPr txBox="1"/>
          <p:nvPr/>
        </p:nvSpPr>
        <p:spPr>
          <a:xfrm>
            <a:off x="4343400" y="2642615"/>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Algorithm-name normalisation, so our output is directly comparable with other vendors’ CBOMs instead of using private names.</a:t>
            </a:r>
          </a:p>
        </p:txBody>
      </p:sp>
      <p:sp>
        <p:nvSpPr>
          <p:cNvPr id="17426" name="TextBox 17425"/>
          <p:cNvSpPr txBox="1"/>
          <p:nvPr/>
        </p:nvSpPr>
        <p:spPr>
          <a:xfrm>
            <a:off x="4343400" y="3127248"/>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IBM CBOM  ·  github.com/IBM/CBOM</a:t>
            </a:r>
          </a:p>
        </p:txBody>
      </p:sp>
      <p:sp>
        <p:nvSpPr>
          <p:cNvPr id="17427" name="TextBox 17426"/>
          <p:cNvSpPr txBox="1"/>
          <p:nvPr/>
        </p:nvSpPr>
        <p:spPr>
          <a:xfrm>
            <a:off x="4343400" y="3319272"/>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The closest prior art to this problem statement, and the baseline we measured our own output shape against.</a:t>
            </a:r>
          </a:p>
        </p:txBody>
      </p:sp>
      <p:sp>
        <p:nvSpPr>
          <p:cNvPr id="17428" name="Rounded Rectangle 17427"/>
          <p:cNvSpPr/>
          <p:nvPr/>
        </p:nvSpPr>
        <p:spPr>
          <a:xfrm>
            <a:off x="8101583" y="1408176"/>
            <a:ext cx="3776472" cy="2395728"/>
          </a:xfrm>
          <a:prstGeom prst="roundRect">
            <a:avLst>
              <a:gd name="adj" fmla="val 5000"/>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ounded Rectangle 17428"/>
          <p:cNvSpPr/>
          <p:nvPr/>
        </p:nvSpPr>
        <p:spPr>
          <a:xfrm>
            <a:off x="8101583" y="1408176"/>
            <a:ext cx="3776472" cy="274320"/>
          </a:xfrm>
          <a:prstGeom prst="roundRect">
            <a:avLst>
              <a:gd name="adj" fmla="val 40000"/>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sz="919" b="1">
                <a:solidFill>
                  <a:srgbClr val="FFFFFF"/>
                </a:solidFill>
                <a:latin typeface="Arial"/>
              </a:rPr>
              <a:t>Method and theory</a:t>
            </a:r>
          </a:p>
        </p:txBody>
      </p:sp>
      <p:sp>
        <p:nvSpPr>
          <p:cNvPr id="17430" name="TextBox 17429"/>
          <p:cNvSpPr txBox="1"/>
          <p:nvPr/>
        </p:nvSpPr>
        <p:spPr>
          <a:xfrm>
            <a:off x="8257031" y="1773936"/>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M. Mosca — will we be ready?</a:t>
            </a:r>
          </a:p>
        </p:txBody>
      </p:sp>
      <p:sp>
        <p:nvSpPr>
          <p:cNvPr id="17431" name="TextBox 17430"/>
          <p:cNvSpPr txBox="1"/>
          <p:nvPr/>
        </p:nvSpPr>
        <p:spPr>
          <a:xfrm>
            <a:off x="8257031" y="1965960"/>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The X + Y &gt; Z inequality is the backbone of our priority score.</a:t>
            </a:r>
          </a:p>
        </p:txBody>
      </p:sp>
      <p:sp>
        <p:nvSpPr>
          <p:cNvPr id="17432" name="TextBox 17431"/>
          <p:cNvSpPr txBox="1"/>
          <p:nvPr/>
        </p:nvSpPr>
        <p:spPr>
          <a:xfrm>
            <a:off x="8257031" y="2450591"/>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P. Shor (1994)</a:t>
            </a:r>
          </a:p>
        </p:txBody>
      </p:sp>
      <p:sp>
        <p:nvSpPr>
          <p:cNvPr id="17433" name="TextBox 17432"/>
          <p:cNvSpPr txBox="1"/>
          <p:nvPr/>
        </p:nvSpPr>
        <p:spPr>
          <a:xfrm>
            <a:off x="8257031" y="2642615"/>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Why RSA, DSA, DH, ECDSA and ECDH break outright rather than merely weaken: there is no key-size fix, the mathematics is gone.</a:t>
            </a:r>
          </a:p>
        </p:txBody>
      </p:sp>
      <p:sp>
        <p:nvSpPr>
          <p:cNvPr id="17434" name="TextBox 17433"/>
          <p:cNvSpPr txBox="1"/>
          <p:nvPr/>
        </p:nvSpPr>
        <p:spPr>
          <a:xfrm>
            <a:off x="8257031" y="3127248"/>
            <a:ext cx="3502152" cy="182880"/>
          </a:xfrm>
          <a:prstGeom prst="rect">
            <a:avLst/>
          </a:prstGeom>
          <a:noFill/>
        </p:spPr>
        <p:txBody>
          <a:bodyPr wrap="square" anchor="t" lIns="0" rIns="0" tIns="0" bIns="0">
            <a:spAutoFit/>
          </a:bodyPr>
          <a:lstStyle/>
          <a:p>
            <a:pPr algn="l">
              <a:lnSpc>
                <a:spcPct val="100000"/>
              </a:lnSpc>
            </a:pPr>
            <a:r>
              <a:rPr sz="819" b="1">
                <a:solidFill>
                  <a:srgbClr val="1F2933"/>
                </a:solidFill>
                <a:latin typeface="Arial"/>
              </a:rPr>
              <a:t>L. Grover (1996)  ·  Brassard–Høyer–Tapp</a:t>
            </a:r>
          </a:p>
        </p:txBody>
      </p:sp>
      <p:sp>
        <p:nvSpPr>
          <p:cNvPr id="17435" name="TextBox 17434"/>
          <p:cNvSpPr txBox="1"/>
          <p:nvPr/>
        </p:nvSpPr>
        <p:spPr>
          <a:xfrm>
            <a:off x="8257031" y="3319272"/>
            <a:ext cx="3483864" cy="457200"/>
          </a:xfrm>
          <a:prstGeom prst="rect">
            <a:avLst/>
          </a:prstGeom>
          <a:noFill/>
        </p:spPr>
        <p:txBody>
          <a:bodyPr wrap="square" anchor="t" lIns="0" rIns="0" tIns="0" bIns="0">
            <a:spAutoFit/>
          </a:bodyPr>
          <a:lstStyle/>
          <a:p>
            <a:pPr algn="l">
              <a:lnSpc>
                <a:spcPct val="102000"/>
              </a:lnSpc>
            </a:pPr>
            <a:r>
              <a:rPr sz="750" b="0">
                <a:solidFill>
                  <a:srgbClr val="5A6B7C"/>
                </a:solidFill>
                <a:latin typeface="Arial"/>
              </a:rPr>
              <a:t>And why they matter far less than the headlines claim. This reading is why we classify AES-128 and SHA-256 as adequate.</a:t>
            </a:r>
          </a:p>
        </p:txBody>
      </p:sp>
      <p:sp>
        <p:nvSpPr>
          <p:cNvPr id="17436" name="Rounded Rectangle 17435"/>
          <p:cNvSpPr/>
          <p:nvPr/>
        </p:nvSpPr>
        <p:spPr>
          <a:xfrm>
            <a:off x="274320" y="3931920"/>
            <a:ext cx="11640312" cy="2084831"/>
          </a:xfrm>
          <a:prstGeom prst="roundRect">
            <a:avLst>
              <a:gd name="adj" fmla="val 5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7" name="Rounded Rectangle 17436"/>
          <p:cNvSpPr/>
          <p:nvPr/>
        </p:nvSpPr>
        <p:spPr>
          <a:xfrm>
            <a:off x="274320" y="3931920"/>
            <a:ext cx="11640312" cy="274320"/>
          </a:xfrm>
          <a:prstGeom prst="roundRect">
            <a:avLst>
              <a:gd name="adj" fmla="val 40000"/>
            </a:avLst>
          </a:prstGeom>
          <a:solidFill>
            <a:srgbClr val="1A5C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919" b="1">
                <a:solidFill>
                  <a:srgbClr val="FFFFFF"/>
                </a:solidFill>
                <a:latin typeface="Arial"/>
              </a:rPr>
              <a:t>Our own research — not just citations</a:t>
            </a:r>
          </a:p>
        </p:txBody>
      </p:sp>
      <p:sp>
        <p:nvSpPr>
          <p:cNvPr id="17438" name="TextBox 17437"/>
          <p:cNvSpPr txBox="1"/>
          <p:nvPr/>
        </p:nvSpPr>
        <p:spPr>
          <a:xfrm>
            <a:off x="420624" y="4297680"/>
            <a:ext cx="3703320" cy="182880"/>
          </a:xfrm>
          <a:prstGeom prst="rect">
            <a:avLst/>
          </a:prstGeom>
          <a:noFill/>
        </p:spPr>
        <p:txBody>
          <a:bodyPr wrap="square" anchor="t" lIns="0" rIns="0" tIns="0" bIns="0">
            <a:spAutoFit/>
          </a:bodyPr>
          <a:lstStyle/>
          <a:p>
            <a:pPr algn="l"/>
            <a:r>
              <a:rPr sz="819" b="1">
                <a:solidFill>
                  <a:srgbClr val="1A5C36"/>
                </a:solidFill>
                <a:latin typeface="Arial"/>
              </a:rPr>
              <a:t>corpus/ — a labelled ground truth we built</a:t>
            </a:r>
          </a:p>
        </p:txBody>
      </p:sp>
      <p:sp>
        <p:nvSpPr>
          <p:cNvPr id="17439" name="TextBox 17438"/>
          <p:cNvSpPr txBox="1"/>
          <p:nvPr/>
        </p:nvSpPr>
        <p:spPr>
          <a:xfrm>
            <a:off x="420624" y="4498848"/>
            <a:ext cx="3703320" cy="731520"/>
          </a:xfrm>
          <a:prstGeom prst="rect">
            <a:avLst/>
          </a:prstGeom>
          <a:noFill/>
        </p:spPr>
        <p:txBody>
          <a:bodyPr wrap="square" anchor="t" lIns="0" rIns="0" tIns="0" bIns="0">
            <a:spAutoFit/>
          </a:bodyPr>
          <a:lstStyle/>
          <a:p>
            <a:pPr algn="l">
              <a:lnSpc>
                <a:spcPct val="104000"/>
              </a:lnSpc>
            </a:pPr>
            <a:r>
              <a:rPr sz="750" b="0">
                <a:solidFill>
                  <a:srgbClr val="5A6B7C"/>
                </a:solidFill>
                <a:latin typeface="Arial"/>
              </a:rPr>
              <a:t>91 cryptographic usages hand-labelled from source across 7 languages, plus 7 negative controls that discuss cryptography while performing none. Building it surfaced 7 real bugs in our own scanner.</a:t>
            </a:r>
          </a:p>
        </p:txBody>
      </p:sp>
      <p:sp>
        <p:nvSpPr>
          <p:cNvPr id="17440" name="TextBox 17439"/>
          <p:cNvSpPr txBox="1"/>
          <p:nvPr/>
        </p:nvSpPr>
        <p:spPr>
          <a:xfrm>
            <a:off x="4288536" y="4297680"/>
            <a:ext cx="3703320" cy="182880"/>
          </a:xfrm>
          <a:prstGeom prst="rect">
            <a:avLst/>
          </a:prstGeom>
          <a:noFill/>
        </p:spPr>
        <p:txBody>
          <a:bodyPr wrap="square" anchor="t" lIns="0" rIns="0" tIns="0" bIns="0">
            <a:spAutoFit/>
          </a:bodyPr>
          <a:lstStyle/>
          <a:p>
            <a:pPr algn="l"/>
            <a:r>
              <a:rPr sz="819" b="1">
                <a:solidFill>
                  <a:srgbClr val="1A5C36"/>
                </a:solidFill>
                <a:latin typeface="Arial"/>
              </a:rPr>
              <a:t>Measured, not asserted  ·  cbom-compass eval</a:t>
            </a:r>
          </a:p>
        </p:txBody>
      </p:sp>
      <p:sp>
        <p:nvSpPr>
          <p:cNvPr id="17441" name="TextBox 17440"/>
          <p:cNvSpPr txBox="1"/>
          <p:nvPr/>
        </p:nvSpPr>
        <p:spPr>
          <a:xfrm>
            <a:off x="4288536" y="4498848"/>
            <a:ext cx="3703320" cy="731520"/>
          </a:xfrm>
          <a:prstGeom prst="rect">
            <a:avLst/>
          </a:prstGeom>
          <a:noFill/>
        </p:spPr>
        <p:txBody>
          <a:bodyPr wrap="square" anchor="t" lIns="0" rIns="0" tIns="0" bIns="0">
            <a:spAutoFit/>
          </a:bodyPr>
          <a:lstStyle/>
          <a:p>
            <a:pPr algn="l">
              <a:lnSpc>
                <a:spcPct val="104000"/>
              </a:lnSpc>
            </a:pPr>
            <a:r>
              <a:rPr sz="750" b="0">
                <a:solidFill>
                  <a:srgbClr val="5A6B7C"/>
                </a:solidFill>
                <a:latin typeface="Arial"/>
              </a:rPr>
              <a:t>Algorithm level 100% precision / 97.5% recall; strict — key size, mode and curve — 98.9% / 96.7%. Zero findings on the negative controls, and a regression fails CI instead of shipping quietly.</a:t>
            </a:r>
          </a:p>
        </p:txBody>
      </p:sp>
      <p:sp>
        <p:nvSpPr>
          <p:cNvPr id="17442" name="TextBox 17441"/>
          <p:cNvSpPr txBox="1"/>
          <p:nvPr/>
        </p:nvSpPr>
        <p:spPr>
          <a:xfrm>
            <a:off x="8156448" y="4297680"/>
            <a:ext cx="3703320" cy="182880"/>
          </a:xfrm>
          <a:prstGeom prst="rect">
            <a:avLst/>
          </a:prstGeom>
          <a:noFill/>
        </p:spPr>
        <p:txBody>
          <a:bodyPr wrap="square" anchor="t" lIns="0" rIns="0" tIns="0" bIns="0">
            <a:spAutoFit/>
          </a:bodyPr>
          <a:lstStyle/>
          <a:p>
            <a:pPr algn="l"/>
            <a:r>
              <a:rPr sz="819" b="1">
                <a:solidFill>
                  <a:srgbClr val="1A5C36"/>
                </a:solidFill>
                <a:latin typeface="Arial"/>
              </a:rPr>
              <a:t>Proof the findings are real  ·  cbom-compass verify</a:t>
            </a:r>
          </a:p>
        </p:txBody>
      </p:sp>
      <p:sp>
        <p:nvSpPr>
          <p:cNvPr id="17443" name="TextBox 17442"/>
          <p:cNvSpPr txBox="1"/>
          <p:nvPr/>
        </p:nvSpPr>
        <p:spPr>
          <a:xfrm>
            <a:off x="8156448" y="4498848"/>
            <a:ext cx="3703320" cy="731520"/>
          </a:xfrm>
          <a:prstGeom prst="rect">
            <a:avLst/>
          </a:prstGeom>
          <a:noFill/>
        </p:spPr>
        <p:txBody>
          <a:bodyPr wrap="square" anchor="t" lIns="0" rIns="0" tIns="0" bIns="0">
            <a:spAutoFit/>
          </a:bodyPr>
          <a:lstStyle/>
          <a:p>
            <a:pPr algn="l">
              <a:lnSpc>
                <a:spcPct val="104000"/>
              </a:lnSpc>
            </a:pPr>
            <a:r>
              <a:rPr sz="750" b="0">
                <a:solidFill>
                  <a:srgbClr val="5A6B7C"/>
                </a:solidFill>
                <a:latin typeface="Arial"/>
              </a:rPr>
              <a:t>Re-opens each artefact on disk and re-checks the claim by a deliberately different technique, quoting the line. The tests plant fabricated findings and assert every one is rejected.</a:t>
            </a:r>
          </a:p>
        </p:txBody>
      </p:sp>
      <p:sp>
        <p:nvSpPr>
          <p:cNvPr id="17444" name="Rectangle 17443"/>
          <p:cNvSpPr/>
          <p:nvPr/>
        </p:nvSpPr>
        <p:spPr>
          <a:xfrm>
            <a:off x="420624" y="5321808"/>
            <a:ext cx="11347704" cy="9144"/>
          </a:xfrm>
          <a:prstGeom prst="rect">
            <a:avLst/>
          </a:prstGeom>
          <a:solidFill>
            <a:srgbClr val="CBD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5" name="TextBox 17444"/>
          <p:cNvSpPr txBox="1"/>
          <p:nvPr/>
        </p:nvSpPr>
        <p:spPr>
          <a:xfrm>
            <a:off x="420624" y="5394960"/>
            <a:ext cx="11347704" cy="512064"/>
          </a:xfrm>
          <a:prstGeom prst="rect">
            <a:avLst/>
          </a:prstGeom>
          <a:noFill/>
        </p:spPr>
        <p:txBody>
          <a:bodyPr wrap="square" anchor="t" lIns="0" rIns="0" tIns="0" bIns="0">
            <a:spAutoFit/>
          </a:bodyPr>
          <a:lstStyle/>
          <a:p>
            <a:pPr algn="l">
              <a:lnSpc>
                <a:spcPct val="104000"/>
              </a:lnSpc>
            </a:pPr>
            <a:r>
              <a:rPr sz="780" b="0">
                <a:solidFill>
                  <a:srgbClr val="1F2933"/>
                </a:solidFill>
                <a:latin typeface="Arial"/>
              </a:rPr>
              <a:t>Research that changed the design.  Our PRD v1.0 targeted CycloneDX 1.6; reading the ECMA-424 2nd Edition ratification moved us to 1.7, where nistQuantumSecurityLevel is a native field rather than a vendor extension. A scan of real third-party code (paramiko) scored an already-migrated ML-KEM key exchange at 0.60 — that single finding rewrote the priority formula from a flat max() across peer axes to vulnerability × timing.</a:t>
            </a:r>
          </a:p>
        </p:txBody>
      </p:sp>
      <p:sp>
        <p:nvSpPr>
          <p:cNvPr id="17446" name="TextBox 17445"/>
          <p:cNvSpPr txBox="1"/>
          <p:nvPr/>
        </p:nvSpPr>
        <p:spPr>
          <a:xfrm>
            <a:off x="274320" y="6089904"/>
            <a:ext cx="11640312" cy="182880"/>
          </a:xfrm>
          <a:prstGeom prst="rect">
            <a:avLst/>
          </a:prstGeom>
          <a:noFill/>
        </p:spPr>
        <p:txBody>
          <a:bodyPr wrap="square" anchor="t" lIns="0" rIns="0" tIns="0" bIns="0">
            <a:spAutoFit/>
          </a:bodyPr>
          <a:lstStyle/>
          <a:p>
            <a:pPr algn="l"/>
            <a:r>
              <a:rPr sz="750" b="0">
                <a:solidFill>
                  <a:srgbClr val="5A6B7C"/>
                </a:solidFill>
                <a:latin typeface="Arial"/>
              </a:rPr>
              <a:t>Full specification and design record: docs/cbom-compass-prd.md  ·  scanner accuracy notes: corpus/README.md  ·  architecture, security model and stated limits: README.md</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7487</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147</cp:revision>
  <dcterms:created xsi:type="dcterms:W3CDTF">2013-12-12T18:46:50Z</dcterms:created>
  <dcterms:modified xsi:type="dcterms:W3CDTF">2025-06-26T06:39:00Z</dcterms:modified>
  <cp:category/>
</cp:coreProperties>
</file>