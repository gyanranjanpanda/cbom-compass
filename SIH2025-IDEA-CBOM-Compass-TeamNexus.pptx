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3" d="100"/>
          <a:sy n="63" d="100"/>
        </p:scale>
        <p:origin x="780" y="64"/>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Open with the threat, not the tool. Attackers are recording encrypted traffic today so they can decrypt it once a quantum computer exists — 'harvest now, decrypt later'. Anything that must stay secret for longer than the time left until then is already exposed. But no organisation can migrate cryptography it cannot see. CBOM Compass scans the six places encryption hides, merges everything into one de-duplicated inventory, and scores each asset on two clocks: physics and regulation. The screenshot on the right is a real scan of github.com/golang/crypto — 144 assets, 69 broken, 83 exposed to harvest-now-decrypt-later. If asked what is genuinely new: the priority score is continuous rather than a yes/no, we deliberately refuse to overstate Grover, and every finding can be re-verified from disk.</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Two things to land here. First, there is no exotic dependency — Python, FastAPI, SQLite, and it runs offline on a laptop. Second, the pipeline is six honest stages. Emphasise stage 3: 181 raw findings collapse to 144 real assets, because the same OpenSSL seen by three scanners is one asset, while two RSA-2048 call sites in different services stay separate. Both screenshots are the live prototype, not mockups. If a judge probes scale, point at the graph: the long tail is clustered, never truncated — all 144 assets stay represented.</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This slide answers 'is it real?' before it answers 'is it hard?'. Every number in the top strip is reproducible on the machine in front of you: pytest for 140, cbom-compass eval for the accuracy figures. Then be honest about the limits — that honesty is the argument. We cannot see runtime-chosen algorithms, so we publish those five misses instead of hiding them. Q-Day is unknowable, so we score the NIST deadline beside it and the tool still works for a sceptic who thinks Q-Day is 2050. And the tool's own output is dangerous, so the connectors are read-only and the private keys we find are stored as fingerprints only.</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Move from the tool to the consequence. For a CISO this replaces a spreadsheet guess with a defensible ranked report; for an auditor a CycloneDX CBOM is evidence in a way a screenshot never is. The national point is the one worth landing: RBI, SEBI, UIDAI, defence and telecom all hold data that must stay confidential well past 2035, and inventory is the first step of any PQC transition — the step almost nobody has done. On benefits, the strategic one usually gets the most attention: this is self-hosted, so no Indian organisation has to send a map of its cryptographic weak points to a foreign SaaS vendor.</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Do not read the citations aloud. Say that the standards column is what we implement, not what we admire — NIST IR 8547 is the deadline we score, FIPS 203/204/205 are the replacements we name. Spend the time on the bottom strip instead: we built a 50-usage labelled corpus with four negative controls, and building it found seven real bugs in our own scanner. That is the difference between claiming accuracy and measuring it. Finish on 'research that changed the design' — each of those three items is a case where reading the source material or running against real code made us rewrite something.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6/26/2025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6/26/2025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6/26/2025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6/26/2025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2025</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lnSpc>
                <a:spcPct val="106000"/>
              </a:lnSpc>
              <a:spcBef>
                <a:spcPts val="0"/>
              </a:spcBef>
            </a:pPr>
            <a:r>
              <a:rPr sz="1500" b="0">
                <a:solidFill>
                  <a:srgbClr val="404040"/>
                </a:solidFill>
                <a:latin typeface="Arial"/>
              </a:rPr>
              <a:t>Problem Statement ID – </a:t>
            </a:r>
            <a:r>
              <a:rPr sz="1500" b="1">
                <a:solidFill>
                  <a:srgbClr val="1F497D"/>
                </a:solidFill>
                <a:latin typeface="Arial"/>
              </a:rPr>
              <a:t>SIH25164</a:t>
            </a:r>
            <a:endParaRPr lang="en-US" dirty="0"/>
          </a:p>
          <a:p>
            <a:pPr>
              <a:lnSpc>
                <a:spcPct val="106000"/>
              </a:lnSpc>
              <a:spcBef>
                <a:spcPts val="900"/>
              </a:spcBef>
            </a:pPr>
            <a:r>
              <a:rPr sz="1500" b="0">
                <a:solidFill>
                  <a:srgbClr val="404040"/>
                </a:solidFill>
                <a:latin typeface="Arial"/>
              </a:rPr>
              <a:t>Problem Statement Title – </a:t>
            </a:r>
            <a:r>
              <a:rPr sz="1500" b="1">
                <a:solidFill>
                  <a:srgbClr val="1F497D"/>
                </a:solidFill>
                <a:latin typeface="Arial"/>
              </a:rPr>
              <a:t>Development of a tool for the identification and assessment of cryptographic assets and their post-quantum migration readiness</a:t>
            </a:r>
          </a:p>
          <a:p>
            <a:pPr>
              <a:lnSpc>
                <a:spcPct val="106000"/>
              </a:lnSpc>
              <a:spcBef>
                <a:spcPts val="900"/>
              </a:spcBef>
            </a:pPr>
            <a:r>
              <a:rPr sz="1500" b="0">
                <a:solidFill>
                  <a:srgbClr val="404040"/>
                </a:solidFill>
                <a:latin typeface="Arial"/>
              </a:rPr>
              <a:t>Theme – </a:t>
            </a:r>
            <a:r>
              <a:rPr sz="1500" b="1">
                <a:solidFill>
                  <a:srgbClr val="1F497D"/>
                </a:solidFill>
                <a:latin typeface="Arial"/>
              </a:rPr>
              <a:t>Cybersecurity</a:t>
            </a:r>
          </a:p>
          <a:p>
            <a:pPr>
              <a:lnSpc>
                <a:spcPct val="106000"/>
              </a:lnSpc>
              <a:spcBef>
                <a:spcPts val="900"/>
              </a:spcBef>
            </a:pPr>
            <a:r>
              <a:rPr sz="1500" b="0">
                <a:solidFill>
                  <a:srgbClr val="404040"/>
                </a:solidFill>
                <a:latin typeface="Arial"/>
              </a:rPr>
              <a:t>PS Category – </a:t>
            </a:r>
            <a:r>
              <a:rPr sz="1500" b="1">
                <a:solidFill>
                  <a:srgbClr val="1F497D"/>
                </a:solidFill>
                <a:latin typeface="Arial"/>
              </a:rPr>
              <a:t>Software</a:t>
            </a:r>
          </a:p>
          <a:p>
            <a:pPr>
              <a:lnSpc>
                <a:spcPct val="106000"/>
              </a:lnSpc>
              <a:spcBef>
                <a:spcPts val="900"/>
              </a:spcBef>
            </a:pPr>
            <a:r>
              <a:rPr sz="1500" b="0">
                <a:solidFill>
                  <a:srgbClr val="404040"/>
                </a:solidFill>
                <a:latin typeface="Arial"/>
              </a:rPr>
              <a:t>Team ID – </a:t>
            </a:r>
            <a:r>
              <a:rPr sz="1500" b="1">
                <a:solidFill>
                  <a:srgbClr val="1F497D"/>
                </a:solidFill>
                <a:latin typeface="Arial"/>
              </a:rPr>
              <a:t>&lt;TEAM ID&gt;</a:t>
            </a:r>
          </a:p>
          <a:p>
            <a:pPr>
              <a:lnSpc>
                <a:spcPct val="106000"/>
              </a:lnSpc>
              <a:spcBef>
                <a:spcPts val="900"/>
              </a:spcBef>
            </a:pPr>
            <a:r>
              <a:rPr sz="1500" b="0">
                <a:solidFill>
                  <a:srgbClr val="404040"/>
                </a:solidFill>
                <a:latin typeface="Arial"/>
              </a:rPr>
              <a:t>Team Name (Registered on portal) – </a:t>
            </a:r>
            <a:r>
              <a:rPr sz="1500" b="1">
                <a:solidFill>
                  <a:srgbClr val="1F497D"/>
                </a:solidFill>
                <a:latin typeface="Arial"/>
              </a:rPr>
              <a:t>Team Nexus</a:t>
            </a:r>
          </a:p>
        </p:txBody>
      </p:sp>
      <p:pic>
        <p:nvPicPr>
          <p:cNvPr id="1026"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62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027" name="TextBox 1026"/>
          <p:cNvSpPr txBox="1"/>
          <p:nvPr/>
        </p:nvSpPr>
        <p:spPr>
          <a:xfrm>
            <a:off x="329184" y="4846320"/>
            <a:ext cx="5577840" cy="960120"/>
          </a:xfrm>
          <a:prstGeom prst="rect">
            <a:avLst/>
          </a:prstGeom>
          <a:noFill/>
        </p:spPr>
        <p:txBody>
          <a:bodyPr wrap="square" lIns="0" rIns="0" tIns="0" bIns="0" anchor="t">
            <a:noAutofit/>
          </a:bodyPr>
          <a:lstStyle/>
          <a:p>
            <a:pPr algn="l">
              <a:lnSpc>
                <a:spcPct val="108000"/>
              </a:lnSpc>
              <a:spcBef>
                <a:spcPts val="0"/>
              </a:spcBef>
              <a:spcAft>
                <a:spcPts val="0"/>
              </a:spcAft>
            </a:pPr>
            <a:r>
              <a:rPr sz="1150" b="1" i="0">
                <a:solidFill>
                  <a:srgbClr val="1F2933"/>
                </a:solidFill>
                <a:latin typeface="Arial"/>
              </a:rPr>
              <a:t>CBOM Compass</a:t>
            </a:r>
            <a:r>
              <a:rPr sz="1150" b="0" i="0">
                <a:solidFill>
                  <a:srgbClr val="1F2933"/>
                </a:solidFill>
                <a:latin typeface="Arial"/>
              </a:rPr>
              <a:t> — find every lock in the building, work out which ones a quantum computer can pick and which ones the regulator bans first, and hand back a prioritised locksmith's list.</a:t>
            </a:r>
          </a:p>
        </p:txBody>
      </p:sp>
      <p:sp>
        <p:nvSpPr>
          <p:cNvPr id="1028" name="Rectangle 1027"/>
          <p:cNvSpPr/>
          <p:nvPr/>
        </p:nvSpPr>
        <p:spPr>
          <a:xfrm>
            <a:off x="329184" y="4736592"/>
            <a:ext cx="1188720" cy="4114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1">
                <a:solidFill>
                  <a:srgbClr val="1F497D"/>
                </a:solidFill>
              </a:rPr>
              <a:t>Team Nexus</a:t>
            </a:r>
            <a:endParaRPr lang="en-IN" dirty="0"/>
          </a:p>
        </p:txBody>
      </p:sp>
      <p:pic>
        <p:nvPicPr>
          <p:cNvPr id="12"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5362" name="Rounded Rectangle 15361"/>
          <p:cNvSpPr/>
          <p:nvPr/>
        </p:nvSpPr>
        <p:spPr>
          <a:xfrm>
            <a:off x="274320" y="1207008"/>
            <a:ext cx="11640312" cy="475488"/>
          </a:xfrm>
          <a:prstGeom prst="roundRect">
            <a:avLst>
              <a:gd name="adj" fmla="val 19230"/>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63" name="TextBox 15362"/>
          <p:cNvSpPr txBox="1"/>
          <p:nvPr/>
        </p:nvSpPr>
        <p:spPr>
          <a:xfrm>
            <a:off x="457200" y="1280160"/>
            <a:ext cx="7863840" cy="347472"/>
          </a:xfrm>
          <a:prstGeom prst="rect">
            <a:avLst/>
          </a:prstGeom>
          <a:noFill/>
        </p:spPr>
        <p:txBody>
          <a:bodyPr wrap="square" lIns="0" rIns="0" tIns="0" bIns="0" anchor="ctr">
            <a:noAutofit/>
          </a:bodyPr>
          <a:lstStyle/>
          <a:p>
            <a:pPr algn="l">
              <a:lnSpc>
                <a:spcPct val="100000"/>
              </a:lnSpc>
              <a:spcBef>
                <a:spcPts val="0"/>
              </a:spcBef>
              <a:spcAft>
                <a:spcPts val="0"/>
              </a:spcAft>
            </a:pPr>
            <a:r>
              <a:rPr sz="1500" b="1" i="0">
                <a:solidFill>
                  <a:srgbClr val="FFFFFF"/>
                </a:solidFill>
                <a:latin typeface="Arial"/>
              </a:rPr>
              <a:t>CBOM COMPASS</a:t>
            </a:r>
            <a:r>
              <a:rPr sz="1500" b="0" i="0">
                <a:solidFill>
                  <a:srgbClr val="FFFFFF"/>
                </a:solidFill>
                <a:latin typeface="Arial"/>
              </a:rPr>
              <a:t> — an X-ray for your organisation's encryption</a:t>
            </a:r>
          </a:p>
        </p:txBody>
      </p:sp>
      <p:sp>
        <p:nvSpPr>
          <p:cNvPr id="15364" name="TextBox 15363"/>
          <p:cNvSpPr txBox="1"/>
          <p:nvPr/>
        </p:nvSpPr>
        <p:spPr>
          <a:xfrm>
            <a:off x="8412480" y="1298448"/>
            <a:ext cx="3337560" cy="310896"/>
          </a:xfrm>
          <a:prstGeom prst="rect">
            <a:avLst/>
          </a:prstGeom>
          <a:noFill/>
        </p:spPr>
        <p:txBody>
          <a:bodyPr wrap="square" lIns="0" rIns="0" tIns="0" bIns="0" anchor="ctr">
            <a:noAutofit/>
          </a:bodyPr>
          <a:lstStyle/>
          <a:p>
            <a:pPr algn="r">
              <a:lnSpc>
                <a:spcPct val="100000"/>
              </a:lnSpc>
              <a:spcBef>
                <a:spcPts val="0"/>
              </a:spcBef>
              <a:spcAft>
                <a:spcPts val="0"/>
              </a:spcAft>
            </a:pPr>
            <a:r>
              <a:rPr sz="919" b="0" i="0">
                <a:solidFill>
                  <a:srgbClr val="A8CCEA"/>
                </a:solidFill>
                <a:latin typeface="Arial"/>
              </a:rPr>
              <a:t>SIH25164  ·  Cybersecurity  ·  working prototype</a:t>
            </a:r>
          </a:p>
        </p:txBody>
      </p:sp>
      <p:sp>
        <p:nvSpPr>
          <p:cNvPr id="15365" name="Rectangle 15364"/>
          <p:cNvSpPr/>
          <p:nvPr/>
        </p:nvSpPr>
        <p:spPr>
          <a:xfrm>
            <a:off x="274320" y="2052828"/>
            <a:ext cx="11640312" cy="16459"/>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66" name="TextBox 15365"/>
          <p:cNvSpPr txBox="1"/>
          <p:nvPr/>
        </p:nvSpPr>
        <p:spPr>
          <a:xfrm>
            <a:off x="274320" y="1792224"/>
            <a:ext cx="11640312" cy="265176"/>
          </a:xfrm>
          <a:prstGeom prst="rect">
            <a:avLst/>
          </a:prstGeom>
          <a:noFill/>
        </p:spPr>
        <p:txBody>
          <a:bodyPr wrap="square" lIns="0" rIns="0" tIns="0" bIns="0" anchor="b">
            <a:noAutofit/>
          </a:bodyPr>
          <a:lstStyle/>
          <a:p>
            <a:pPr algn="l">
              <a:lnSpc>
                <a:spcPct val="100000"/>
              </a:lnSpc>
              <a:spcBef>
                <a:spcPts val="0"/>
              </a:spcBef>
              <a:spcAft>
                <a:spcPts val="0"/>
              </a:spcAft>
            </a:pPr>
            <a:r>
              <a:rPr sz="1250" b="1" i="0">
                <a:solidFill>
                  <a:srgbClr val="1F497D"/>
                </a:solidFill>
                <a:latin typeface="Arial"/>
              </a:rPr>
              <a:t>Proposed Solution (Describe your Idea/Solution/Prototype)</a:t>
            </a:r>
          </a:p>
        </p:txBody>
      </p:sp>
      <p:sp>
        <p:nvSpPr>
          <p:cNvPr id="15367" name="Rounded Rectangle 15366"/>
          <p:cNvSpPr/>
          <p:nvPr/>
        </p:nvSpPr>
        <p:spPr>
          <a:xfrm>
            <a:off x="274320" y="2103120"/>
            <a:ext cx="5760720" cy="1344168"/>
          </a:xfrm>
          <a:prstGeom prst="roundRect">
            <a:avLst>
              <a:gd name="adj" fmla="val 7482"/>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68" name="Rectangle 15367"/>
          <p:cNvSpPr/>
          <p:nvPr/>
        </p:nvSpPr>
        <p:spPr>
          <a:xfrm>
            <a:off x="274320" y="2103120"/>
            <a:ext cx="50292" cy="134416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69" name="TextBox 15368"/>
          <p:cNvSpPr txBox="1"/>
          <p:nvPr/>
        </p:nvSpPr>
        <p:spPr>
          <a:xfrm>
            <a:off x="457200" y="2194560"/>
            <a:ext cx="5431536" cy="237744"/>
          </a:xfrm>
          <a:prstGeom prst="rect">
            <a:avLst/>
          </a:prstGeom>
          <a:noFill/>
        </p:spPr>
        <p:txBody>
          <a:bodyPr wrap="square" lIns="0" rIns="0" tIns="0" bIns="0" anchor="t">
            <a:noAutofit/>
          </a:bodyPr>
          <a:lstStyle/>
          <a:p>
            <a:pPr algn="l">
              <a:lnSpc>
                <a:spcPct val="100000"/>
              </a:lnSpc>
              <a:spcBef>
                <a:spcPts val="0"/>
              </a:spcBef>
              <a:spcAft>
                <a:spcPts val="0"/>
              </a:spcAft>
            </a:pPr>
            <a:r>
              <a:rPr sz="1050" b="1" i="0">
                <a:solidFill>
                  <a:srgbClr val="1F497D"/>
                </a:solidFill>
                <a:latin typeface="Arial"/>
              </a:rPr>
              <a:t>Detailed explanation of the proposed solution</a:t>
            </a:r>
          </a:p>
        </p:txBody>
      </p:sp>
      <p:sp>
        <p:nvSpPr>
          <p:cNvPr id="15370" name="TextBox 15369"/>
          <p:cNvSpPr txBox="1"/>
          <p:nvPr/>
        </p:nvSpPr>
        <p:spPr>
          <a:xfrm>
            <a:off x="457200" y="2468879"/>
            <a:ext cx="5431536" cy="886968"/>
          </a:xfrm>
          <a:prstGeom prst="rect">
            <a:avLst/>
          </a:prstGeom>
          <a:noFill/>
        </p:spPr>
        <p:txBody>
          <a:bodyPr wrap="square" lIns="0" rIns="0" tIns="0" bIns="0" anchor="t">
            <a:noAutofit/>
          </a:bodyPr>
          <a:lstStyle/>
          <a:p>
            <a:pPr algn="l">
              <a:lnSpc>
                <a:spcPct val="102000"/>
              </a:lnSpc>
              <a:spcBef>
                <a:spcPts val="0"/>
              </a:spcBef>
              <a:spcAft>
                <a:spcPts val="0"/>
              </a:spcAft>
            </a:pPr>
            <a:r>
              <a:rPr sz="919" b="0" i="0">
                <a:solidFill>
                  <a:srgbClr val="1F2933"/>
                </a:solidFill>
                <a:latin typeface="Arial"/>
              </a:rPr>
              <a:t>• Scans the </a:t>
            </a:r>
            <a:r>
              <a:rPr sz="919" b="1" i="0">
                <a:solidFill>
                  <a:srgbClr val="1F2933"/>
                </a:solidFill>
                <a:latin typeface="Arial"/>
              </a:rPr>
              <a:t>six places encryption hides</a:t>
            </a:r>
            <a:r>
              <a:rPr sz="919" b="0" i="0">
                <a:solidFill>
                  <a:srgbClr val="1F2933"/>
                </a:solidFill>
                <a:latin typeface="Arial"/>
              </a:rPr>
              <a:t> — source code, dependencies, compiled binaries, container images, live TLS endpoints and cloud / HSM key stores.</a:t>
            </a:r>
          </a:p>
          <a:p>
            <a:pPr algn="l">
              <a:lnSpc>
                <a:spcPct val="102000"/>
              </a:lnSpc>
              <a:spcBef>
                <a:spcPts val="0"/>
              </a:spcBef>
              <a:spcAft>
                <a:spcPts val="0"/>
              </a:spcAft>
            </a:pPr>
            <a:r>
              <a:rPr sz="919" b="0" i="0">
                <a:solidFill>
                  <a:srgbClr val="1F2933"/>
                </a:solidFill>
                <a:latin typeface="Arial"/>
              </a:rPr>
              <a:t>• Merges them into </a:t>
            </a:r>
            <a:r>
              <a:rPr sz="919" b="1" i="0">
                <a:solidFill>
                  <a:srgbClr val="1F2933"/>
                </a:solidFill>
                <a:latin typeface="Arial"/>
              </a:rPr>
              <a:t>one de-duplicated inventory</a:t>
            </a:r>
            <a:r>
              <a:rPr sz="919" b="0" i="0">
                <a:solidFill>
                  <a:srgbClr val="1F2933"/>
                </a:solidFill>
                <a:latin typeface="Arial"/>
              </a:rPr>
              <a:t>: algorithm, key size, confidence and the exact </a:t>
            </a:r>
            <a:r>
              <a:rPr sz="919" b="0" i="0">
                <a:solidFill>
                  <a:srgbClr val="0E8C86"/>
                </a:solidFill>
                <a:latin typeface="Consolas"/>
              </a:rPr>
              <a:t>file:line</a:t>
            </a:r>
            <a:r>
              <a:rPr sz="919" b="0" i="0">
                <a:solidFill>
                  <a:srgbClr val="1F2933"/>
                </a:solidFill>
                <a:latin typeface="Arial"/>
              </a:rPr>
              <a:t>.</a:t>
            </a:r>
          </a:p>
          <a:p>
            <a:pPr algn="l">
              <a:lnSpc>
                <a:spcPct val="102000"/>
              </a:lnSpc>
              <a:spcBef>
                <a:spcPts val="0"/>
              </a:spcBef>
              <a:spcAft>
                <a:spcPts val="0"/>
              </a:spcAft>
            </a:pPr>
            <a:r>
              <a:rPr sz="919" b="0" i="0">
                <a:solidFill>
                  <a:srgbClr val="1F2933"/>
                </a:solidFill>
                <a:latin typeface="Arial"/>
              </a:rPr>
              <a:t>• Scores every asset on </a:t>
            </a:r>
            <a:r>
              <a:rPr sz="919" b="1" i="0">
                <a:solidFill>
                  <a:srgbClr val="1F2933"/>
                </a:solidFill>
                <a:latin typeface="Arial"/>
              </a:rPr>
              <a:t>two clocks</a:t>
            </a:r>
            <a:r>
              <a:rPr sz="919" b="0" i="0">
                <a:solidFill>
                  <a:srgbClr val="1F2933"/>
                </a:solidFill>
                <a:latin typeface="Arial"/>
              </a:rPr>
              <a:t> — physics (Q-Day) and regulation (NIST IR 8547) — then names the exact NIST replacement.</a:t>
            </a:r>
          </a:p>
        </p:txBody>
      </p:sp>
      <p:sp>
        <p:nvSpPr>
          <p:cNvPr id="15371" name="Rounded Rectangle 15370"/>
          <p:cNvSpPr/>
          <p:nvPr/>
        </p:nvSpPr>
        <p:spPr>
          <a:xfrm>
            <a:off x="274320" y="3520440"/>
            <a:ext cx="5760720" cy="1261872"/>
          </a:xfrm>
          <a:prstGeom prst="roundRect">
            <a:avLst>
              <a:gd name="adj" fmla="val 7971"/>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72" name="Rectangle 15371"/>
          <p:cNvSpPr/>
          <p:nvPr/>
        </p:nvSpPr>
        <p:spPr>
          <a:xfrm>
            <a:off x="274320" y="3520440"/>
            <a:ext cx="50292" cy="1261872"/>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73" name="TextBox 15372"/>
          <p:cNvSpPr txBox="1"/>
          <p:nvPr/>
        </p:nvSpPr>
        <p:spPr>
          <a:xfrm>
            <a:off x="457200" y="3611880"/>
            <a:ext cx="5431536" cy="237744"/>
          </a:xfrm>
          <a:prstGeom prst="rect">
            <a:avLst/>
          </a:prstGeom>
          <a:noFill/>
        </p:spPr>
        <p:txBody>
          <a:bodyPr wrap="square" lIns="0" rIns="0" tIns="0" bIns="0" anchor="t">
            <a:noAutofit/>
          </a:bodyPr>
          <a:lstStyle/>
          <a:p>
            <a:pPr algn="l">
              <a:lnSpc>
                <a:spcPct val="100000"/>
              </a:lnSpc>
              <a:spcBef>
                <a:spcPts val="0"/>
              </a:spcBef>
              <a:spcAft>
                <a:spcPts val="0"/>
              </a:spcAft>
            </a:pPr>
            <a:r>
              <a:rPr sz="1050" b="1" i="0">
                <a:solidFill>
                  <a:srgbClr val="1F497D"/>
                </a:solidFill>
                <a:latin typeface="Arial"/>
              </a:rPr>
              <a:t>How it addresses the problem</a:t>
            </a:r>
          </a:p>
        </p:txBody>
      </p:sp>
      <p:sp>
        <p:nvSpPr>
          <p:cNvPr id="15374" name="TextBox 15373"/>
          <p:cNvSpPr txBox="1"/>
          <p:nvPr/>
        </p:nvSpPr>
        <p:spPr>
          <a:xfrm>
            <a:off x="457200" y="3886200"/>
            <a:ext cx="5431536" cy="804671"/>
          </a:xfrm>
          <a:prstGeom prst="rect">
            <a:avLst/>
          </a:prstGeom>
          <a:noFill/>
        </p:spPr>
        <p:txBody>
          <a:bodyPr wrap="square" lIns="0" rIns="0" tIns="0" bIns="0" anchor="t">
            <a:noAutofit/>
          </a:bodyPr>
          <a:lstStyle/>
          <a:p>
            <a:pPr algn="l">
              <a:lnSpc>
                <a:spcPct val="102000"/>
              </a:lnSpc>
              <a:spcBef>
                <a:spcPts val="0"/>
              </a:spcBef>
              <a:spcAft>
                <a:spcPts val="0"/>
              </a:spcAft>
            </a:pPr>
            <a:r>
              <a:rPr sz="919" b="0" i="0">
                <a:solidFill>
                  <a:srgbClr val="1F2933"/>
                </a:solidFill>
                <a:latin typeface="Arial"/>
              </a:rPr>
              <a:t>• You cannot migrate what you cannot see. </a:t>
            </a:r>
            <a:r>
              <a:rPr sz="919" b="1" i="0">
                <a:solidFill>
                  <a:srgbClr val="1F2933"/>
                </a:solidFill>
                <a:latin typeface="Arial"/>
              </a:rPr>
              <a:t>"We think we use RSA somewhere"</a:t>
            </a:r>
            <a:r>
              <a:rPr sz="919" b="0" i="0">
                <a:solidFill>
                  <a:srgbClr val="1F2933"/>
                </a:solidFill>
                <a:latin typeface="Arial"/>
              </a:rPr>
              <a:t> becomes </a:t>
            </a:r>
            <a:r>
              <a:rPr sz="919" b="1" i="0">
                <a:solidFill>
                  <a:srgbClr val="1F2933"/>
                </a:solidFill>
                <a:latin typeface="Arial"/>
              </a:rPr>
              <a:t>144 named assets with locations</a:t>
            </a:r>
            <a:r>
              <a:rPr sz="919" b="0" i="0">
                <a:solidFill>
                  <a:srgbClr val="1F2933"/>
                </a:solidFill>
                <a:latin typeface="Arial"/>
              </a:rPr>
              <a:t>.</a:t>
            </a:r>
          </a:p>
          <a:p>
            <a:pPr algn="l">
              <a:lnSpc>
                <a:spcPct val="102000"/>
              </a:lnSpc>
              <a:spcBef>
                <a:spcPts val="0"/>
              </a:spcBef>
              <a:spcAft>
                <a:spcPts val="0"/>
              </a:spcAft>
            </a:pPr>
            <a:r>
              <a:rPr sz="919" b="0" i="0">
                <a:solidFill>
                  <a:srgbClr val="1F2933"/>
                </a:solidFill>
                <a:latin typeface="Arial"/>
              </a:rPr>
              <a:t>• Delivers all four asks of the problem statement in a single run: </a:t>
            </a:r>
            <a:r>
              <a:rPr sz="919" b="1" i="0">
                <a:solidFill>
                  <a:srgbClr val="1F2933"/>
                </a:solidFill>
                <a:latin typeface="Arial"/>
              </a:rPr>
              <a:t>Discover → Assess → Classify → Recommend</a:t>
            </a:r>
            <a:r>
              <a:rPr sz="919" b="0" i="0">
                <a:solidFill>
                  <a:srgbClr val="1F2933"/>
                </a:solidFill>
                <a:latin typeface="Arial"/>
              </a:rPr>
              <a:t>.</a:t>
            </a:r>
          </a:p>
          <a:p>
            <a:pPr algn="l">
              <a:lnSpc>
                <a:spcPct val="102000"/>
              </a:lnSpc>
              <a:spcBef>
                <a:spcPts val="0"/>
              </a:spcBef>
              <a:spcAft>
                <a:spcPts val="0"/>
              </a:spcAft>
            </a:pPr>
            <a:r>
              <a:rPr sz="919" b="0" i="0">
                <a:solidFill>
                  <a:srgbClr val="1F2933"/>
                </a:solidFill>
                <a:latin typeface="Arial"/>
              </a:rPr>
              <a:t>• Ranks by business urgency, so a five-person team knows </a:t>
            </a:r>
            <a:r>
              <a:rPr sz="919" b="1" i="0">
                <a:solidFill>
                  <a:srgbClr val="1F2933"/>
                </a:solidFill>
                <a:latin typeface="Arial"/>
              </a:rPr>
              <a:t>which 6 of 144</a:t>
            </a:r>
            <a:r>
              <a:rPr sz="919" b="0" i="0">
                <a:solidFill>
                  <a:srgbClr val="1F2933"/>
                </a:solidFill>
                <a:latin typeface="Arial"/>
              </a:rPr>
              <a:t> to fix this quarter.</a:t>
            </a:r>
          </a:p>
        </p:txBody>
      </p:sp>
      <p:sp>
        <p:nvSpPr>
          <p:cNvPr id="15375" name="Rounded Rectangle 15374"/>
          <p:cNvSpPr/>
          <p:nvPr/>
        </p:nvSpPr>
        <p:spPr>
          <a:xfrm>
            <a:off x="274320" y="4855464"/>
            <a:ext cx="5760720" cy="1371600"/>
          </a:xfrm>
          <a:prstGeom prst="roundRect">
            <a:avLst>
              <a:gd name="adj" fmla="val 7333"/>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76" name="Rectangle 15375"/>
          <p:cNvSpPr/>
          <p:nvPr/>
        </p:nvSpPr>
        <p:spPr>
          <a:xfrm>
            <a:off x="274320" y="4855464"/>
            <a:ext cx="50292" cy="1371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77" name="TextBox 15376"/>
          <p:cNvSpPr txBox="1"/>
          <p:nvPr/>
        </p:nvSpPr>
        <p:spPr>
          <a:xfrm>
            <a:off x="457200" y="4946903"/>
            <a:ext cx="5431536" cy="237744"/>
          </a:xfrm>
          <a:prstGeom prst="rect">
            <a:avLst/>
          </a:prstGeom>
          <a:noFill/>
        </p:spPr>
        <p:txBody>
          <a:bodyPr wrap="square" lIns="0" rIns="0" tIns="0" bIns="0" anchor="t">
            <a:noAutofit/>
          </a:bodyPr>
          <a:lstStyle/>
          <a:p>
            <a:pPr algn="l">
              <a:lnSpc>
                <a:spcPct val="100000"/>
              </a:lnSpc>
              <a:spcBef>
                <a:spcPts val="0"/>
              </a:spcBef>
              <a:spcAft>
                <a:spcPts val="0"/>
              </a:spcAft>
            </a:pPr>
            <a:r>
              <a:rPr sz="1050" b="1" i="0">
                <a:solidFill>
                  <a:srgbClr val="1F497D"/>
                </a:solidFill>
                <a:latin typeface="Arial"/>
              </a:rPr>
              <a:t>Innovation and uniqueness of the solution</a:t>
            </a:r>
          </a:p>
        </p:txBody>
      </p:sp>
      <p:sp>
        <p:nvSpPr>
          <p:cNvPr id="15378" name="TextBox 15377"/>
          <p:cNvSpPr txBox="1"/>
          <p:nvPr/>
        </p:nvSpPr>
        <p:spPr>
          <a:xfrm>
            <a:off x="457200" y="5221224"/>
            <a:ext cx="5431536" cy="914400"/>
          </a:xfrm>
          <a:prstGeom prst="rect">
            <a:avLst/>
          </a:prstGeom>
          <a:noFill/>
        </p:spPr>
        <p:txBody>
          <a:bodyPr wrap="square" lIns="0" rIns="0" tIns="0" bIns="0" anchor="t">
            <a:noAutofit/>
          </a:bodyPr>
          <a:lstStyle/>
          <a:p>
            <a:pPr algn="l">
              <a:lnSpc>
                <a:spcPct val="102000"/>
              </a:lnSpc>
              <a:spcBef>
                <a:spcPts val="0"/>
              </a:spcBef>
              <a:spcAft>
                <a:spcPts val="0"/>
              </a:spcAft>
            </a:pPr>
            <a:r>
              <a:rPr sz="919" b="0" i="0">
                <a:solidFill>
                  <a:srgbClr val="1F2933"/>
                </a:solidFill>
                <a:latin typeface="Arial"/>
              </a:rPr>
              <a:t>• </a:t>
            </a:r>
            <a:r>
              <a:rPr sz="919" b="1" i="0">
                <a:solidFill>
                  <a:srgbClr val="1F2933"/>
                </a:solidFill>
                <a:latin typeface="Arial"/>
              </a:rPr>
              <a:t>Mosca's inequality made computable</a:t>
            </a:r>
            <a:r>
              <a:rPr sz="919" b="0" i="0">
                <a:solidFill>
                  <a:srgbClr val="1F2933"/>
                </a:solidFill>
                <a:latin typeface="Arial"/>
              </a:rPr>
              <a:t> — a continuous score, not a yes/no. The same RSA-2048 scores </a:t>
            </a:r>
            <a:r>
              <a:rPr sz="919" b="1" i="0">
                <a:solidFill>
                  <a:srgbClr val="1F2933"/>
                </a:solidFill>
                <a:latin typeface="Arial"/>
              </a:rPr>
              <a:t>1.00</a:t>
            </a:r>
            <a:r>
              <a:rPr sz="919" b="0" i="0">
                <a:solidFill>
                  <a:srgbClr val="1F2933"/>
                </a:solidFill>
                <a:latin typeface="Arial"/>
              </a:rPr>
              <a:t> on 25-year data and </a:t>
            </a:r>
            <a:r>
              <a:rPr sz="919" b="1" i="0">
                <a:solidFill>
                  <a:srgbClr val="1F2933"/>
                </a:solidFill>
                <a:latin typeface="Arial"/>
              </a:rPr>
              <a:t>0.36</a:t>
            </a:r>
            <a:r>
              <a:rPr sz="919" b="0" i="0">
                <a:solidFill>
                  <a:srgbClr val="1F2933"/>
                </a:solidFill>
                <a:latin typeface="Arial"/>
              </a:rPr>
              <a:t> on session data.</a:t>
            </a:r>
          </a:p>
          <a:p>
            <a:pPr algn="l">
              <a:lnSpc>
                <a:spcPct val="102000"/>
              </a:lnSpc>
              <a:spcBef>
                <a:spcPts val="0"/>
              </a:spcBef>
              <a:spcAft>
                <a:spcPts val="0"/>
              </a:spcAft>
            </a:pPr>
            <a:r>
              <a:rPr sz="919" b="0" i="0">
                <a:solidFill>
                  <a:srgbClr val="1F2933"/>
                </a:solidFill>
                <a:latin typeface="Arial"/>
              </a:rPr>
              <a:t>• </a:t>
            </a:r>
            <a:r>
              <a:rPr sz="919" b="1" i="0">
                <a:solidFill>
                  <a:srgbClr val="1F2933"/>
                </a:solidFill>
                <a:latin typeface="Arial"/>
              </a:rPr>
              <a:t>We refuse to cry wolf</a:t>
            </a:r>
            <a:r>
              <a:rPr sz="919" b="0" i="0">
                <a:solidFill>
                  <a:srgbClr val="1F2933"/>
                </a:solidFill>
                <a:latin typeface="Arial"/>
              </a:rPr>
              <a:t> — AES-128 and SHA-256 stay </a:t>
            </a:r>
            <a:r>
              <a:rPr sz="919" b="0" i="1">
                <a:solidFill>
                  <a:srgbClr val="1F2933"/>
                </a:solidFill>
                <a:latin typeface="Arial"/>
              </a:rPr>
              <a:t>adequate</a:t>
            </a:r>
            <a:r>
              <a:rPr sz="919" b="0" i="0">
                <a:solidFill>
                  <a:srgbClr val="1F2933"/>
                </a:solidFill>
                <a:latin typeface="Arial"/>
              </a:rPr>
              <a:t>, so the "act now" list stays short and credible.</a:t>
            </a:r>
          </a:p>
          <a:p>
            <a:pPr algn="l">
              <a:lnSpc>
                <a:spcPct val="102000"/>
              </a:lnSpc>
              <a:spcBef>
                <a:spcPts val="0"/>
              </a:spcBef>
              <a:spcAft>
                <a:spcPts val="0"/>
              </a:spcAft>
            </a:pPr>
            <a:r>
              <a:rPr sz="919" b="0" i="0">
                <a:solidFill>
                  <a:srgbClr val="1F2933"/>
                </a:solidFill>
                <a:latin typeface="Arial"/>
              </a:rPr>
              <a:t>• </a:t>
            </a:r>
            <a:r>
              <a:rPr sz="919" b="1" i="0">
                <a:solidFill>
                  <a:srgbClr val="0E8C86"/>
                </a:solidFill>
                <a:latin typeface="Consolas"/>
              </a:rPr>
              <a:t>verify</a:t>
            </a:r>
            <a:r>
              <a:rPr sz="919" b="1" i="0">
                <a:solidFill>
                  <a:srgbClr val="1F2933"/>
                </a:solidFill>
                <a:latin typeface="Arial"/>
              </a:rPr>
              <a:t> re-reads every finding from disk</a:t>
            </a:r>
            <a:r>
              <a:rPr sz="919" b="0" i="0">
                <a:solidFill>
                  <a:srgbClr val="1F2933"/>
                </a:solidFill>
                <a:latin typeface="Arial"/>
              </a:rPr>
              <a:t> by a different technique and quotes the line — proof, not a claim.</a:t>
            </a:r>
          </a:p>
        </p:txBody>
      </p:sp>
      <p:pic>
        <p:nvPicPr>
          <p:cNvPr id="15379" name="Picture 15378" descr="overview.png"/>
          <p:cNvPicPr>
            <a:picLocks noChangeAspect="1"/>
          </p:cNvPicPr>
          <p:nvPr/>
        </p:nvPicPr>
        <p:blipFill>
          <a:blip r:embed="rId4"/>
          <a:stretch>
            <a:fillRect/>
          </a:stretch>
        </p:blipFill>
        <p:spPr>
          <a:xfrm>
            <a:off x="6172200" y="2103120"/>
            <a:ext cx="5742432" cy="3471976"/>
          </a:xfrm>
          <a:prstGeom prst="rect">
            <a:avLst/>
          </a:prstGeom>
        </p:spPr>
      </p:pic>
      <p:sp>
        <p:nvSpPr>
          <p:cNvPr id="15380" name="TextBox 15379"/>
          <p:cNvSpPr txBox="1"/>
          <p:nvPr/>
        </p:nvSpPr>
        <p:spPr>
          <a:xfrm>
            <a:off x="6172200" y="5577840"/>
            <a:ext cx="5742432" cy="219456"/>
          </a:xfrm>
          <a:prstGeom prst="rect">
            <a:avLst/>
          </a:prstGeom>
          <a:noFill/>
        </p:spPr>
        <p:txBody>
          <a:bodyPr wrap="square" lIns="0" rIns="0" tIns="0" bIns="0" anchor="t">
            <a:noAutofit/>
          </a:bodyPr>
          <a:lstStyle/>
          <a:p>
            <a:pPr algn="ctr">
              <a:lnSpc>
                <a:spcPct val="100000"/>
              </a:lnSpc>
              <a:spcBef>
                <a:spcPts val="0"/>
              </a:spcBef>
              <a:spcAft>
                <a:spcPts val="0"/>
              </a:spcAft>
            </a:pPr>
            <a:r>
              <a:rPr sz="800" b="0" i="0">
                <a:solidFill>
                  <a:srgbClr val="5A6B7C"/>
                </a:solidFill>
                <a:latin typeface="Arial"/>
              </a:rPr>
              <a:t>Live dashboard — a real scan of github.com/golang/crypto: 144 assets, 69 broken, 83 harvest-now-decrypt-later.</a:t>
            </a:r>
          </a:p>
        </p:txBody>
      </p:sp>
      <p:sp>
        <p:nvSpPr>
          <p:cNvPr id="15381" name="Rounded Rectangle 15380"/>
          <p:cNvSpPr/>
          <p:nvPr/>
        </p:nvSpPr>
        <p:spPr>
          <a:xfrm>
            <a:off x="6172200" y="5788152"/>
            <a:ext cx="5742432" cy="457200"/>
          </a:xfrm>
          <a:prstGeom prst="roundRect">
            <a:avLst>
              <a:gd name="adj" fmla="val 20000"/>
            </a:avLst>
          </a:prstGeom>
          <a:solidFill>
            <a:srgbClr val="FFF6E5"/>
          </a:solidFill>
          <a:ln w="9525">
            <a:solidFill>
              <a:srgbClr val="E8C88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82" name="Rectangle 15381"/>
          <p:cNvSpPr/>
          <p:nvPr/>
        </p:nvSpPr>
        <p:spPr>
          <a:xfrm>
            <a:off x="6172200" y="5788152"/>
            <a:ext cx="50292" cy="457200"/>
          </a:xfrm>
          <a:prstGeom prst="rect">
            <a:avLst/>
          </a:prstGeom>
          <a:solidFill>
            <a:srgbClr val="B977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83" name="TextBox 15382"/>
          <p:cNvSpPr txBox="1"/>
          <p:nvPr/>
        </p:nvSpPr>
        <p:spPr>
          <a:xfrm>
            <a:off x="6345936" y="5870448"/>
            <a:ext cx="5431536" cy="292608"/>
          </a:xfrm>
          <a:prstGeom prst="rect">
            <a:avLst/>
          </a:prstGeom>
          <a:noFill/>
        </p:spPr>
        <p:txBody>
          <a:bodyPr wrap="square" lIns="0" rIns="0" tIns="0" bIns="0" anchor="t">
            <a:noAutofit/>
          </a:bodyPr>
          <a:lstStyle/>
          <a:p>
            <a:pPr algn="l">
              <a:lnSpc>
                <a:spcPct val="103000"/>
              </a:lnSpc>
              <a:spcBef>
                <a:spcPts val="0"/>
              </a:spcBef>
              <a:spcAft>
                <a:spcPts val="0"/>
              </a:spcAft>
            </a:pPr>
            <a:r>
              <a:rPr sz="900" b="1" i="0">
                <a:solidFill>
                  <a:srgbClr val="6B4A08"/>
                </a:solidFill>
                <a:latin typeface="Arial"/>
              </a:rPr>
              <a:t>In plain English:</a:t>
            </a:r>
            <a:r>
              <a:rPr sz="900" b="0" i="0">
                <a:solidFill>
                  <a:srgbClr val="6B4A08"/>
                </a:solidFill>
                <a:latin typeface="Arial"/>
              </a:rPr>
              <a:t> today's locks are picked by tomorrow's quantum computers — and attackers are already stealing the locked boxes to open later. We find every lock you own and say which to change first.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1">
                <a:solidFill>
                  <a:srgbClr val="1F497D"/>
                </a:solidFill>
              </a:rPr>
              <a:t>Team Nexus</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Rectangle 17409"/>
          <p:cNvSpPr/>
          <p:nvPr/>
        </p:nvSpPr>
        <p:spPr>
          <a:xfrm>
            <a:off x="274320" y="1321307"/>
            <a:ext cx="11640312" cy="16459"/>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1" name="TextBox 17410"/>
          <p:cNvSpPr txBox="1"/>
          <p:nvPr/>
        </p:nvSpPr>
        <p:spPr>
          <a:xfrm>
            <a:off x="274320" y="1060704"/>
            <a:ext cx="11640312" cy="265176"/>
          </a:xfrm>
          <a:prstGeom prst="rect">
            <a:avLst/>
          </a:prstGeom>
          <a:noFill/>
        </p:spPr>
        <p:txBody>
          <a:bodyPr wrap="square" lIns="0" rIns="0" tIns="0" bIns="0" anchor="b">
            <a:noAutofit/>
          </a:bodyPr>
          <a:lstStyle/>
          <a:p>
            <a:pPr algn="l">
              <a:lnSpc>
                <a:spcPct val="100000"/>
              </a:lnSpc>
              <a:spcBef>
                <a:spcPts val="0"/>
              </a:spcBef>
              <a:spcAft>
                <a:spcPts val="0"/>
              </a:spcAft>
            </a:pPr>
            <a:r>
              <a:rPr sz="1250" b="1" i="0">
                <a:solidFill>
                  <a:srgbClr val="1F497D"/>
                </a:solidFill>
                <a:latin typeface="Arial"/>
              </a:rPr>
              <a:t>Technologies to be used (e.g. programming languages, frameworks, hardware)</a:t>
            </a:r>
          </a:p>
        </p:txBody>
      </p:sp>
      <p:sp>
        <p:nvSpPr>
          <p:cNvPr id="17412" name="Rounded Rectangle 17411"/>
          <p:cNvSpPr/>
          <p:nvPr/>
        </p:nvSpPr>
        <p:spPr>
          <a:xfrm>
            <a:off x="274320" y="1426464"/>
            <a:ext cx="1481328" cy="365760"/>
          </a:xfrm>
          <a:prstGeom prst="roundRect">
            <a:avLst>
              <a:gd name="adj" fmla="val 25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3" name="TextBox 17412"/>
          <p:cNvSpPr txBox="1"/>
          <p:nvPr/>
        </p:nvSpPr>
        <p:spPr>
          <a:xfrm>
            <a:off x="329184" y="1444752"/>
            <a:ext cx="1371600" cy="329184"/>
          </a:xfrm>
          <a:prstGeom prst="rect">
            <a:avLst/>
          </a:prstGeom>
          <a:noFill/>
        </p:spPr>
        <p:txBody>
          <a:bodyPr wrap="square" lIns="0" rIns="0" tIns="0" bIns="0" anchor="ctr">
            <a:noAutofit/>
          </a:bodyPr>
          <a:lstStyle/>
          <a:p>
            <a:pPr algn="ctr">
              <a:lnSpc>
                <a:spcPct val="95000"/>
              </a:lnSpc>
              <a:spcBef>
                <a:spcPts val="0"/>
              </a:spcBef>
              <a:spcAft>
                <a:spcPts val="0"/>
              </a:spcAft>
            </a:pPr>
            <a:r>
              <a:rPr sz="860" b="1" i="0">
                <a:solidFill>
                  <a:srgbClr val="FFFFFF"/>
                </a:solidFill>
                <a:latin typeface="Arial"/>
              </a:rPr>
              <a:t>Language</a:t>
            </a:r>
          </a:p>
          <a:p>
            <a:pPr algn="ctr">
              <a:lnSpc>
                <a:spcPct val="95000"/>
              </a:lnSpc>
              <a:spcBef>
                <a:spcPts val="0"/>
              </a:spcBef>
              <a:spcAft>
                <a:spcPts val="0"/>
              </a:spcAft>
            </a:pPr>
            <a:r>
              <a:rPr sz="860" b="1" i="0">
                <a:solidFill>
                  <a:srgbClr val="FFFFFF"/>
                </a:solidFill>
                <a:latin typeface="Arial"/>
              </a:rPr>
              <a:t>&amp; API</a:t>
            </a:r>
          </a:p>
        </p:txBody>
      </p:sp>
      <p:sp>
        <p:nvSpPr>
          <p:cNvPr id="17414" name="Rounded Rectangle 17413"/>
          <p:cNvSpPr/>
          <p:nvPr/>
        </p:nvSpPr>
        <p:spPr>
          <a:xfrm>
            <a:off x="1828800" y="1426464"/>
            <a:ext cx="10085832" cy="365760"/>
          </a:xfrm>
          <a:prstGeom prst="roundRect">
            <a:avLst>
              <a:gd name="adj" fmla="val 25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5" name="TextBox 17414"/>
          <p:cNvSpPr txBox="1"/>
          <p:nvPr/>
        </p:nvSpPr>
        <p:spPr>
          <a:xfrm>
            <a:off x="1975104" y="1444752"/>
            <a:ext cx="9829800" cy="329184"/>
          </a:xfrm>
          <a:prstGeom prst="rect">
            <a:avLst/>
          </a:prstGeom>
          <a:noFill/>
        </p:spPr>
        <p:txBody>
          <a:bodyPr wrap="square" lIns="0" rIns="0" tIns="0" bIns="0" anchor="ctr">
            <a:noAutofit/>
          </a:bodyPr>
          <a:lstStyle/>
          <a:p>
            <a:pPr algn="l">
              <a:lnSpc>
                <a:spcPct val="100000"/>
              </a:lnSpc>
              <a:spcBef>
                <a:spcPts val="0"/>
              </a:spcBef>
              <a:spcAft>
                <a:spcPts val="0"/>
              </a:spcAft>
            </a:pPr>
            <a:r>
              <a:rPr sz="890" b="0" i="0">
                <a:solidFill>
                  <a:srgbClr val="1F2933"/>
                </a:solidFill>
                <a:latin typeface="Arial"/>
              </a:rPr>
              <a:t>Python 3.11  ·  FastAPI  ·  Uvicorn  ·  Pydantic v2  ·  SQLite (JSON documents) → Postgres + JSONB by connection string</a:t>
            </a:r>
          </a:p>
        </p:txBody>
      </p:sp>
      <p:sp>
        <p:nvSpPr>
          <p:cNvPr id="17416" name="Rounded Rectangle 17415"/>
          <p:cNvSpPr/>
          <p:nvPr/>
        </p:nvSpPr>
        <p:spPr>
          <a:xfrm>
            <a:off x="274320" y="1847088"/>
            <a:ext cx="1481328" cy="365760"/>
          </a:xfrm>
          <a:prstGeom prst="roundRect">
            <a:avLst>
              <a:gd name="adj" fmla="val 25000"/>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7" name="TextBox 17416"/>
          <p:cNvSpPr txBox="1"/>
          <p:nvPr/>
        </p:nvSpPr>
        <p:spPr>
          <a:xfrm>
            <a:off x="329184" y="1865376"/>
            <a:ext cx="1371600" cy="329184"/>
          </a:xfrm>
          <a:prstGeom prst="rect">
            <a:avLst/>
          </a:prstGeom>
          <a:noFill/>
        </p:spPr>
        <p:txBody>
          <a:bodyPr wrap="square" lIns="0" rIns="0" tIns="0" bIns="0" anchor="ctr">
            <a:noAutofit/>
          </a:bodyPr>
          <a:lstStyle/>
          <a:p>
            <a:pPr algn="ctr">
              <a:lnSpc>
                <a:spcPct val="95000"/>
              </a:lnSpc>
              <a:spcBef>
                <a:spcPts val="0"/>
              </a:spcBef>
              <a:spcAft>
                <a:spcPts val="0"/>
              </a:spcAft>
            </a:pPr>
            <a:r>
              <a:rPr sz="860" b="1" i="0">
                <a:solidFill>
                  <a:srgbClr val="FFFFFF"/>
                </a:solidFill>
                <a:latin typeface="Arial"/>
              </a:rPr>
              <a:t>Detection</a:t>
            </a:r>
          </a:p>
          <a:p>
            <a:pPr algn="ctr">
              <a:lnSpc>
                <a:spcPct val="95000"/>
              </a:lnSpc>
              <a:spcBef>
                <a:spcPts val="0"/>
              </a:spcBef>
              <a:spcAft>
                <a:spcPts val="0"/>
              </a:spcAft>
            </a:pPr>
            <a:r>
              <a:rPr sz="860" b="1" i="0">
                <a:solidFill>
                  <a:srgbClr val="FFFFFF"/>
                </a:solidFill>
                <a:latin typeface="Arial"/>
              </a:rPr>
              <a:t>engines</a:t>
            </a:r>
          </a:p>
        </p:txBody>
      </p:sp>
      <p:sp>
        <p:nvSpPr>
          <p:cNvPr id="17418" name="Rounded Rectangle 17417"/>
          <p:cNvSpPr/>
          <p:nvPr/>
        </p:nvSpPr>
        <p:spPr>
          <a:xfrm>
            <a:off x="1828800" y="1847088"/>
            <a:ext cx="10085832" cy="365760"/>
          </a:xfrm>
          <a:prstGeom prst="roundRect">
            <a:avLst>
              <a:gd name="adj" fmla="val 25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9" name="TextBox 17418"/>
          <p:cNvSpPr txBox="1"/>
          <p:nvPr/>
        </p:nvSpPr>
        <p:spPr>
          <a:xfrm>
            <a:off x="1975104" y="1865376"/>
            <a:ext cx="9829800" cy="329184"/>
          </a:xfrm>
          <a:prstGeom prst="rect">
            <a:avLst/>
          </a:prstGeom>
          <a:noFill/>
        </p:spPr>
        <p:txBody>
          <a:bodyPr wrap="square" lIns="0" rIns="0" tIns="0" bIns="0" anchor="ctr">
            <a:noAutofit/>
          </a:bodyPr>
          <a:lstStyle/>
          <a:p>
            <a:pPr algn="l">
              <a:lnSpc>
                <a:spcPct val="100000"/>
              </a:lnSpc>
              <a:spcBef>
                <a:spcPts val="0"/>
              </a:spcBef>
              <a:spcAft>
                <a:spcPts val="0"/>
              </a:spcAft>
            </a:pPr>
            <a:r>
              <a:rPr sz="890" b="0" i="0">
                <a:solidFill>
                  <a:srgbClr val="1F2933"/>
                </a:solidFill>
                <a:latin typeface="Arial"/>
              </a:rPr>
              <a:t>Python </a:t>
            </a:r>
            <a:r>
              <a:rPr sz="890" b="0" i="0">
                <a:solidFill>
                  <a:srgbClr val="0E8C86"/>
                </a:solidFill>
                <a:latin typeface="Consolas"/>
              </a:rPr>
              <a:t>ast</a:t>
            </a:r>
            <a:r>
              <a:rPr sz="890" b="0" i="0">
                <a:solidFill>
                  <a:srgbClr val="1F2933"/>
                </a:solidFill>
                <a:latin typeface="Arial"/>
              </a:rPr>
              <a:t> (resolves literal key sizes, curves, modes)  ·  pattern rules for Java / JS / Go  ·  </a:t>
            </a:r>
            <a:r>
              <a:rPr sz="890" b="1" i="0">
                <a:solidFill>
                  <a:srgbClr val="1F2933"/>
                </a:solidFill>
                <a:latin typeface="Arial"/>
              </a:rPr>
              <a:t>LIEF</a:t>
            </a:r>
            <a:r>
              <a:rPr sz="890" b="0" i="0">
                <a:solidFill>
                  <a:srgbClr val="1F2933"/>
                </a:solidFill>
                <a:latin typeface="Arial"/>
              </a:rPr>
              <a:t> import-table + symbol parsing for ELF / PE / Mach-O  ·  Syft + layer walk  ·  TLS handshake probe  ·  boto3 (AWS KMS, read-only)</a:t>
            </a:r>
          </a:p>
        </p:txBody>
      </p:sp>
      <p:sp>
        <p:nvSpPr>
          <p:cNvPr id="17420" name="Rounded Rectangle 17419"/>
          <p:cNvSpPr/>
          <p:nvPr/>
        </p:nvSpPr>
        <p:spPr>
          <a:xfrm>
            <a:off x="274320" y="2267712"/>
            <a:ext cx="1481328" cy="365760"/>
          </a:xfrm>
          <a:prstGeom prst="roundRect">
            <a:avLst>
              <a:gd name="adj" fmla="val 25000"/>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1" name="TextBox 17420"/>
          <p:cNvSpPr txBox="1"/>
          <p:nvPr/>
        </p:nvSpPr>
        <p:spPr>
          <a:xfrm>
            <a:off x="329184" y="2286000"/>
            <a:ext cx="1371600" cy="329184"/>
          </a:xfrm>
          <a:prstGeom prst="rect">
            <a:avLst/>
          </a:prstGeom>
          <a:noFill/>
        </p:spPr>
        <p:txBody>
          <a:bodyPr wrap="square" lIns="0" rIns="0" tIns="0" bIns="0" anchor="ctr">
            <a:noAutofit/>
          </a:bodyPr>
          <a:lstStyle/>
          <a:p>
            <a:pPr algn="ctr">
              <a:lnSpc>
                <a:spcPct val="95000"/>
              </a:lnSpc>
              <a:spcBef>
                <a:spcPts val="0"/>
              </a:spcBef>
              <a:spcAft>
                <a:spcPts val="0"/>
              </a:spcAft>
            </a:pPr>
            <a:r>
              <a:rPr sz="860" b="1" i="0">
                <a:solidFill>
                  <a:srgbClr val="FFFFFF"/>
                </a:solidFill>
                <a:latin typeface="Arial"/>
              </a:rPr>
              <a:t>Output</a:t>
            </a:r>
          </a:p>
          <a:p>
            <a:pPr algn="ctr">
              <a:lnSpc>
                <a:spcPct val="95000"/>
              </a:lnSpc>
              <a:spcBef>
                <a:spcPts val="0"/>
              </a:spcBef>
              <a:spcAft>
                <a:spcPts val="0"/>
              </a:spcAft>
            </a:pPr>
            <a:r>
              <a:rPr sz="860" b="1" i="0">
                <a:solidFill>
                  <a:srgbClr val="FFFFFF"/>
                </a:solidFill>
                <a:latin typeface="Arial"/>
              </a:rPr>
              <a:t>&amp; QA</a:t>
            </a:r>
          </a:p>
        </p:txBody>
      </p:sp>
      <p:sp>
        <p:nvSpPr>
          <p:cNvPr id="17422" name="Rounded Rectangle 17421"/>
          <p:cNvSpPr/>
          <p:nvPr/>
        </p:nvSpPr>
        <p:spPr>
          <a:xfrm>
            <a:off x="1828800" y="2267712"/>
            <a:ext cx="10085832" cy="365760"/>
          </a:xfrm>
          <a:prstGeom prst="roundRect">
            <a:avLst>
              <a:gd name="adj" fmla="val 25000"/>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3" name="TextBox 17422"/>
          <p:cNvSpPr txBox="1"/>
          <p:nvPr/>
        </p:nvSpPr>
        <p:spPr>
          <a:xfrm>
            <a:off x="1975104" y="2286000"/>
            <a:ext cx="9829800" cy="329184"/>
          </a:xfrm>
          <a:prstGeom prst="rect">
            <a:avLst/>
          </a:prstGeom>
          <a:noFill/>
        </p:spPr>
        <p:txBody>
          <a:bodyPr wrap="square" lIns="0" rIns="0" tIns="0" bIns="0" anchor="ctr">
            <a:noAutofit/>
          </a:bodyPr>
          <a:lstStyle/>
          <a:p>
            <a:pPr algn="l">
              <a:lnSpc>
                <a:spcPct val="100000"/>
              </a:lnSpc>
              <a:spcBef>
                <a:spcPts val="0"/>
              </a:spcBef>
              <a:spcAft>
                <a:spcPts val="0"/>
              </a:spcAft>
            </a:pPr>
            <a:r>
              <a:rPr sz="890" b="1" i="0">
                <a:solidFill>
                  <a:srgbClr val="1F2933"/>
                </a:solidFill>
                <a:latin typeface="Arial"/>
              </a:rPr>
              <a:t>CycloneDX 1.7 / ECMA-424 2nd Ed.</a:t>
            </a:r>
            <a:r>
              <a:rPr sz="890" b="0" i="0">
                <a:solidFill>
                  <a:srgbClr val="1F2933"/>
                </a:solidFill>
                <a:latin typeface="Arial"/>
              </a:rPr>
              <a:t> + Cryptography Registry  ·  ReportLab board PDF  ·  zero-build HTML / JS / Canvas dashboard  ·  pytest ×140  ·  Playwright headless-Chromium UI tests</a:t>
            </a:r>
          </a:p>
        </p:txBody>
      </p:sp>
      <p:sp>
        <p:nvSpPr>
          <p:cNvPr id="17424" name="TextBox 17423"/>
          <p:cNvSpPr txBox="1"/>
          <p:nvPr/>
        </p:nvSpPr>
        <p:spPr>
          <a:xfrm>
            <a:off x="274320" y="2670048"/>
            <a:ext cx="11640312" cy="201168"/>
          </a:xfrm>
          <a:prstGeom prst="rect">
            <a:avLst/>
          </a:prstGeom>
          <a:noFill/>
        </p:spPr>
        <p:txBody>
          <a:bodyPr wrap="square" lIns="0" rIns="0" tIns="0" bIns="0" anchor="t">
            <a:noAutofit/>
          </a:bodyPr>
          <a:lstStyle/>
          <a:p>
            <a:pPr algn="l">
              <a:lnSpc>
                <a:spcPct val="100000"/>
              </a:lnSpc>
              <a:spcBef>
                <a:spcPts val="0"/>
              </a:spcBef>
              <a:spcAft>
                <a:spcPts val="0"/>
              </a:spcAft>
            </a:pPr>
            <a:r>
              <a:rPr sz="840" b="1" i="0">
                <a:solidFill>
                  <a:srgbClr val="5A6B7C"/>
                </a:solidFill>
                <a:latin typeface="Arial"/>
              </a:rPr>
              <a:t>Hardware: none.</a:t>
            </a:r>
            <a:r>
              <a:rPr sz="840" b="0" i="0">
                <a:solidFill>
                  <a:srgbClr val="5A6B7C"/>
                </a:solidFill>
                <a:latin typeface="Arial"/>
              </a:rPr>
              <a:t> Runs offline on a laptop — no GPU, no cluster, no agent, no external service; nothing scanned ever leaves the machine.</a:t>
            </a:r>
          </a:p>
        </p:txBody>
      </p:sp>
      <p:sp>
        <p:nvSpPr>
          <p:cNvPr id="17425" name="Rectangle 17424"/>
          <p:cNvSpPr/>
          <p:nvPr/>
        </p:nvSpPr>
        <p:spPr>
          <a:xfrm>
            <a:off x="274320" y="3186684"/>
            <a:ext cx="11640312" cy="16459"/>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6" name="TextBox 17425"/>
          <p:cNvSpPr txBox="1"/>
          <p:nvPr/>
        </p:nvSpPr>
        <p:spPr>
          <a:xfrm>
            <a:off x="274320" y="2926080"/>
            <a:ext cx="11640312" cy="265176"/>
          </a:xfrm>
          <a:prstGeom prst="rect">
            <a:avLst/>
          </a:prstGeom>
          <a:noFill/>
        </p:spPr>
        <p:txBody>
          <a:bodyPr wrap="square" lIns="0" rIns="0" tIns="0" bIns="0" anchor="b">
            <a:noAutofit/>
          </a:bodyPr>
          <a:lstStyle/>
          <a:p>
            <a:pPr algn="l">
              <a:lnSpc>
                <a:spcPct val="100000"/>
              </a:lnSpc>
              <a:spcBef>
                <a:spcPts val="0"/>
              </a:spcBef>
              <a:spcAft>
                <a:spcPts val="0"/>
              </a:spcAft>
            </a:pPr>
            <a:r>
              <a:rPr sz="1250" b="1" i="0">
                <a:solidFill>
                  <a:srgbClr val="1F497D"/>
                </a:solidFill>
                <a:latin typeface="Arial"/>
              </a:rPr>
              <a:t>Methodology and process for implementation (Flow Charts/Images/ working prototype)</a:t>
            </a:r>
          </a:p>
        </p:txBody>
      </p:sp>
      <p:sp>
        <p:nvSpPr>
          <p:cNvPr id="17427" name="Rounded Rectangle 17426"/>
          <p:cNvSpPr/>
          <p:nvPr/>
        </p:nvSpPr>
        <p:spPr>
          <a:xfrm>
            <a:off x="274320" y="3291840"/>
            <a:ext cx="1879092" cy="804672"/>
          </a:xfrm>
          <a:prstGeom prst="roundRect">
            <a:avLst>
              <a:gd name="adj" fmla="val 11363"/>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8" name="Rounded Rectangle 17427"/>
          <p:cNvSpPr/>
          <p:nvPr/>
        </p:nvSpPr>
        <p:spPr>
          <a:xfrm>
            <a:off x="274320" y="3291840"/>
            <a:ext cx="1879092" cy="224028"/>
          </a:xfrm>
          <a:prstGeom prst="roundRect">
            <a:avLst>
              <a:gd name="adj" fmla="val 40816"/>
            </a:avLst>
          </a:prstGeom>
          <a:solidFill>
            <a:srgbClr val="12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9" name="TextBox 17428"/>
          <p:cNvSpPr txBox="1"/>
          <p:nvPr/>
        </p:nvSpPr>
        <p:spPr>
          <a:xfrm>
            <a:off x="329184" y="3305556"/>
            <a:ext cx="1769364" cy="196596"/>
          </a:xfrm>
          <a:prstGeom prst="rect">
            <a:avLst/>
          </a:prstGeom>
          <a:noFill/>
        </p:spPr>
        <p:txBody>
          <a:bodyPr wrap="square" lIns="0" rIns="0" tIns="0" bIns="0" anchor="ctr">
            <a:noAutofit/>
          </a:bodyPr>
          <a:lstStyle/>
          <a:p>
            <a:pPr algn="ctr">
              <a:lnSpc>
                <a:spcPct val="100000"/>
              </a:lnSpc>
              <a:spcBef>
                <a:spcPts val="0"/>
              </a:spcBef>
              <a:spcAft>
                <a:spcPts val="0"/>
              </a:spcAft>
            </a:pPr>
            <a:r>
              <a:rPr sz="840" b="1" i="0">
                <a:solidFill>
                  <a:srgbClr val="FFFFFF"/>
                </a:solidFill>
                <a:latin typeface="Arial"/>
              </a:rPr>
              <a:t>1  INGEST</a:t>
            </a:r>
          </a:p>
        </p:txBody>
      </p:sp>
      <p:sp>
        <p:nvSpPr>
          <p:cNvPr id="17430" name="TextBox 17429"/>
          <p:cNvSpPr txBox="1"/>
          <p:nvPr/>
        </p:nvSpPr>
        <p:spPr>
          <a:xfrm>
            <a:off x="356616" y="3552444"/>
            <a:ext cx="1714500" cy="512064"/>
          </a:xfrm>
          <a:prstGeom prst="rect">
            <a:avLst/>
          </a:prstGeom>
          <a:noFill/>
        </p:spPr>
        <p:txBody>
          <a:bodyPr wrap="square" lIns="0" rIns="0" tIns="0" bIns="0" anchor="t">
            <a:noAutofit/>
          </a:bodyPr>
          <a:lstStyle/>
          <a:p>
            <a:pPr algn="l">
              <a:lnSpc>
                <a:spcPct val="100000"/>
              </a:lnSpc>
              <a:spcBef>
                <a:spcPts val="0"/>
              </a:spcBef>
              <a:spcAft>
                <a:spcPts val="0"/>
              </a:spcAft>
            </a:pPr>
            <a:r>
              <a:rPr sz="750" b="0" i="0">
                <a:solidFill>
                  <a:srgbClr val="1F2933"/>
                </a:solidFill>
                <a:latin typeface="Arial"/>
              </a:rPr>
              <a:t>zip upload or public repo URL — path-traversal, zip-bomb, symlink and SSRF gated at the edge</a:t>
            </a:r>
          </a:p>
        </p:txBody>
      </p:sp>
      <p:sp>
        <p:nvSpPr>
          <p:cNvPr id="17431" name="TextBox 17430"/>
          <p:cNvSpPr txBox="1"/>
          <p:nvPr/>
        </p:nvSpPr>
        <p:spPr>
          <a:xfrm>
            <a:off x="2135124" y="3593592"/>
            <a:ext cx="105155" cy="201168"/>
          </a:xfrm>
          <a:prstGeom prst="rect">
            <a:avLst/>
          </a:prstGeom>
          <a:noFill/>
        </p:spPr>
        <p:txBody>
          <a:bodyPr wrap="square" lIns="0" rIns="0" tIns="0" bIns="0" anchor="t">
            <a:noAutofit/>
          </a:bodyPr>
          <a:lstStyle/>
          <a:p>
            <a:pPr algn="ctr">
              <a:lnSpc>
                <a:spcPct val="100000"/>
              </a:lnSpc>
              <a:spcBef>
                <a:spcPts val="0"/>
              </a:spcBef>
              <a:spcAft>
                <a:spcPts val="0"/>
              </a:spcAft>
            </a:pPr>
            <a:r>
              <a:rPr sz="1300" b="0" i="0">
                <a:solidFill>
                  <a:srgbClr val="5A6B7C"/>
                </a:solidFill>
                <a:latin typeface="Arial"/>
              </a:rPr>
              <a:t>›</a:t>
            </a:r>
          </a:p>
        </p:txBody>
      </p:sp>
      <p:sp>
        <p:nvSpPr>
          <p:cNvPr id="17432" name="Rounded Rectangle 17431"/>
          <p:cNvSpPr/>
          <p:nvPr/>
        </p:nvSpPr>
        <p:spPr>
          <a:xfrm>
            <a:off x="2221992" y="3291840"/>
            <a:ext cx="1879092" cy="804672"/>
          </a:xfrm>
          <a:prstGeom prst="roundRect">
            <a:avLst>
              <a:gd name="adj" fmla="val 11363"/>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3" name="Rounded Rectangle 17432"/>
          <p:cNvSpPr/>
          <p:nvPr/>
        </p:nvSpPr>
        <p:spPr>
          <a:xfrm>
            <a:off x="2221992" y="3291840"/>
            <a:ext cx="1879092" cy="224028"/>
          </a:xfrm>
          <a:prstGeom prst="roundRect">
            <a:avLst>
              <a:gd name="adj" fmla="val 40816"/>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4" name="TextBox 17433"/>
          <p:cNvSpPr txBox="1"/>
          <p:nvPr/>
        </p:nvSpPr>
        <p:spPr>
          <a:xfrm>
            <a:off x="2276856" y="3305556"/>
            <a:ext cx="1769364" cy="196596"/>
          </a:xfrm>
          <a:prstGeom prst="rect">
            <a:avLst/>
          </a:prstGeom>
          <a:noFill/>
        </p:spPr>
        <p:txBody>
          <a:bodyPr wrap="square" lIns="0" rIns="0" tIns="0" bIns="0" anchor="ctr">
            <a:noAutofit/>
          </a:bodyPr>
          <a:lstStyle/>
          <a:p>
            <a:pPr algn="ctr">
              <a:lnSpc>
                <a:spcPct val="100000"/>
              </a:lnSpc>
              <a:spcBef>
                <a:spcPts val="0"/>
              </a:spcBef>
              <a:spcAft>
                <a:spcPts val="0"/>
              </a:spcAft>
            </a:pPr>
            <a:r>
              <a:rPr sz="840" b="1" i="0">
                <a:solidFill>
                  <a:srgbClr val="FFFFFF"/>
                </a:solidFill>
                <a:latin typeface="Arial"/>
              </a:rPr>
              <a:t>2  SCAN</a:t>
            </a:r>
          </a:p>
        </p:txBody>
      </p:sp>
      <p:sp>
        <p:nvSpPr>
          <p:cNvPr id="17435" name="TextBox 17434"/>
          <p:cNvSpPr txBox="1"/>
          <p:nvPr/>
        </p:nvSpPr>
        <p:spPr>
          <a:xfrm>
            <a:off x="2304288" y="3552444"/>
            <a:ext cx="1714500" cy="512064"/>
          </a:xfrm>
          <a:prstGeom prst="rect">
            <a:avLst/>
          </a:prstGeom>
          <a:noFill/>
        </p:spPr>
        <p:txBody>
          <a:bodyPr wrap="square" lIns="0" rIns="0" tIns="0" bIns="0" anchor="t">
            <a:noAutofit/>
          </a:bodyPr>
          <a:lstStyle/>
          <a:p>
            <a:pPr algn="l">
              <a:lnSpc>
                <a:spcPct val="100000"/>
              </a:lnSpc>
              <a:spcBef>
                <a:spcPts val="0"/>
              </a:spcBef>
              <a:spcAft>
                <a:spcPts val="0"/>
              </a:spcAft>
            </a:pPr>
            <a:r>
              <a:rPr sz="750" b="0" i="0">
                <a:solidFill>
                  <a:srgbClr val="1F2933"/>
                </a:solidFill>
                <a:latin typeface="Arial"/>
              </a:rPr>
              <a:t>six scanners run independently; one failure degrades that source, never aborts the run</a:t>
            </a:r>
          </a:p>
        </p:txBody>
      </p:sp>
      <p:sp>
        <p:nvSpPr>
          <p:cNvPr id="17436" name="TextBox 17435"/>
          <p:cNvSpPr txBox="1"/>
          <p:nvPr/>
        </p:nvSpPr>
        <p:spPr>
          <a:xfrm>
            <a:off x="4082796" y="3593592"/>
            <a:ext cx="105155" cy="201168"/>
          </a:xfrm>
          <a:prstGeom prst="rect">
            <a:avLst/>
          </a:prstGeom>
          <a:noFill/>
        </p:spPr>
        <p:txBody>
          <a:bodyPr wrap="square" lIns="0" rIns="0" tIns="0" bIns="0" anchor="t">
            <a:noAutofit/>
          </a:bodyPr>
          <a:lstStyle/>
          <a:p>
            <a:pPr algn="ctr">
              <a:lnSpc>
                <a:spcPct val="100000"/>
              </a:lnSpc>
              <a:spcBef>
                <a:spcPts val="0"/>
              </a:spcBef>
              <a:spcAft>
                <a:spcPts val="0"/>
              </a:spcAft>
            </a:pPr>
            <a:r>
              <a:rPr sz="1300" b="0" i="0">
                <a:solidFill>
                  <a:srgbClr val="5A6B7C"/>
                </a:solidFill>
                <a:latin typeface="Arial"/>
              </a:rPr>
              <a:t>›</a:t>
            </a:r>
          </a:p>
        </p:txBody>
      </p:sp>
      <p:sp>
        <p:nvSpPr>
          <p:cNvPr id="17437" name="Rounded Rectangle 17436"/>
          <p:cNvSpPr/>
          <p:nvPr/>
        </p:nvSpPr>
        <p:spPr>
          <a:xfrm>
            <a:off x="4169664" y="3291840"/>
            <a:ext cx="1879092" cy="804672"/>
          </a:xfrm>
          <a:prstGeom prst="roundRect">
            <a:avLst>
              <a:gd name="adj" fmla="val 11363"/>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8" name="Rounded Rectangle 17437"/>
          <p:cNvSpPr/>
          <p:nvPr/>
        </p:nvSpPr>
        <p:spPr>
          <a:xfrm>
            <a:off x="4169664" y="3291840"/>
            <a:ext cx="1879092" cy="224028"/>
          </a:xfrm>
          <a:prstGeom prst="roundRect">
            <a:avLst>
              <a:gd name="adj" fmla="val 40816"/>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9" name="TextBox 17438"/>
          <p:cNvSpPr txBox="1"/>
          <p:nvPr/>
        </p:nvSpPr>
        <p:spPr>
          <a:xfrm>
            <a:off x="4224528" y="3305556"/>
            <a:ext cx="1769364" cy="196596"/>
          </a:xfrm>
          <a:prstGeom prst="rect">
            <a:avLst/>
          </a:prstGeom>
          <a:noFill/>
        </p:spPr>
        <p:txBody>
          <a:bodyPr wrap="square" lIns="0" rIns="0" tIns="0" bIns="0" anchor="ctr">
            <a:noAutofit/>
          </a:bodyPr>
          <a:lstStyle/>
          <a:p>
            <a:pPr algn="ctr">
              <a:lnSpc>
                <a:spcPct val="100000"/>
              </a:lnSpc>
              <a:spcBef>
                <a:spcPts val="0"/>
              </a:spcBef>
              <a:spcAft>
                <a:spcPts val="0"/>
              </a:spcAft>
            </a:pPr>
            <a:r>
              <a:rPr sz="840" b="1" i="0">
                <a:solidFill>
                  <a:srgbClr val="FFFFFF"/>
                </a:solidFill>
                <a:latin typeface="Arial"/>
              </a:rPr>
              <a:t>3  INVENTORY</a:t>
            </a:r>
          </a:p>
        </p:txBody>
      </p:sp>
      <p:sp>
        <p:nvSpPr>
          <p:cNvPr id="17440" name="TextBox 17439"/>
          <p:cNvSpPr txBox="1"/>
          <p:nvPr/>
        </p:nvSpPr>
        <p:spPr>
          <a:xfrm>
            <a:off x="4251960" y="3552444"/>
            <a:ext cx="1714500" cy="512064"/>
          </a:xfrm>
          <a:prstGeom prst="rect">
            <a:avLst/>
          </a:prstGeom>
          <a:noFill/>
        </p:spPr>
        <p:txBody>
          <a:bodyPr wrap="square" lIns="0" rIns="0" tIns="0" bIns="0" anchor="t">
            <a:noAutofit/>
          </a:bodyPr>
          <a:lstStyle/>
          <a:p>
            <a:pPr algn="l">
              <a:lnSpc>
                <a:spcPct val="100000"/>
              </a:lnSpc>
              <a:spcBef>
                <a:spcPts val="0"/>
              </a:spcBef>
              <a:spcAft>
                <a:spcPts val="0"/>
              </a:spcAft>
            </a:pPr>
            <a:r>
              <a:rPr sz="750" b="0" i="0">
                <a:solidFill>
                  <a:srgbClr val="1F2933"/>
                </a:solidFill>
                <a:latin typeface="Arial"/>
              </a:rPr>
              <a:t>cross-source identity merge and de-duplication — 181 raw findings → 144 real assets</a:t>
            </a:r>
          </a:p>
        </p:txBody>
      </p:sp>
      <p:sp>
        <p:nvSpPr>
          <p:cNvPr id="17441" name="TextBox 17440"/>
          <p:cNvSpPr txBox="1"/>
          <p:nvPr/>
        </p:nvSpPr>
        <p:spPr>
          <a:xfrm>
            <a:off x="6030468" y="3593592"/>
            <a:ext cx="105155" cy="201168"/>
          </a:xfrm>
          <a:prstGeom prst="rect">
            <a:avLst/>
          </a:prstGeom>
          <a:noFill/>
        </p:spPr>
        <p:txBody>
          <a:bodyPr wrap="square" lIns="0" rIns="0" tIns="0" bIns="0" anchor="t">
            <a:noAutofit/>
          </a:bodyPr>
          <a:lstStyle/>
          <a:p>
            <a:pPr algn="ctr">
              <a:lnSpc>
                <a:spcPct val="100000"/>
              </a:lnSpc>
              <a:spcBef>
                <a:spcPts val="0"/>
              </a:spcBef>
              <a:spcAft>
                <a:spcPts val="0"/>
              </a:spcAft>
            </a:pPr>
            <a:r>
              <a:rPr sz="1300" b="0" i="0">
                <a:solidFill>
                  <a:srgbClr val="5A6B7C"/>
                </a:solidFill>
                <a:latin typeface="Arial"/>
              </a:rPr>
              <a:t>›</a:t>
            </a:r>
          </a:p>
        </p:txBody>
      </p:sp>
      <p:sp>
        <p:nvSpPr>
          <p:cNvPr id="17442" name="Rounded Rectangle 17441"/>
          <p:cNvSpPr/>
          <p:nvPr/>
        </p:nvSpPr>
        <p:spPr>
          <a:xfrm>
            <a:off x="6117336" y="3291840"/>
            <a:ext cx="1879092" cy="804672"/>
          </a:xfrm>
          <a:prstGeom prst="roundRect">
            <a:avLst>
              <a:gd name="adj" fmla="val 11363"/>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3" name="Rounded Rectangle 17442"/>
          <p:cNvSpPr/>
          <p:nvPr/>
        </p:nvSpPr>
        <p:spPr>
          <a:xfrm>
            <a:off x="6117336" y="3291840"/>
            <a:ext cx="1879092" cy="224028"/>
          </a:xfrm>
          <a:prstGeom prst="roundRect">
            <a:avLst>
              <a:gd name="adj" fmla="val 40816"/>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4" name="TextBox 17443"/>
          <p:cNvSpPr txBox="1"/>
          <p:nvPr/>
        </p:nvSpPr>
        <p:spPr>
          <a:xfrm>
            <a:off x="6172200" y="3305556"/>
            <a:ext cx="1769364" cy="196596"/>
          </a:xfrm>
          <a:prstGeom prst="rect">
            <a:avLst/>
          </a:prstGeom>
          <a:noFill/>
        </p:spPr>
        <p:txBody>
          <a:bodyPr wrap="square" lIns="0" rIns="0" tIns="0" bIns="0" anchor="ctr">
            <a:noAutofit/>
          </a:bodyPr>
          <a:lstStyle/>
          <a:p>
            <a:pPr algn="ctr">
              <a:lnSpc>
                <a:spcPct val="100000"/>
              </a:lnSpc>
              <a:spcBef>
                <a:spcPts val="0"/>
              </a:spcBef>
              <a:spcAft>
                <a:spcPts val="0"/>
              </a:spcAft>
            </a:pPr>
            <a:r>
              <a:rPr sz="840" b="1" i="0">
                <a:solidFill>
                  <a:srgbClr val="FFFFFF"/>
                </a:solidFill>
                <a:latin typeface="Arial"/>
              </a:rPr>
              <a:t>4  ASSESS</a:t>
            </a:r>
          </a:p>
        </p:txBody>
      </p:sp>
      <p:sp>
        <p:nvSpPr>
          <p:cNvPr id="17445" name="TextBox 17444"/>
          <p:cNvSpPr txBox="1"/>
          <p:nvPr/>
        </p:nvSpPr>
        <p:spPr>
          <a:xfrm>
            <a:off x="6199632" y="3552444"/>
            <a:ext cx="1714500" cy="512064"/>
          </a:xfrm>
          <a:prstGeom prst="rect">
            <a:avLst/>
          </a:prstGeom>
          <a:noFill/>
        </p:spPr>
        <p:txBody>
          <a:bodyPr wrap="square" lIns="0" rIns="0" tIns="0" bIns="0" anchor="t">
            <a:noAutofit/>
          </a:bodyPr>
          <a:lstStyle/>
          <a:p>
            <a:pPr algn="l">
              <a:lnSpc>
                <a:spcPct val="100000"/>
              </a:lnSpc>
              <a:spcBef>
                <a:spcPts val="0"/>
              </a:spcBef>
              <a:spcAft>
                <a:spcPts val="0"/>
              </a:spcAft>
            </a:pPr>
            <a:r>
              <a:rPr sz="750" b="0" i="0">
                <a:solidFill>
                  <a:srgbClr val="1F2933"/>
                </a:solidFill>
                <a:latin typeface="Arial"/>
              </a:rPr>
              <a:t>Shor-broken / classically broken / deprecated, plus the NIST IR 8547 and CNSA 2.0 deadlines</a:t>
            </a:r>
          </a:p>
        </p:txBody>
      </p:sp>
      <p:sp>
        <p:nvSpPr>
          <p:cNvPr id="17446" name="TextBox 17445"/>
          <p:cNvSpPr txBox="1"/>
          <p:nvPr/>
        </p:nvSpPr>
        <p:spPr>
          <a:xfrm>
            <a:off x="7978140" y="3593592"/>
            <a:ext cx="105155" cy="201168"/>
          </a:xfrm>
          <a:prstGeom prst="rect">
            <a:avLst/>
          </a:prstGeom>
          <a:noFill/>
        </p:spPr>
        <p:txBody>
          <a:bodyPr wrap="square" lIns="0" rIns="0" tIns="0" bIns="0" anchor="t">
            <a:noAutofit/>
          </a:bodyPr>
          <a:lstStyle/>
          <a:p>
            <a:pPr algn="ctr">
              <a:lnSpc>
                <a:spcPct val="100000"/>
              </a:lnSpc>
              <a:spcBef>
                <a:spcPts val="0"/>
              </a:spcBef>
              <a:spcAft>
                <a:spcPts val="0"/>
              </a:spcAft>
            </a:pPr>
            <a:r>
              <a:rPr sz="1300" b="0" i="0">
                <a:solidFill>
                  <a:srgbClr val="5A6B7C"/>
                </a:solidFill>
                <a:latin typeface="Arial"/>
              </a:rPr>
              <a:t>›</a:t>
            </a:r>
          </a:p>
        </p:txBody>
      </p:sp>
      <p:sp>
        <p:nvSpPr>
          <p:cNvPr id="17447" name="Rounded Rectangle 17446"/>
          <p:cNvSpPr/>
          <p:nvPr/>
        </p:nvSpPr>
        <p:spPr>
          <a:xfrm>
            <a:off x="8065008" y="3291840"/>
            <a:ext cx="1879092" cy="804672"/>
          </a:xfrm>
          <a:prstGeom prst="roundRect">
            <a:avLst>
              <a:gd name="adj" fmla="val 11363"/>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8" name="Rounded Rectangle 17447"/>
          <p:cNvSpPr/>
          <p:nvPr/>
        </p:nvSpPr>
        <p:spPr>
          <a:xfrm>
            <a:off x="8065008" y="3291840"/>
            <a:ext cx="1879092" cy="224028"/>
          </a:xfrm>
          <a:prstGeom prst="roundRect">
            <a:avLst>
              <a:gd name="adj" fmla="val 40816"/>
            </a:avLst>
          </a:prstGeom>
          <a:solidFill>
            <a:srgbClr val="B977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9" name="TextBox 17448"/>
          <p:cNvSpPr txBox="1"/>
          <p:nvPr/>
        </p:nvSpPr>
        <p:spPr>
          <a:xfrm>
            <a:off x="8119872" y="3305556"/>
            <a:ext cx="1769364" cy="196596"/>
          </a:xfrm>
          <a:prstGeom prst="rect">
            <a:avLst/>
          </a:prstGeom>
          <a:noFill/>
        </p:spPr>
        <p:txBody>
          <a:bodyPr wrap="square" lIns="0" rIns="0" tIns="0" bIns="0" anchor="ctr">
            <a:noAutofit/>
          </a:bodyPr>
          <a:lstStyle/>
          <a:p>
            <a:pPr algn="ctr">
              <a:lnSpc>
                <a:spcPct val="100000"/>
              </a:lnSpc>
              <a:spcBef>
                <a:spcPts val="0"/>
              </a:spcBef>
              <a:spcAft>
                <a:spcPts val="0"/>
              </a:spcAft>
            </a:pPr>
            <a:r>
              <a:rPr sz="840" b="1" i="0">
                <a:solidFill>
                  <a:srgbClr val="FFFFFF"/>
                </a:solidFill>
                <a:latin typeface="Arial"/>
              </a:rPr>
              <a:t>5  CLASSIFY</a:t>
            </a:r>
          </a:p>
        </p:txBody>
      </p:sp>
      <p:sp>
        <p:nvSpPr>
          <p:cNvPr id="17450" name="TextBox 17449"/>
          <p:cNvSpPr txBox="1"/>
          <p:nvPr/>
        </p:nvSpPr>
        <p:spPr>
          <a:xfrm>
            <a:off x="8147304" y="3552444"/>
            <a:ext cx="1714500" cy="512064"/>
          </a:xfrm>
          <a:prstGeom prst="rect">
            <a:avLst/>
          </a:prstGeom>
          <a:noFill/>
        </p:spPr>
        <p:txBody>
          <a:bodyPr wrap="square" lIns="0" rIns="0" tIns="0" bIns="0" anchor="t">
            <a:noAutofit/>
          </a:bodyPr>
          <a:lstStyle/>
          <a:p>
            <a:pPr algn="l">
              <a:lnSpc>
                <a:spcPct val="100000"/>
              </a:lnSpc>
              <a:spcBef>
                <a:spcPts val="0"/>
              </a:spcBef>
              <a:spcAft>
                <a:spcPts val="0"/>
              </a:spcAft>
            </a:pPr>
            <a:r>
              <a:rPr sz="750" b="0" i="0">
                <a:solidFill>
                  <a:srgbClr val="1F2933"/>
                </a:solidFill>
                <a:latin typeface="Arial"/>
              </a:rPr>
              <a:t>risk = vulnerability × timing × HNDL, weighted by business criticality</a:t>
            </a:r>
          </a:p>
        </p:txBody>
      </p:sp>
      <p:sp>
        <p:nvSpPr>
          <p:cNvPr id="17451" name="TextBox 17450"/>
          <p:cNvSpPr txBox="1"/>
          <p:nvPr/>
        </p:nvSpPr>
        <p:spPr>
          <a:xfrm>
            <a:off x="9925812" y="3593592"/>
            <a:ext cx="105155" cy="201168"/>
          </a:xfrm>
          <a:prstGeom prst="rect">
            <a:avLst/>
          </a:prstGeom>
          <a:noFill/>
        </p:spPr>
        <p:txBody>
          <a:bodyPr wrap="square" lIns="0" rIns="0" tIns="0" bIns="0" anchor="t">
            <a:noAutofit/>
          </a:bodyPr>
          <a:lstStyle/>
          <a:p>
            <a:pPr algn="ctr">
              <a:lnSpc>
                <a:spcPct val="100000"/>
              </a:lnSpc>
              <a:spcBef>
                <a:spcPts val="0"/>
              </a:spcBef>
              <a:spcAft>
                <a:spcPts val="0"/>
              </a:spcAft>
            </a:pPr>
            <a:r>
              <a:rPr sz="1300" b="0" i="0">
                <a:solidFill>
                  <a:srgbClr val="5A6B7C"/>
                </a:solidFill>
                <a:latin typeface="Arial"/>
              </a:rPr>
              <a:t>›</a:t>
            </a:r>
          </a:p>
        </p:txBody>
      </p:sp>
      <p:sp>
        <p:nvSpPr>
          <p:cNvPr id="17452" name="Rounded Rectangle 17451"/>
          <p:cNvSpPr/>
          <p:nvPr/>
        </p:nvSpPr>
        <p:spPr>
          <a:xfrm>
            <a:off x="10012680" y="3291840"/>
            <a:ext cx="1879092" cy="804672"/>
          </a:xfrm>
          <a:prstGeom prst="roundRect">
            <a:avLst>
              <a:gd name="adj" fmla="val 11363"/>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3" name="Rounded Rectangle 17452"/>
          <p:cNvSpPr/>
          <p:nvPr/>
        </p:nvSpPr>
        <p:spPr>
          <a:xfrm>
            <a:off x="10012680" y="3291840"/>
            <a:ext cx="1879092" cy="224028"/>
          </a:xfrm>
          <a:prstGeom prst="roundRect">
            <a:avLst>
              <a:gd name="adj" fmla="val 40816"/>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4" name="TextBox 17453"/>
          <p:cNvSpPr txBox="1"/>
          <p:nvPr/>
        </p:nvSpPr>
        <p:spPr>
          <a:xfrm>
            <a:off x="10067544" y="3305556"/>
            <a:ext cx="1769364" cy="196596"/>
          </a:xfrm>
          <a:prstGeom prst="rect">
            <a:avLst/>
          </a:prstGeom>
          <a:noFill/>
        </p:spPr>
        <p:txBody>
          <a:bodyPr wrap="square" lIns="0" rIns="0" tIns="0" bIns="0" anchor="ctr">
            <a:noAutofit/>
          </a:bodyPr>
          <a:lstStyle/>
          <a:p>
            <a:pPr algn="ctr">
              <a:lnSpc>
                <a:spcPct val="100000"/>
              </a:lnSpc>
              <a:spcBef>
                <a:spcPts val="0"/>
              </a:spcBef>
              <a:spcAft>
                <a:spcPts val="0"/>
              </a:spcAft>
            </a:pPr>
            <a:r>
              <a:rPr sz="840" b="1" i="0">
                <a:solidFill>
                  <a:srgbClr val="FFFFFF"/>
                </a:solidFill>
                <a:latin typeface="Arial"/>
              </a:rPr>
              <a:t>6  DELIVER</a:t>
            </a:r>
          </a:p>
        </p:txBody>
      </p:sp>
      <p:sp>
        <p:nvSpPr>
          <p:cNvPr id="17455" name="TextBox 17454"/>
          <p:cNvSpPr txBox="1"/>
          <p:nvPr/>
        </p:nvSpPr>
        <p:spPr>
          <a:xfrm>
            <a:off x="10094976" y="3552444"/>
            <a:ext cx="1714500" cy="512064"/>
          </a:xfrm>
          <a:prstGeom prst="rect">
            <a:avLst/>
          </a:prstGeom>
          <a:noFill/>
        </p:spPr>
        <p:txBody>
          <a:bodyPr wrap="square" lIns="0" rIns="0" tIns="0" bIns="0" anchor="t">
            <a:noAutofit/>
          </a:bodyPr>
          <a:lstStyle/>
          <a:p>
            <a:pPr algn="l">
              <a:lnSpc>
                <a:spcPct val="100000"/>
              </a:lnSpc>
              <a:spcBef>
                <a:spcPts val="0"/>
              </a:spcBef>
              <a:spcAft>
                <a:spcPts val="0"/>
              </a:spcAft>
            </a:pPr>
            <a:r>
              <a:rPr sz="750" b="0" i="0">
                <a:solidFill>
                  <a:srgbClr val="1F2933"/>
                </a:solidFill>
                <a:latin typeface="Arial"/>
              </a:rPr>
              <a:t>dashboard, CycloneDX 1.7 CBOM, board PDF, drift diff between two scans</a:t>
            </a:r>
          </a:p>
        </p:txBody>
      </p:sp>
      <p:pic>
        <p:nvPicPr>
          <p:cNvPr id="17456" name="Picture 17455" descr="graph.png"/>
          <p:cNvPicPr>
            <a:picLocks noChangeAspect="1"/>
          </p:cNvPicPr>
          <p:nvPr/>
        </p:nvPicPr>
        <p:blipFill>
          <a:blip r:embed="rId4"/>
          <a:stretch>
            <a:fillRect/>
          </a:stretch>
        </p:blipFill>
        <p:spPr>
          <a:xfrm>
            <a:off x="274320" y="4206240"/>
            <a:ext cx="5742432" cy="1783080"/>
          </a:xfrm>
          <a:prstGeom prst="rect">
            <a:avLst/>
          </a:prstGeom>
        </p:spPr>
      </p:pic>
      <p:sp>
        <p:nvSpPr>
          <p:cNvPr id="17457" name="TextBox 17456"/>
          <p:cNvSpPr txBox="1"/>
          <p:nvPr/>
        </p:nvSpPr>
        <p:spPr>
          <a:xfrm>
            <a:off x="274320" y="5998464"/>
            <a:ext cx="5742432" cy="219456"/>
          </a:xfrm>
          <a:prstGeom prst="rect">
            <a:avLst/>
          </a:prstGeom>
          <a:noFill/>
        </p:spPr>
        <p:txBody>
          <a:bodyPr wrap="square" lIns="0" rIns="0" tIns="0" bIns="0" anchor="t">
            <a:noAutofit/>
          </a:bodyPr>
          <a:lstStyle/>
          <a:p>
            <a:pPr algn="ctr">
              <a:lnSpc>
                <a:spcPct val="100000"/>
              </a:lnSpc>
              <a:spcBef>
                <a:spcPts val="0"/>
              </a:spcBef>
              <a:spcAft>
                <a:spcPts val="0"/>
              </a:spcAft>
            </a:pPr>
            <a:r>
              <a:rPr sz="800" b="0" i="0">
                <a:solidFill>
                  <a:srgbClr val="5A6B7C"/>
                </a:solidFill>
                <a:latin typeface="Arial"/>
              </a:rPr>
              <a:t>Asset graph — blast radius. 76 nodes, 79 low-priority assets clustered so all 144 stay represented, never truncated.</a:t>
            </a:r>
          </a:p>
        </p:txBody>
      </p:sp>
      <p:pic>
        <p:nvPicPr>
          <p:cNvPr id="17458" name="Picture 17457" descr="inventory.png"/>
          <p:cNvPicPr>
            <a:picLocks noChangeAspect="1"/>
          </p:cNvPicPr>
          <p:nvPr/>
        </p:nvPicPr>
        <p:blipFill>
          <a:blip r:embed="rId5"/>
          <a:stretch>
            <a:fillRect/>
          </a:stretch>
        </p:blipFill>
        <p:spPr>
          <a:xfrm>
            <a:off x="6172200" y="4206240"/>
            <a:ext cx="5742432" cy="1783080"/>
          </a:xfrm>
          <a:prstGeom prst="rect">
            <a:avLst/>
          </a:prstGeom>
        </p:spPr>
      </p:pic>
      <p:sp>
        <p:nvSpPr>
          <p:cNvPr id="17459" name="TextBox 17458"/>
          <p:cNvSpPr txBox="1"/>
          <p:nvPr/>
        </p:nvSpPr>
        <p:spPr>
          <a:xfrm>
            <a:off x="6172200" y="5998464"/>
            <a:ext cx="5742432" cy="219456"/>
          </a:xfrm>
          <a:prstGeom prst="rect">
            <a:avLst/>
          </a:prstGeom>
          <a:noFill/>
        </p:spPr>
        <p:txBody>
          <a:bodyPr wrap="square" lIns="0" rIns="0" tIns="0" bIns="0" anchor="t">
            <a:noAutofit/>
          </a:bodyPr>
          <a:lstStyle/>
          <a:p>
            <a:pPr algn="ctr">
              <a:lnSpc>
                <a:spcPct val="100000"/>
              </a:lnSpc>
              <a:spcBef>
                <a:spcPts val="0"/>
              </a:spcBef>
              <a:spcAft>
                <a:spcPts val="0"/>
              </a:spcAft>
            </a:pPr>
            <a:r>
              <a:rPr sz="800" b="0" i="0">
                <a:solidFill>
                  <a:srgbClr val="5A6B7C"/>
                </a:solidFill>
                <a:latin typeface="Arial"/>
              </a:rPr>
              <a:t>Inventory explorer — every asset traceable to its source, its confidence band and an exact file:line for evidence.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1">
                <a:solidFill>
                  <a:srgbClr val="1F497D"/>
                </a:solidFill>
              </a:rPr>
              <a:t>Team Nexus</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Rectangle 17409"/>
          <p:cNvSpPr/>
          <p:nvPr/>
        </p:nvSpPr>
        <p:spPr>
          <a:xfrm>
            <a:off x="274320" y="1321307"/>
            <a:ext cx="11640312" cy="16459"/>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1" name="TextBox 17410"/>
          <p:cNvSpPr txBox="1"/>
          <p:nvPr/>
        </p:nvSpPr>
        <p:spPr>
          <a:xfrm>
            <a:off x="274320" y="1060704"/>
            <a:ext cx="11640312" cy="265176"/>
          </a:xfrm>
          <a:prstGeom prst="rect">
            <a:avLst/>
          </a:prstGeom>
          <a:noFill/>
        </p:spPr>
        <p:txBody>
          <a:bodyPr wrap="square" lIns="0" rIns="0" tIns="0" bIns="0" anchor="b">
            <a:noAutofit/>
          </a:bodyPr>
          <a:lstStyle/>
          <a:p>
            <a:pPr algn="l">
              <a:lnSpc>
                <a:spcPct val="100000"/>
              </a:lnSpc>
              <a:spcBef>
                <a:spcPts val="0"/>
              </a:spcBef>
              <a:spcAft>
                <a:spcPts val="0"/>
              </a:spcAft>
            </a:pPr>
            <a:r>
              <a:rPr sz="1250" b="1" i="0">
                <a:solidFill>
                  <a:srgbClr val="1F497D"/>
                </a:solidFill>
                <a:latin typeface="Arial"/>
              </a:rPr>
              <a:t>Analysis of the feasibility of the idea</a:t>
            </a:r>
          </a:p>
        </p:txBody>
      </p:sp>
      <p:sp>
        <p:nvSpPr>
          <p:cNvPr id="17412" name="Rounded Rectangle 17411"/>
          <p:cNvSpPr/>
          <p:nvPr/>
        </p:nvSpPr>
        <p:spPr>
          <a:xfrm>
            <a:off x="274320" y="1408176"/>
            <a:ext cx="1879092" cy="859536"/>
          </a:xfrm>
          <a:prstGeom prst="roundRect">
            <a:avLst>
              <a:gd name="adj" fmla="val 10638"/>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3" name="Rectangle 17412"/>
          <p:cNvSpPr/>
          <p:nvPr/>
        </p:nvSpPr>
        <p:spPr>
          <a:xfrm>
            <a:off x="274320" y="1408176"/>
            <a:ext cx="1879092" cy="41148"/>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4" name="TextBox 17413"/>
          <p:cNvSpPr txBox="1"/>
          <p:nvPr/>
        </p:nvSpPr>
        <p:spPr>
          <a:xfrm>
            <a:off x="365760" y="1527048"/>
            <a:ext cx="1696212" cy="329184"/>
          </a:xfrm>
          <a:prstGeom prst="rect">
            <a:avLst/>
          </a:prstGeom>
          <a:noFill/>
        </p:spPr>
        <p:txBody>
          <a:bodyPr wrap="square" lIns="0" rIns="0" tIns="0" bIns="0" anchor="t">
            <a:noAutofit/>
          </a:bodyPr>
          <a:lstStyle/>
          <a:p>
            <a:pPr algn="ctr">
              <a:lnSpc>
                <a:spcPct val="100000"/>
              </a:lnSpc>
              <a:spcBef>
                <a:spcPts val="0"/>
              </a:spcBef>
              <a:spcAft>
                <a:spcPts val="0"/>
              </a:spcAft>
            </a:pPr>
            <a:r>
              <a:rPr sz="1700" b="1" i="0">
                <a:solidFill>
                  <a:srgbClr val="1F497D"/>
                </a:solidFill>
                <a:latin typeface="Arial"/>
              </a:rPr>
              <a:t>140</a:t>
            </a:r>
          </a:p>
        </p:txBody>
      </p:sp>
      <p:sp>
        <p:nvSpPr>
          <p:cNvPr id="17415" name="TextBox 17414"/>
          <p:cNvSpPr txBox="1"/>
          <p:nvPr/>
        </p:nvSpPr>
        <p:spPr>
          <a:xfrm>
            <a:off x="347472" y="1865376"/>
            <a:ext cx="1732788" cy="329184"/>
          </a:xfrm>
          <a:prstGeom prst="rect">
            <a:avLst/>
          </a:prstGeom>
          <a:noFill/>
        </p:spPr>
        <p:txBody>
          <a:bodyPr wrap="square" lIns="0" rIns="0" tIns="0" bIns="0" anchor="t">
            <a:noAutofit/>
          </a:bodyPr>
          <a:lstStyle/>
          <a:p>
            <a:pPr algn="ctr">
              <a:lnSpc>
                <a:spcPct val="98000"/>
              </a:lnSpc>
              <a:spcBef>
                <a:spcPts val="0"/>
              </a:spcBef>
              <a:spcAft>
                <a:spcPts val="0"/>
              </a:spcAft>
            </a:pPr>
            <a:r>
              <a:rPr sz="760" b="0" i="0">
                <a:solidFill>
                  <a:srgbClr val="5A6B7C"/>
                </a:solidFill>
                <a:latin typeface="Arial"/>
              </a:rPr>
              <a:t>tests green, including headless-browser UI tests</a:t>
            </a:r>
          </a:p>
        </p:txBody>
      </p:sp>
      <p:sp>
        <p:nvSpPr>
          <p:cNvPr id="17416" name="Rounded Rectangle 17415"/>
          <p:cNvSpPr/>
          <p:nvPr/>
        </p:nvSpPr>
        <p:spPr>
          <a:xfrm>
            <a:off x="2221992" y="1408176"/>
            <a:ext cx="1879092" cy="859536"/>
          </a:xfrm>
          <a:prstGeom prst="roundRect">
            <a:avLst>
              <a:gd name="adj" fmla="val 10638"/>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7" name="Rectangle 17416"/>
          <p:cNvSpPr/>
          <p:nvPr/>
        </p:nvSpPr>
        <p:spPr>
          <a:xfrm>
            <a:off x="2221992" y="1408176"/>
            <a:ext cx="1879092" cy="41148"/>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8" name="TextBox 17417"/>
          <p:cNvSpPr txBox="1"/>
          <p:nvPr/>
        </p:nvSpPr>
        <p:spPr>
          <a:xfrm>
            <a:off x="2313432" y="1527048"/>
            <a:ext cx="1696212" cy="329184"/>
          </a:xfrm>
          <a:prstGeom prst="rect">
            <a:avLst/>
          </a:prstGeom>
          <a:noFill/>
        </p:spPr>
        <p:txBody>
          <a:bodyPr wrap="square" lIns="0" rIns="0" tIns="0" bIns="0" anchor="t">
            <a:noAutofit/>
          </a:bodyPr>
          <a:lstStyle/>
          <a:p>
            <a:pPr algn="ctr">
              <a:lnSpc>
                <a:spcPct val="100000"/>
              </a:lnSpc>
              <a:spcBef>
                <a:spcPts val="0"/>
              </a:spcBef>
              <a:spcAft>
                <a:spcPts val="0"/>
              </a:spcAft>
            </a:pPr>
            <a:r>
              <a:rPr sz="1250" b="1" i="0">
                <a:solidFill>
                  <a:srgbClr val="1E8449"/>
                </a:solidFill>
                <a:latin typeface="Arial"/>
              </a:rPr>
              <a:t>100% / 95%</a:t>
            </a:r>
          </a:p>
        </p:txBody>
      </p:sp>
      <p:sp>
        <p:nvSpPr>
          <p:cNvPr id="17419" name="TextBox 17418"/>
          <p:cNvSpPr txBox="1"/>
          <p:nvPr/>
        </p:nvSpPr>
        <p:spPr>
          <a:xfrm>
            <a:off x="2295144" y="1865376"/>
            <a:ext cx="1732788" cy="329184"/>
          </a:xfrm>
          <a:prstGeom prst="rect">
            <a:avLst/>
          </a:prstGeom>
          <a:noFill/>
        </p:spPr>
        <p:txBody>
          <a:bodyPr wrap="square" lIns="0" rIns="0" tIns="0" bIns="0" anchor="t">
            <a:noAutofit/>
          </a:bodyPr>
          <a:lstStyle/>
          <a:p>
            <a:pPr algn="ctr">
              <a:lnSpc>
                <a:spcPct val="98000"/>
              </a:lnSpc>
              <a:spcBef>
                <a:spcPts val="0"/>
              </a:spcBef>
              <a:spcAft>
                <a:spcPts val="0"/>
              </a:spcAft>
            </a:pPr>
            <a:r>
              <a:rPr sz="760" b="0" i="0">
                <a:solidFill>
                  <a:srgbClr val="5A6B7C"/>
                </a:solidFill>
                <a:latin typeface="Arial"/>
              </a:rPr>
              <a:t>precision / recall, hand-labelled 50-usage corpus</a:t>
            </a:r>
          </a:p>
        </p:txBody>
      </p:sp>
      <p:sp>
        <p:nvSpPr>
          <p:cNvPr id="17420" name="Rounded Rectangle 17419"/>
          <p:cNvSpPr/>
          <p:nvPr/>
        </p:nvSpPr>
        <p:spPr>
          <a:xfrm>
            <a:off x="4169664" y="1408176"/>
            <a:ext cx="1879092" cy="859536"/>
          </a:xfrm>
          <a:prstGeom prst="roundRect">
            <a:avLst>
              <a:gd name="adj" fmla="val 10638"/>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1" name="Rectangle 17420"/>
          <p:cNvSpPr/>
          <p:nvPr/>
        </p:nvSpPr>
        <p:spPr>
          <a:xfrm>
            <a:off x="4169664" y="1408176"/>
            <a:ext cx="1879092" cy="41148"/>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2" name="TextBox 17421"/>
          <p:cNvSpPr txBox="1"/>
          <p:nvPr/>
        </p:nvSpPr>
        <p:spPr>
          <a:xfrm>
            <a:off x="4261104" y="1527048"/>
            <a:ext cx="1696212" cy="329184"/>
          </a:xfrm>
          <a:prstGeom prst="rect">
            <a:avLst/>
          </a:prstGeom>
          <a:noFill/>
        </p:spPr>
        <p:txBody>
          <a:bodyPr wrap="square" lIns="0" rIns="0" tIns="0" bIns="0" anchor="t">
            <a:noAutofit/>
          </a:bodyPr>
          <a:lstStyle/>
          <a:p>
            <a:pPr algn="ctr">
              <a:lnSpc>
                <a:spcPct val="100000"/>
              </a:lnSpc>
              <a:spcBef>
                <a:spcPts val="0"/>
              </a:spcBef>
              <a:spcAft>
                <a:spcPts val="0"/>
              </a:spcAft>
            </a:pPr>
            <a:r>
              <a:rPr sz="1700" b="1" i="0">
                <a:solidFill>
                  <a:srgbClr val="0070C0"/>
                </a:solidFill>
                <a:latin typeface="Arial"/>
              </a:rPr>
              <a:t>4</a:t>
            </a:r>
          </a:p>
        </p:txBody>
      </p:sp>
      <p:sp>
        <p:nvSpPr>
          <p:cNvPr id="17423" name="TextBox 17422"/>
          <p:cNvSpPr txBox="1"/>
          <p:nvPr/>
        </p:nvSpPr>
        <p:spPr>
          <a:xfrm>
            <a:off x="4242816" y="1865376"/>
            <a:ext cx="1732788" cy="329184"/>
          </a:xfrm>
          <a:prstGeom prst="rect">
            <a:avLst/>
          </a:prstGeom>
          <a:noFill/>
        </p:spPr>
        <p:txBody>
          <a:bodyPr wrap="square" lIns="0" rIns="0" tIns="0" bIns="0" anchor="t">
            <a:noAutofit/>
          </a:bodyPr>
          <a:lstStyle/>
          <a:p>
            <a:pPr algn="ctr">
              <a:lnSpc>
                <a:spcPct val="98000"/>
              </a:lnSpc>
              <a:spcBef>
                <a:spcPts val="0"/>
              </a:spcBef>
              <a:spcAft>
                <a:spcPts val="0"/>
              </a:spcAft>
            </a:pPr>
            <a:r>
              <a:rPr sz="760" b="0" i="0">
                <a:solidFill>
                  <a:srgbClr val="5A6B7C"/>
                </a:solidFill>
                <a:latin typeface="Arial"/>
              </a:rPr>
              <a:t>languages covered — Python, Java, JS, Go</a:t>
            </a:r>
          </a:p>
        </p:txBody>
      </p:sp>
      <p:sp>
        <p:nvSpPr>
          <p:cNvPr id="17424" name="Rounded Rectangle 17423"/>
          <p:cNvSpPr/>
          <p:nvPr/>
        </p:nvSpPr>
        <p:spPr>
          <a:xfrm>
            <a:off x="6117336" y="1408176"/>
            <a:ext cx="1879092" cy="859536"/>
          </a:xfrm>
          <a:prstGeom prst="roundRect">
            <a:avLst>
              <a:gd name="adj" fmla="val 10638"/>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5" name="Rectangle 17424"/>
          <p:cNvSpPr/>
          <p:nvPr/>
        </p:nvSpPr>
        <p:spPr>
          <a:xfrm>
            <a:off x="6117336" y="1408176"/>
            <a:ext cx="1879092" cy="41148"/>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6" name="TextBox 17425"/>
          <p:cNvSpPr txBox="1"/>
          <p:nvPr/>
        </p:nvSpPr>
        <p:spPr>
          <a:xfrm>
            <a:off x="6208776" y="1527048"/>
            <a:ext cx="1696212" cy="329184"/>
          </a:xfrm>
          <a:prstGeom prst="rect">
            <a:avLst/>
          </a:prstGeom>
          <a:noFill/>
        </p:spPr>
        <p:txBody>
          <a:bodyPr wrap="square" lIns="0" rIns="0" tIns="0" bIns="0" anchor="t">
            <a:noAutofit/>
          </a:bodyPr>
          <a:lstStyle/>
          <a:p>
            <a:pPr algn="ctr">
              <a:lnSpc>
                <a:spcPct val="100000"/>
              </a:lnSpc>
              <a:spcBef>
                <a:spcPts val="0"/>
              </a:spcBef>
              <a:spcAft>
                <a:spcPts val="0"/>
              </a:spcAft>
            </a:pPr>
            <a:r>
              <a:rPr sz="1700" b="1" i="0">
                <a:solidFill>
                  <a:srgbClr val="0E8C86"/>
                </a:solidFill>
                <a:latin typeface="Arial"/>
              </a:rPr>
              <a:t>6</a:t>
            </a:r>
          </a:p>
        </p:txBody>
      </p:sp>
      <p:sp>
        <p:nvSpPr>
          <p:cNvPr id="17427" name="TextBox 17426"/>
          <p:cNvSpPr txBox="1"/>
          <p:nvPr/>
        </p:nvSpPr>
        <p:spPr>
          <a:xfrm>
            <a:off x="6190488" y="1865376"/>
            <a:ext cx="1732788" cy="329184"/>
          </a:xfrm>
          <a:prstGeom prst="rect">
            <a:avLst/>
          </a:prstGeom>
          <a:noFill/>
        </p:spPr>
        <p:txBody>
          <a:bodyPr wrap="square" lIns="0" rIns="0" tIns="0" bIns="0" anchor="t">
            <a:noAutofit/>
          </a:bodyPr>
          <a:lstStyle/>
          <a:p>
            <a:pPr algn="ctr">
              <a:lnSpc>
                <a:spcPct val="98000"/>
              </a:lnSpc>
              <a:spcBef>
                <a:spcPts val="0"/>
              </a:spcBef>
              <a:spcAft>
                <a:spcPts val="0"/>
              </a:spcAft>
            </a:pPr>
            <a:r>
              <a:rPr sz="760" b="0" i="0">
                <a:solidFill>
                  <a:srgbClr val="5A6B7C"/>
                </a:solidFill>
                <a:latin typeface="Arial"/>
              </a:rPr>
              <a:t>real scans of unmodified upstream repositories</a:t>
            </a:r>
          </a:p>
        </p:txBody>
      </p:sp>
      <p:sp>
        <p:nvSpPr>
          <p:cNvPr id="17428" name="Rounded Rectangle 17427"/>
          <p:cNvSpPr/>
          <p:nvPr/>
        </p:nvSpPr>
        <p:spPr>
          <a:xfrm>
            <a:off x="8065008" y="1408176"/>
            <a:ext cx="1879092" cy="859536"/>
          </a:xfrm>
          <a:prstGeom prst="roundRect">
            <a:avLst>
              <a:gd name="adj" fmla="val 10638"/>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9" name="Rectangle 17428"/>
          <p:cNvSpPr/>
          <p:nvPr/>
        </p:nvSpPr>
        <p:spPr>
          <a:xfrm>
            <a:off x="8065008" y="1408176"/>
            <a:ext cx="1879092" cy="41148"/>
          </a:xfrm>
          <a:prstGeom prst="rect">
            <a:avLst/>
          </a:prstGeom>
          <a:solidFill>
            <a:srgbClr val="B977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0" name="TextBox 17429"/>
          <p:cNvSpPr txBox="1"/>
          <p:nvPr/>
        </p:nvSpPr>
        <p:spPr>
          <a:xfrm>
            <a:off x="8156448" y="1527048"/>
            <a:ext cx="1696212" cy="329184"/>
          </a:xfrm>
          <a:prstGeom prst="rect">
            <a:avLst/>
          </a:prstGeom>
          <a:noFill/>
        </p:spPr>
        <p:txBody>
          <a:bodyPr wrap="square" lIns="0" rIns="0" tIns="0" bIns="0" anchor="t">
            <a:noAutofit/>
          </a:bodyPr>
          <a:lstStyle/>
          <a:p>
            <a:pPr algn="ctr">
              <a:lnSpc>
                <a:spcPct val="100000"/>
              </a:lnSpc>
              <a:spcBef>
                <a:spcPts val="0"/>
              </a:spcBef>
              <a:spcAft>
                <a:spcPts val="0"/>
              </a:spcAft>
            </a:pPr>
            <a:r>
              <a:rPr sz="1700" b="1" i="0">
                <a:solidFill>
                  <a:srgbClr val="B9770E"/>
                </a:solidFill>
                <a:latin typeface="Arial"/>
              </a:rPr>
              <a:t>0</a:t>
            </a:r>
          </a:p>
        </p:txBody>
      </p:sp>
      <p:sp>
        <p:nvSpPr>
          <p:cNvPr id="17431" name="TextBox 17430"/>
          <p:cNvSpPr txBox="1"/>
          <p:nvPr/>
        </p:nvSpPr>
        <p:spPr>
          <a:xfrm>
            <a:off x="8138160" y="1865376"/>
            <a:ext cx="1732788" cy="329184"/>
          </a:xfrm>
          <a:prstGeom prst="rect">
            <a:avLst/>
          </a:prstGeom>
          <a:noFill/>
        </p:spPr>
        <p:txBody>
          <a:bodyPr wrap="square" lIns="0" rIns="0" tIns="0" bIns="0" anchor="t">
            <a:noAutofit/>
          </a:bodyPr>
          <a:lstStyle/>
          <a:p>
            <a:pPr algn="ctr">
              <a:lnSpc>
                <a:spcPct val="98000"/>
              </a:lnSpc>
              <a:spcBef>
                <a:spcPts val="0"/>
              </a:spcBef>
              <a:spcAft>
                <a:spcPts val="0"/>
              </a:spcAft>
            </a:pPr>
            <a:r>
              <a:rPr sz="760" b="0" i="0">
                <a:solidFill>
                  <a:srgbClr val="5A6B7C"/>
                </a:solidFill>
                <a:latin typeface="Arial"/>
              </a:rPr>
              <a:t>hard external dependencies — runs fully offline</a:t>
            </a:r>
          </a:p>
        </p:txBody>
      </p:sp>
      <p:sp>
        <p:nvSpPr>
          <p:cNvPr id="17432" name="Rounded Rectangle 17431"/>
          <p:cNvSpPr/>
          <p:nvPr/>
        </p:nvSpPr>
        <p:spPr>
          <a:xfrm>
            <a:off x="10012680" y="1408176"/>
            <a:ext cx="1879092" cy="859536"/>
          </a:xfrm>
          <a:prstGeom prst="roundRect">
            <a:avLst>
              <a:gd name="adj" fmla="val 10638"/>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3" name="Rectangle 17432"/>
          <p:cNvSpPr/>
          <p:nvPr/>
        </p:nvSpPr>
        <p:spPr>
          <a:xfrm>
            <a:off x="10012680" y="1408176"/>
            <a:ext cx="1879092" cy="41148"/>
          </a:xfrm>
          <a:prstGeom prst="rect">
            <a:avLst/>
          </a:prstGeom>
          <a:solidFill>
            <a:srgbClr val="12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4" name="TextBox 17433"/>
          <p:cNvSpPr txBox="1"/>
          <p:nvPr/>
        </p:nvSpPr>
        <p:spPr>
          <a:xfrm>
            <a:off x="10104120" y="1527048"/>
            <a:ext cx="1696212" cy="329184"/>
          </a:xfrm>
          <a:prstGeom prst="rect">
            <a:avLst/>
          </a:prstGeom>
          <a:noFill/>
        </p:spPr>
        <p:txBody>
          <a:bodyPr wrap="square" lIns="0" rIns="0" tIns="0" bIns="0" anchor="t">
            <a:noAutofit/>
          </a:bodyPr>
          <a:lstStyle/>
          <a:p>
            <a:pPr algn="ctr">
              <a:lnSpc>
                <a:spcPct val="100000"/>
              </a:lnSpc>
              <a:spcBef>
                <a:spcPts val="0"/>
              </a:spcBef>
              <a:spcAft>
                <a:spcPts val="0"/>
              </a:spcAft>
            </a:pPr>
            <a:r>
              <a:rPr sz="1700" b="1" i="0">
                <a:solidFill>
                  <a:srgbClr val="12395E"/>
                </a:solidFill>
                <a:latin typeface="Arial"/>
              </a:rPr>
              <a:t>1.7</a:t>
            </a:r>
          </a:p>
        </p:txBody>
      </p:sp>
      <p:sp>
        <p:nvSpPr>
          <p:cNvPr id="17435" name="TextBox 17434"/>
          <p:cNvSpPr txBox="1"/>
          <p:nvPr/>
        </p:nvSpPr>
        <p:spPr>
          <a:xfrm>
            <a:off x="10085832" y="1865376"/>
            <a:ext cx="1732788" cy="329184"/>
          </a:xfrm>
          <a:prstGeom prst="rect">
            <a:avLst/>
          </a:prstGeom>
          <a:noFill/>
        </p:spPr>
        <p:txBody>
          <a:bodyPr wrap="square" lIns="0" rIns="0" tIns="0" bIns="0" anchor="t">
            <a:noAutofit/>
          </a:bodyPr>
          <a:lstStyle/>
          <a:p>
            <a:pPr algn="ctr">
              <a:lnSpc>
                <a:spcPct val="98000"/>
              </a:lnSpc>
              <a:spcBef>
                <a:spcPts val="0"/>
              </a:spcBef>
              <a:spcAft>
                <a:spcPts val="0"/>
              </a:spcAft>
            </a:pPr>
            <a:r>
              <a:rPr sz="760" b="0" i="0">
                <a:solidFill>
                  <a:srgbClr val="5A6B7C"/>
                </a:solidFill>
                <a:latin typeface="Arial"/>
              </a:rPr>
              <a:t>CycloneDX / ECMA-424 2nd Ed. output, validated</a:t>
            </a:r>
          </a:p>
        </p:txBody>
      </p:sp>
      <p:sp>
        <p:nvSpPr>
          <p:cNvPr id="17436" name="TextBox 17435"/>
          <p:cNvSpPr txBox="1"/>
          <p:nvPr/>
        </p:nvSpPr>
        <p:spPr>
          <a:xfrm>
            <a:off x="274320" y="2340864"/>
            <a:ext cx="11640312" cy="219456"/>
          </a:xfrm>
          <a:prstGeom prst="rect">
            <a:avLst/>
          </a:prstGeom>
          <a:noFill/>
        </p:spPr>
        <p:txBody>
          <a:bodyPr wrap="square" lIns="0" rIns="0" tIns="0" bIns="0" anchor="t">
            <a:noAutofit/>
          </a:bodyPr>
          <a:lstStyle/>
          <a:p>
            <a:pPr algn="l">
              <a:lnSpc>
                <a:spcPct val="100000"/>
              </a:lnSpc>
              <a:spcBef>
                <a:spcPts val="0"/>
              </a:spcBef>
              <a:spcAft>
                <a:spcPts val="0"/>
              </a:spcAft>
            </a:pPr>
            <a:r>
              <a:rPr sz="880" b="1" i="0">
                <a:solidFill>
                  <a:srgbClr val="1F497D"/>
                </a:solidFill>
                <a:latin typeface="Arial"/>
              </a:rPr>
              <a:t>Feasible because it is already built and measured.</a:t>
            </a:r>
            <a:r>
              <a:rPr sz="880" b="0" i="0">
                <a:solidFill>
                  <a:srgbClr val="1F497D"/>
                </a:solidFill>
                <a:latin typeface="Arial"/>
              </a:rPr>
              <a:t> Every number above comes from </a:t>
            </a:r>
            <a:r>
              <a:rPr sz="880" b="0" i="0">
                <a:solidFill>
                  <a:srgbClr val="0E8C86"/>
                </a:solidFill>
                <a:latin typeface="Consolas"/>
              </a:rPr>
              <a:t>pytest</a:t>
            </a:r>
            <a:r>
              <a:rPr sz="880" b="0" i="0">
                <a:solidFill>
                  <a:srgbClr val="1F497D"/>
                </a:solidFill>
                <a:latin typeface="Arial"/>
              </a:rPr>
              <a:t>, </a:t>
            </a:r>
            <a:r>
              <a:rPr sz="880" b="0" i="0">
                <a:solidFill>
                  <a:srgbClr val="0E8C86"/>
                </a:solidFill>
                <a:latin typeface="Consolas"/>
              </a:rPr>
              <a:t>cbom-compass eval</a:t>
            </a:r>
            <a:r>
              <a:rPr sz="880" b="0" i="0">
                <a:solidFill>
                  <a:srgbClr val="1F497D"/>
                </a:solidFill>
                <a:latin typeface="Arial"/>
              </a:rPr>
              <a:t> and a live scan on this machine — none of it is an estimate.</a:t>
            </a:r>
          </a:p>
        </p:txBody>
      </p:sp>
      <p:sp>
        <p:nvSpPr>
          <p:cNvPr id="17437" name="Rectangle 17436"/>
          <p:cNvSpPr/>
          <p:nvPr/>
        </p:nvSpPr>
        <p:spPr>
          <a:xfrm>
            <a:off x="274320" y="2894076"/>
            <a:ext cx="5760720" cy="16459"/>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8" name="TextBox 17437"/>
          <p:cNvSpPr txBox="1"/>
          <p:nvPr/>
        </p:nvSpPr>
        <p:spPr>
          <a:xfrm>
            <a:off x="274320" y="2633472"/>
            <a:ext cx="5760720" cy="265176"/>
          </a:xfrm>
          <a:prstGeom prst="rect">
            <a:avLst/>
          </a:prstGeom>
          <a:noFill/>
        </p:spPr>
        <p:txBody>
          <a:bodyPr wrap="square" lIns="0" rIns="0" tIns="0" bIns="0" anchor="b">
            <a:noAutofit/>
          </a:bodyPr>
          <a:lstStyle/>
          <a:p>
            <a:pPr algn="l">
              <a:lnSpc>
                <a:spcPct val="100000"/>
              </a:lnSpc>
              <a:spcBef>
                <a:spcPts val="0"/>
              </a:spcBef>
              <a:spcAft>
                <a:spcPts val="0"/>
              </a:spcAft>
            </a:pPr>
            <a:r>
              <a:rPr sz="1250" b="1" i="0">
                <a:solidFill>
                  <a:srgbClr val="1F497D"/>
                </a:solidFill>
                <a:latin typeface="Arial"/>
              </a:rPr>
              <a:t>Potential challenges and risks</a:t>
            </a:r>
          </a:p>
        </p:txBody>
      </p:sp>
      <p:sp>
        <p:nvSpPr>
          <p:cNvPr id="17439" name="Rectangle 17438"/>
          <p:cNvSpPr/>
          <p:nvPr/>
        </p:nvSpPr>
        <p:spPr>
          <a:xfrm>
            <a:off x="6172200" y="2894076"/>
            <a:ext cx="5742432" cy="16459"/>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0" name="TextBox 17439"/>
          <p:cNvSpPr txBox="1"/>
          <p:nvPr/>
        </p:nvSpPr>
        <p:spPr>
          <a:xfrm>
            <a:off x="6172200" y="2633472"/>
            <a:ext cx="5742432" cy="265176"/>
          </a:xfrm>
          <a:prstGeom prst="rect">
            <a:avLst/>
          </a:prstGeom>
          <a:noFill/>
        </p:spPr>
        <p:txBody>
          <a:bodyPr wrap="square" lIns="0" rIns="0" tIns="0" bIns="0" anchor="b">
            <a:noAutofit/>
          </a:bodyPr>
          <a:lstStyle/>
          <a:p>
            <a:pPr algn="l">
              <a:lnSpc>
                <a:spcPct val="100000"/>
              </a:lnSpc>
              <a:spcBef>
                <a:spcPts val="0"/>
              </a:spcBef>
              <a:spcAft>
                <a:spcPts val="0"/>
              </a:spcAft>
            </a:pPr>
            <a:r>
              <a:rPr sz="1250" b="1" i="0">
                <a:solidFill>
                  <a:srgbClr val="1F497D"/>
                </a:solidFill>
                <a:latin typeface="Arial"/>
              </a:rPr>
              <a:t>Strategies for overcoming these challenges</a:t>
            </a:r>
          </a:p>
        </p:txBody>
      </p:sp>
      <p:sp>
        <p:nvSpPr>
          <p:cNvPr id="17441" name="Rounded Rectangle 17440"/>
          <p:cNvSpPr/>
          <p:nvPr/>
        </p:nvSpPr>
        <p:spPr>
          <a:xfrm>
            <a:off x="274320" y="2962656"/>
            <a:ext cx="5760720" cy="786384"/>
          </a:xfrm>
          <a:prstGeom prst="roundRect">
            <a:avLst>
              <a:gd name="adj" fmla="val 11627"/>
            </a:avLst>
          </a:prstGeom>
          <a:solidFill>
            <a:srgbClr val="FDF2F2"/>
          </a:solidFill>
          <a:ln w="9525">
            <a:solidFill>
              <a:srgbClr val="EBC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2" name="Rectangle 17441"/>
          <p:cNvSpPr/>
          <p:nvPr/>
        </p:nvSpPr>
        <p:spPr>
          <a:xfrm>
            <a:off x="274320" y="2962656"/>
            <a:ext cx="45720"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3" name="TextBox 17442"/>
          <p:cNvSpPr txBox="1"/>
          <p:nvPr/>
        </p:nvSpPr>
        <p:spPr>
          <a:xfrm>
            <a:off x="438912" y="3026664"/>
            <a:ext cx="5486400" cy="201168"/>
          </a:xfrm>
          <a:prstGeom prst="rect">
            <a:avLst/>
          </a:prstGeom>
          <a:noFill/>
        </p:spPr>
        <p:txBody>
          <a:bodyPr wrap="square" lIns="0" rIns="0" tIns="0" bIns="0" anchor="t">
            <a:noAutofit/>
          </a:bodyPr>
          <a:lstStyle/>
          <a:p>
            <a:pPr algn="l">
              <a:lnSpc>
                <a:spcPct val="100000"/>
              </a:lnSpc>
              <a:spcBef>
                <a:spcPts val="0"/>
              </a:spcBef>
              <a:spcAft>
                <a:spcPts val="0"/>
              </a:spcAft>
            </a:pPr>
            <a:r>
              <a:rPr sz="919" b="1" i="0">
                <a:solidFill>
                  <a:srgbClr val="8C2A1E"/>
                </a:solidFill>
                <a:latin typeface="Arial"/>
              </a:rPr>
              <a:t>Static analysis cannot see runtime-chosen algorithms</a:t>
            </a:r>
          </a:p>
        </p:txBody>
      </p:sp>
      <p:sp>
        <p:nvSpPr>
          <p:cNvPr id="17444" name="TextBox 17443"/>
          <p:cNvSpPr txBox="1"/>
          <p:nvPr/>
        </p:nvSpPr>
        <p:spPr>
          <a:xfrm>
            <a:off x="438912" y="3246120"/>
            <a:ext cx="5486400" cy="438912"/>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1F2933"/>
                </a:solidFill>
                <a:latin typeface="Arial"/>
              </a:rPr>
              <a:t>Algorithm names read from the environment or </a:t>
            </a:r>
            <a:r>
              <a:rPr sz="819" b="0" i="0">
                <a:solidFill>
                  <a:srgbClr val="0E8C86"/>
                </a:solidFill>
                <a:latin typeface="Consolas"/>
              </a:rPr>
              <a:t>getattr(hashlib, …)</a:t>
            </a:r>
            <a:r>
              <a:rPr sz="819" b="0" i="0">
                <a:solidFill>
                  <a:srgbClr val="1F2933"/>
                </a:solidFill>
                <a:latin typeface="Arial"/>
              </a:rPr>
              <a:t> are invisible to any scanner. Pretending otherwise is how tools lose trust.</a:t>
            </a:r>
          </a:p>
        </p:txBody>
      </p:sp>
      <p:sp>
        <p:nvSpPr>
          <p:cNvPr id="17445" name="Rounded Rectangle 17444"/>
          <p:cNvSpPr/>
          <p:nvPr/>
        </p:nvSpPr>
        <p:spPr>
          <a:xfrm>
            <a:off x="6172200" y="2962656"/>
            <a:ext cx="5742432" cy="786384"/>
          </a:xfrm>
          <a:prstGeom prst="roundRect">
            <a:avLst>
              <a:gd name="adj" fmla="val 11627"/>
            </a:avLst>
          </a:prstGeom>
          <a:solidFill>
            <a:srgbClr val="F1F8F3"/>
          </a:solidFill>
          <a:ln w="9525">
            <a:solidFill>
              <a:srgbClr val="C6DF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6" name="Rectangle 17445"/>
          <p:cNvSpPr/>
          <p:nvPr/>
        </p:nvSpPr>
        <p:spPr>
          <a:xfrm>
            <a:off x="6172200" y="2962656"/>
            <a:ext cx="45720"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7" name="TextBox 17446"/>
          <p:cNvSpPr txBox="1"/>
          <p:nvPr/>
        </p:nvSpPr>
        <p:spPr>
          <a:xfrm>
            <a:off x="6336792" y="3026664"/>
            <a:ext cx="5468112" cy="201168"/>
          </a:xfrm>
          <a:prstGeom prst="rect">
            <a:avLst/>
          </a:prstGeom>
          <a:noFill/>
        </p:spPr>
        <p:txBody>
          <a:bodyPr wrap="square" lIns="0" rIns="0" tIns="0" bIns="0" anchor="t">
            <a:noAutofit/>
          </a:bodyPr>
          <a:lstStyle/>
          <a:p>
            <a:pPr algn="l">
              <a:lnSpc>
                <a:spcPct val="100000"/>
              </a:lnSpc>
              <a:spcBef>
                <a:spcPts val="0"/>
              </a:spcBef>
              <a:spcAft>
                <a:spcPts val="0"/>
              </a:spcAft>
            </a:pPr>
            <a:r>
              <a:rPr sz="919" b="1" i="0">
                <a:solidFill>
                  <a:srgbClr val="1A5C36"/>
                </a:solidFill>
                <a:latin typeface="Arial"/>
              </a:rPr>
              <a:t>Confidence banding + independent ground truth</a:t>
            </a:r>
          </a:p>
        </p:txBody>
      </p:sp>
      <p:sp>
        <p:nvSpPr>
          <p:cNvPr id="17448" name="TextBox 17447"/>
          <p:cNvSpPr txBox="1"/>
          <p:nvPr/>
        </p:nvSpPr>
        <p:spPr>
          <a:xfrm>
            <a:off x="6336792" y="3246120"/>
            <a:ext cx="5468112" cy="438912"/>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1F2933"/>
                </a:solidFill>
                <a:latin typeface="Arial"/>
              </a:rPr>
              <a:t>Every finding carries a confidence level; the 5 known misses are </a:t>
            </a:r>
            <a:r>
              <a:rPr sz="819" b="1" i="0">
                <a:solidFill>
                  <a:srgbClr val="1F2933"/>
                </a:solidFill>
                <a:latin typeface="Arial"/>
              </a:rPr>
              <a:t>published in the corpus as misses, not hidden</a:t>
            </a:r>
            <a:r>
              <a:rPr sz="819" b="0" i="0">
                <a:solidFill>
                  <a:srgbClr val="1F2933"/>
                </a:solidFill>
                <a:latin typeface="Arial"/>
              </a:rPr>
              <a:t>. Live TLS handshakes and binary symbol tables give ground truth where source cannot.</a:t>
            </a:r>
          </a:p>
        </p:txBody>
      </p:sp>
      <p:sp>
        <p:nvSpPr>
          <p:cNvPr id="17449" name="TextBox 17448"/>
          <p:cNvSpPr txBox="1"/>
          <p:nvPr/>
        </p:nvSpPr>
        <p:spPr>
          <a:xfrm>
            <a:off x="5984748" y="3236976"/>
            <a:ext cx="201168" cy="237744"/>
          </a:xfrm>
          <a:prstGeom prst="rect">
            <a:avLst/>
          </a:prstGeom>
          <a:noFill/>
        </p:spPr>
        <p:txBody>
          <a:bodyPr wrap="square" lIns="0" rIns="0" tIns="0" bIns="0" anchor="t">
            <a:noAutofit/>
          </a:bodyPr>
          <a:lstStyle/>
          <a:p>
            <a:pPr algn="ctr">
              <a:lnSpc>
                <a:spcPct val="100000"/>
              </a:lnSpc>
              <a:spcBef>
                <a:spcPts val="0"/>
              </a:spcBef>
              <a:spcAft>
                <a:spcPts val="0"/>
              </a:spcAft>
            </a:pPr>
            <a:r>
              <a:rPr sz="1100" b="0" i="0">
                <a:solidFill>
                  <a:srgbClr val="5A6B7C"/>
                </a:solidFill>
                <a:latin typeface="Arial"/>
              </a:rPr>
              <a:t>→</a:t>
            </a:r>
          </a:p>
        </p:txBody>
      </p:sp>
      <p:sp>
        <p:nvSpPr>
          <p:cNvPr id="17450" name="Rounded Rectangle 17449"/>
          <p:cNvSpPr/>
          <p:nvPr/>
        </p:nvSpPr>
        <p:spPr>
          <a:xfrm>
            <a:off x="274320" y="3799332"/>
            <a:ext cx="5760720" cy="786384"/>
          </a:xfrm>
          <a:prstGeom prst="roundRect">
            <a:avLst>
              <a:gd name="adj" fmla="val 11627"/>
            </a:avLst>
          </a:prstGeom>
          <a:solidFill>
            <a:srgbClr val="FDF2F2"/>
          </a:solidFill>
          <a:ln w="9525">
            <a:solidFill>
              <a:srgbClr val="EBC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1" name="Rectangle 17450"/>
          <p:cNvSpPr/>
          <p:nvPr/>
        </p:nvSpPr>
        <p:spPr>
          <a:xfrm>
            <a:off x="274320" y="3799332"/>
            <a:ext cx="45720"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2" name="TextBox 17451"/>
          <p:cNvSpPr txBox="1"/>
          <p:nvPr/>
        </p:nvSpPr>
        <p:spPr>
          <a:xfrm>
            <a:off x="438912" y="3863340"/>
            <a:ext cx="5486400" cy="201168"/>
          </a:xfrm>
          <a:prstGeom prst="rect">
            <a:avLst/>
          </a:prstGeom>
          <a:noFill/>
        </p:spPr>
        <p:txBody>
          <a:bodyPr wrap="square" lIns="0" rIns="0" tIns="0" bIns="0" anchor="t">
            <a:noAutofit/>
          </a:bodyPr>
          <a:lstStyle/>
          <a:p>
            <a:pPr algn="l">
              <a:lnSpc>
                <a:spcPct val="100000"/>
              </a:lnSpc>
              <a:spcBef>
                <a:spcPts val="0"/>
              </a:spcBef>
              <a:spcAft>
                <a:spcPts val="0"/>
              </a:spcAft>
            </a:pPr>
            <a:r>
              <a:rPr sz="919" b="1" i="0">
                <a:solidFill>
                  <a:srgbClr val="8C2A1E"/>
                </a:solidFill>
                <a:latin typeface="Arial"/>
              </a:rPr>
              <a:t>Q-Day (Z) is genuinely unknowable</a:t>
            </a:r>
          </a:p>
        </p:txBody>
      </p:sp>
      <p:sp>
        <p:nvSpPr>
          <p:cNvPr id="17453" name="TextBox 17452"/>
          <p:cNvSpPr txBox="1"/>
          <p:nvPr/>
        </p:nvSpPr>
        <p:spPr>
          <a:xfrm>
            <a:off x="438912" y="4082796"/>
            <a:ext cx="5486400" cy="438912"/>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1F2933"/>
                </a:solidFill>
                <a:latin typeface="Arial"/>
              </a:rPr>
              <a:t>Hardcode a date and every score in the system inherits one team's guess — an easy thing for a sceptical auditor to dismiss.</a:t>
            </a:r>
          </a:p>
        </p:txBody>
      </p:sp>
      <p:sp>
        <p:nvSpPr>
          <p:cNvPr id="17454" name="Rounded Rectangle 17453"/>
          <p:cNvSpPr/>
          <p:nvPr/>
        </p:nvSpPr>
        <p:spPr>
          <a:xfrm>
            <a:off x="6172200" y="3799332"/>
            <a:ext cx="5742432" cy="786384"/>
          </a:xfrm>
          <a:prstGeom prst="roundRect">
            <a:avLst>
              <a:gd name="adj" fmla="val 11627"/>
            </a:avLst>
          </a:prstGeom>
          <a:solidFill>
            <a:srgbClr val="F1F8F3"/>
          </a:solidFill>
          <a:ln w="9525">
            <a:solidFill>
              <a:srgbClr val="C6DF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5" name="Rectangle 17454"/>
          <p:cNvSpPr/>
          <p:nvPr/>
        </p:nvSpPr>
        <p:spPr>
          <a:xfrm>
            <a:off x="6172200" y="3799332"/>
            <a:ext cx="45720" cy="786384"/>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6" name="TextBox 17455"/>
          <p:cNvSpPr txBox="1"/>
          <p:nvPr/>
        </p:nvSpPr>
        <p:spPr>
          <a:xfrm>
            <a:off x="6336792" y="3863340"/>
            <a:ext cx="5468112" cy="201168"/>
          </a:xfrm>
          <a:prstGeom prst="rect">
            <a:avLst/>
          </a:prstGeom>
          <a:noFill/>
        </p:spPr>
        <p:txBody>
          <a:bodyPr wrap="square" lIns="0" rIns="0" tIns="0" bIns="0" anchor="t">
            <a:noAutofit/>
          </a:bodyPr>
          <a:lstStyle/>
          <a:p>
            <a:pPr algn="l">
              <a:lnSpc>
                <a:spcPct val="100000"/>
              </a:lnSpc>
              <a:spcBef>
                <a:spcPts val="0"/>
              </a:spcBef>
              <a:spcAft>
                <a:spcPts val="0"/>
              </a:spcAft>
            </a:pPr>
            <a:r>
              <a:rPr sz="919" b="1" i="0">
                <a:solidFill>
                  <a:srgbClr val="1A5C36"/>
                </a:solidFill>
                <a:latin typeface="Arial"/>
              </a:rPr>
              <a:t>Score the certain clock alongside the uncertain one</a:t>
            </a:r>
          </a:p>
        </p:txBody>
      </p:sp>
      <p:sp>
        <p:nvSpPr>
          <p:cNvPr id="17457" name="TextBox 17456"/>
          <p:cNvSpPr txBox="1"/>
          <p:nvPr/>
        </p:nvSpPr>
        <p:spPr>
          <a:xfrm>
            <a:off x="6336792" y="4082796"/>
            <a:ext cx="5468112" cy="438912"/>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0E8C86"/>
                </a:solidFill>
                <a:latin typeface="Consolas"/>
              </a:rPr>
              <a:t>Z</a:t>
            </a:r>
            <a:r>
              <a:rPr sz="819" b="0" i="0">
                <a:solidFill>
                  <a:srgbClr val="1F2933"/>
                </a:solidFill>
                <a:latin typeface="Arial"/>
              </a:rPr>
              <a:t> is a </a:t>
            </a:r>
            <a:r>
              <a:rPr sz="819" b="1" i="0">
                <a:solidFill>
                  <a:srgbClr val="1F2933"/>
                </a:solidFill>
                <a:latin typeface="Arial"/>
              </a:rPr>
              <a:t>visible dial, never a constant</a:t>
            </a:r>
            <a:r>
              <a:rPr sz="819" b="0" i="0">
                <a:solidFill>
                  <a:srgbClr val="1F2933"/>
                </a:solidFill>
                <a:latin typeface="Arial"/>
              </a:rPr>
              <a:t>, and the </a:t>
            </a:r>
            <a:r>
              <a:rPr sz="819" b="1" i="0">
                <a:solidFill>
                  <a:srgbClr val="1F2933"/>
                </a:solidFill>
                <a:latin typeface="Arial"/>
              </a:rPr>
              <a:t>NIST IR 8547 deadline</a:t>
            </a:r>
            <a:r>
              <a:rPr sz="819" b="0" i="0">
                <a:solidFill>
                  <a:srgbClr val="1F2933"/>
                </a:solidFill>
                <a:latin typeface="Arial"/>
              </a:rPr>
              <a:t> (RSA/ECC disallowed 2035) is scored beside it — so the output stands up even for someone who thinks Q-Day is 2050.</a:t>
            </a:r>
          </a:p>
        </p:txBody>
      </p:sp>
      <p:sp>
        <p:nvSpPr>
          <p:cNvPr id="17458" name="TextBox 17457"/>
          <p:cNvSpPr txBox="1"/>
          <p:nvPr/>
        </p:nvSpPr>
        <p:spPr>
          <a:xfrm>
            <a:off x="5984748" y="4073652"/>
            <a:ext cx="201168" cy="237744"/>
          </a:xfrm>
          <a:prstGeom prst="rect">
            <a:avLst/>
          </a:prstGeom>
          <a:noFill/>
        </p:spPr>
        <p:txBody>
          <a:bodyPr wrap="square" lIns="0" rIns="0" tIns="0" bIns="0" anchor="t">
            <a:noAutofit/>
          </a:bodyPr>
          <a:lstStyle/>
          <a:p>
            <a:pPr algn="ctr">
              <a:lnSpc>
                <a:spcPct val="100000"/>
              </a:lnSpc>
              <a:spcBef>
                <a:spcPts val="0"/>
              </a:spcBef>
              <a:spcAft>
                <a:spcPts val="0"/>
              </a:spcAft>
            </a:pPr>
            <a:r>
              <a:rPr sz="1100" b="0" i="0">
                <a:solidFill>
                  <a:srgbClr val="5A6B7C"/>
                </a:solidFill>
                <a:latin typeface="Arial"/>
              </a:rPr>
              <a:t>→</a:t>
            </a:r>
          </a:p>
        </p:txBody>
      </p:sp>
      <p:sp>
        <p:nvSpPr>
          <p:cNvPr id="17459" name="Rounded Rectangle 17458"/>
          <p:cNvSpPr/>
          <p:nvPr/>
        </p:nvSpPr>
        <p:spPr>
          <a:xfrm>
            <a:off x="274320" y="4636008"/>
            <a:ext cx="5760720" cy="786384"/>
          </a:xfrm>
          <a:prstGeom prst="roundRect">
            <a:avLst>
              <a:gd name="adj" fmla="val 11627"/>
            </a:avLst>
          </a:prstGeom>
          <a:solidFill>
            <a:srgbClr val="FDF2F2"/>
          </a:solidFill>
          <a:ln w="9525">
            <a:solidFill>
              <a:srgbClr val="EBC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60" name="Rectangle 17459"/>
          <p:cNvSpPr/>
          <p:nvPr/>
        </p:nvSpPr>
        <p:spPr>
          <a:xfrm>
            <a:off x="274320" y="4636008"/>
            <a:ext cx="45720"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61" name="TextBox 17460"/>
          <p:cNvSpPr txBox="1"/>
          <p:nvPr/>
        </p:nvSpPr>
        <p:spPr>
          <a:xfrm>
            <a:off x="438912" y="4700016"/>
            <a:ext cx="5486400" cy="201168"/>
          </a:xfrm>
          <a:prstGeom prst="rect">
            <a:avLst/>
          </a:prstGeom>
          <a:noFill/>
        </p:spPr>
        <p:txBody>
          <a:bodyPr wrap="square" lIns="0" rIns="0" tIns="0" bIns="0" anchor="t">
            <a:noAutofit/>
          </a:bodyPr>
          <a:lstStyle/>
          <a:p>
            <a:pPr algn="l">
              <a:lnSpc>
                <a:spcPct val="100000"/>
              </a:lnSpc>
              <a:spcBef>
                <a:spcPts val="0"/>
              </a:spcBef>
              <a:spcAft>
                <a:spcPts val="0"/>
              </a:spcAft>
            </a:pPr>
            <a:r>
              <a:rPr sz="919" b="1" i="0">
                <a:solidFill>
                  <a:srgbClr val="8C2A1E"/>
                </a:solidFill>
                <a:latin typeface="Arial"/>
              </a:rPr>
              <a:t>Business context cannot be read out of code</a:t>
            </a:r>
          </a:p>
        </p:txBody>
      </p:sp>
      <p:sp>
        <p:nvSpPr>
          <p:cNvPr id="17462" name="TextBox 17461"/>
          <p:cNvSpPr txBox="1"/>
          <p:nvPr/>
        </p:nvSpPr>
        <p:spPr>
          <a:xfrm>
            <a:off x="438912" y="4919472"/>
            <a:ext cx="5486400" cy="438912"/>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1F2933"/>
                </a:solidFill>
                <a:latin typeface="Arial"/>
              </a:rPr>
              <a:t>No parser knows that a given AES call protects 25-year defence records. Guessing silently produces confident, wrong numbers.</a:t>
            </a:r>
          </a:p>
        </p:txBody>
      </p:sp>
      <p:sp>
        <p:nvSpPr>
          <p:cNvPr id="17463" name="Rounded Rectangle 17462"/>
          <p:cNvSpPr/>
          <p:nvPr/>
        </p:nvSpPr>
        <p:spPr>
          <a:xfrm>
            <a:off x="6172200" y="4636008"/>
            <a:ext cx="5742432" cy="786384"/>
          </a:xfrm>
          <a:prstGeom prst="roundRect">
            <a:avLst>
              <a:gd name="adj" fmla="val 11627"/>
            </a:avLst>
          </a:prstGeom>
          <a:solidFill>
            <a:srgbClr val="F1F8F3"/>
          </a:solidFill>
          <a:ln w="9525">
            <a:solidFill>
              <a:srgbClr val="C6DF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64" name="Rectangle 17463"/>
          <p:cNvSpPr/>
          <p:nvPr/>
        </p:nvSpPr>
        <p:spPr>
          <a:xfrm>
            <a:off x="6172200" y="4636008"/>
            <a:ext cx="45720" cy="78638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65" name="TextBox 17464"/>
          <p:cNvSpPr txBox="1"/>
          <p:nvPr/>
        </p:nvSpPr>
        <p:spPr>
          <a:xfrm>
            <a:off x="6336792" y="4700016"/>
            <a:ext cx="5468112" cy="201168"/>
          </a:xfrm>
          <a:prstGeom prst="rect">
            <a:avLst/>
          </a:prstGeom>
          <a:noFill/>
        </p:spPr>
        <p:txBody>
          <a:bodyPr wrap="square" lIns="0" rIns="0" tIns="0" bIns="0" anchor="t">
            <a:noAutofit/>
          </a:bodyPr>
          <a:lstStyle/>
          <a:p>
            <a:pPr algn="l">
              <a:lnSpc>
                <a:spcPct val="100000"/>
              </a:lnSpc>
              <a:spcBef>
                <a:spcPts val="0"/>
              </a:spcBef>
              <a:spcAft>
                <a:spcPts val="0"/>
              </a:spcAft>
            </a:pPr>
            <a:r>
              <a:rPr sz="919" b="1" i="0">
                <a:solidFill>
                  <a:srgbClr val="1A5C36"/>
                </a:solidFill>
                <a:latin typeface="Arial"/>
              </a:rPr>
              <a:t>Human inputs, declared as human inputs</a:t>
            </a:r>
          </a:p>
        </p:txBody>
      </p:sp>
      <p:sp>
        <p:nvSpPr>
          <p:cNvPr id="17466" name="TextBox 17465"/>
          <p:cNvSpPr txBox="1"/>
          <p:nvPr/>
        </p:nvSpPr>
        <p:spPr>
          <a:xfrm>
            <a:off x="6336792" y="4919472"/>
            <a:ext cx="5468112" cy="438912"/>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1F2933"/>
                </a:solidFill>
                <a:latin typeface="Arial"/>
              </a:rPr>
              <a:t>Data lifetime and criticality come from a checked-in </a:t>
            </a:r>
            <a:r>
              <a:rPr sz="819" b="0" i="0">
                <a:solidFill>
                  <a:srgbClr val="0E8C86"/>
                </a:solidFill>
                <a:latin typeface="Consolas"/>
              </a:rPr>
              <a:t>crypto-policy.yaml</a:t>
            </a:r>
            <a:r>
              <a:rPr sz="819" b="0" i="0">
                <a:solidFill>
                  <a:srgbClr val="1F2933"/>
                </a:solidFill>
                <a:latin typeface="Arial"/>
              </a:rPr>
              <a:t>; anything defaulted is stored </a:t>
            </a:r>
            <a:r>
              <a:rPr sz="819" b="0" i="0">
                <a:solidFill>
                  <a:srgbClr val="0E8C86"/>
                </a:solidFill>
                <a:latin typeface="Consolas"/>
              </a:rPr>
              <a:t>x_source: assumed</a:t>
            </a:r>
            <a:r>
              <a:rPr sz="819" b="0" i="0">
                <a:solidFill>
                  <a:srgbClr val="1F2933"/>
                </a:solidFill>
                <a:latin typeface="Arial"/>
              </a:rPr>
              <a:t> and </a:t>
            </a:r>
            <a:r>
              <a:rPr sz="819" b="1" i="0">
                <a:solidFill>
                  <a:srgbClr val="1F2933"/>
                </a:solidFill>
                <a:latin typeface="Arial"/>
              </a:rPr>
              <a:t>badged in the UI and the export</a:t>
            </a:r>
            <a:r>
              <a:rPr sz="819" b="0" i="0">
                <a:solidFill>
                  <a:srgbClr val="1F2933"/>
                </a:solidFill>
                <a:latin typeface="Arial"/>
              </a:rPr>
              <a:t>. "We assumed 7 years — click to change" is defensible; a bare number is not.</a:t>
            </a:r>
          </a:p>
        </p:txBody>
      </p:sp>
      <p:sp>
        <p:nvSpPr>
          <p:cNvPr id="17467" name="TextBox 17466"/>
          <p:cNvSpPr txBox="1"/>
          <p:nvPr/>
        </p:nvSpPr>
        <p:spPr>
          <a:xfrm>
            <a:off x="5984748" y="4910328"/>
            <a:ext cx="201168" cy="237744"/>
          </a:xfrm>
          <a:prstGeom prst="rect">
            <a:avLst/>
          </a:prstGeom>
          <a:noFill/>
        </p:spPr>
        <p:txBody>
          <a:bodyPr wrap="square" lIns="0" rIns="0" tIns="0" bIns="0" anchor="t">
            <a:noAutofit/>
          </a:bodyPr>
          <a:lstStyle/>
          <a:p>
            <a:pPr algn="ctr">
              <a:lnSpc>
                <a:spcPct val="100000"/>
              </a:lnSpc>
              <a:spcBef>
                <a:spcPts val="0"/>
              </a:spcBef>
              <a:spcAft>
                <a:spcPts val="0"/>
              </a:spcAft>
            </a:pPr>
            <a:r>
              <a:rPr sz="1100" b="0" i="0">
                <a:solidFill>
                  <a:srgbClr val="5A6B7C"/>
                </a:solidFill>
                <a:latin typeface="Arial"/>
              </a:rPr>
              <a:t>→</a:t>
            </a:r>
          </a:p>
        </p:txBody>
      </p:sp>
      <p:sp>
        <p:nvSpPr>
          <p:cNvPr id="17468" name="Rounded Rectangle 17467"/>
          <p:cNvSpPr/>
          <p:nvPr/>
        </p:nvSpPr>
        <p:spPr>
          <a:xfrm>
            <a:off x="274320" y="5472684"/>
            <a:ext cx="5760720" cy="786384"/>
          </a:xfrm>
          <a:prstGeom prst="roundRect">
            <a:avLst>
              <a:gd name="adj" fmla="val 11627"/>
            </a:avLst>
          </a:prstGeom>
          <a:solidFill>
            <a:srgbClr val="FDF2F2"/>
          </a:solidFill>
          <a:ln w="9525">
            <a:solidFill>
              <a:srgbClr val="EBC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69" name="Rectangle 17468"/>
          <p:cNvSpPr/>
          <p:nvPr/>
        </p:nvSpPr>
        <p:spPr>
          <a:xfrm>
            <a:off x="274320" y="5472684"/>
            <a:ext cx="45720"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70" name="TextBox 17469"/>
          <p:cNvSpPr txBox="1"/>
          <p:nvPr/>
        </p:nvSpPr>
        <p:spPr>
          <a:xfrm>
            <a:off x="438912" y="5536692"/>
            <a:ext cx="5486400" cy="201168"/>
          </a:xfrm>
          <a:prstGeom prst="rect">
            <a:avLst/>
          </a:prstGeom>
          <a:noFill/>
        </p:spPr>
        <p:txBody>
          <a:bodyPr wrap="square" lIns="0" rIns="0" tIns="0" bIns="0" anchor="t">
            <a:noAutofit/>
          </a:bodyPr>
          <a:lstStyle/>
          <a:p>
            <a:pPr algn="l">
              <a:lnSpc>
                <a:spcPct val="100000"/>
              </a:lnSpc>
              <a:spcBef>
                <a:spcPts val="0"/>
              </a:spcBef>
              <a:spcAft>
                <a:spcPts val="0"/>
              </a:spcAft>
            </a:pPr>
            <a:r>
              <a:rPr sz="919" b="1" i="0">
                <a:solidFill>
                  <a:srgbClr val="8C2A1E"/>
                </a:solidFill>
                <a:latin typeface="Arial"/>
              </a:rPr>
              <a:t>The tool's own output is a weapon</a:t>
            </a:r>
          </a:p>
        </p:txBody>
      </p:sp>
      <p:sp>
        <p:nvSpPr>
          <p:cNvPr id="17471" name="TextBox 17470"/>
          <p:cNvSpPr txBox="1"/>
          <p:nvPr/>
        </p:nvSpPr>
        <p:spPr>
          <a:xfrm>
            <a:off x="438912" y="5756148"/>
            <a:ext cx="5486400" cy="438912"/>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1F2933"/>
                </a:solidFill>
                <a:latin typeface="Arial"/>
              </a:rPr>
              <a:t>A ranked list of an organisation's weakest cryptography is an attacker's pre-sorted shopping list — and the tool ingests KMS and HSM credentials to build it.</a:t>
            </a:r>
          </a:p>
        </p:txBody>
      </p:sp>
      <p:sp>
        <p:nvSpPr>
          <p:cNvPr id="17472" name="Rounded Rectangle 17471"/>
          <p:cNvSpPr/>
          <p:nvPr/>
        </p:nvSpPr>
        <p:spPr>
          <a:xfrm>
            <a:off x="6172200" y="5472684"/>
            <a:ext cx="5742432" cy="786384"/>
          </a:xfrm>
          <a:prstGeom prst="roundRect">
            <a:avLst>
              <a:gd name="adj" fmla="val 11627"/>
            </a:avLst>
          </a:prstGeom>
          <a:solidFill>
            <a:srgbClr val="F1F8F3"/>
          </a:solidFill>
          <a:ln w="9525">
            <a:solidFill>
              <a:srgbClr val="C6DF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73" name="Rectangle 17472"/>
          <p:cNvSpPr/>
          <p:nvPr/>
        </p:nvSpPr>
        <p:spPr>
          <a:xfrm>
            <a:off x="6172200" y="5472684"/>
            <a:ext cx="45720" cy="786384"/>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74" name="TextBox 17473"/>
          <p:cNvSpPr txBox="1"/>
          <p:nvPr/>
        </p:nvSpPr>
        <p:spPr>
          <a:xfrm>
            <a:off x="6336792" y="5536692"/>
            <a:ext cx="5468112" cy="201168"/>
          </a:xfrm>
          <a:prstGeom prst="rect">
            <a:avLst/>
          </a:prstGeom>
          <a:noFill/>
        </p:spPr>
        <p:txBody>
          <a:bodyPr wrap="square" lIns="0" rIns="0" tIns="0" bIns="0" anchor="t">
            <a:noAutofit/>
          </a:bodyPr>
          <a:lstStyle/>
          <a:p>
            <a:pPr algn="l">
              <a:lnSpc>
                <a:spcPct val="100000"/>
              </a:lnSpc>
              <a:spcBef>
                <a:spcPts val="0"/>
              </a:spcBef>
              <a:spcAft>
                <a:spcPts val="0"/>
              </a:spcAft>
            </a:pPr>
            <a:r>
              <a:rPr sz="919" b="1" i="0">
                <a:solidFill>
                  <a:srgbClr val="1A5C36"/>
                </a:solidFill>
                <a:latin typeface="Arial"/>
              </a:rPr>
              <a:t>A security model for the scanner itself</a:t>
            </a:r>
          </a:p>
        </p:txBody>
      </p:sp>
      <p:sp>
        <p:nvSpPr>
          <p:cNvPr id="17475" name="TextBox 17474"/>
          <p:cNvSpPr txBox="1"/>
          <p:nvPr/>
        </p:nvSpPr>
        <p:spPr>
          <a:xfrm>
            <a:off x="6336792" y="5756148"/>
            <a:ext cx="5468112" cy="438912"/>
          </a:xfrm>
          <a:prstGeom prst="rect">
            <a:avLst/>
          </a:prstGeom>
          <a:noFill/>
        </p:spPr>
        <p:txBody>
          <a:bodyPr wrap="square" lIns="0" rIns="0" tIns="0" bIns="0" anchor="t">
            <a:noAutofit/>
          </a:bodyPr>
          <a:lstStyle/>
          <a:p>
            <a:pPr algn="l">
              <a:lnSpc>
                <a:spcPct val="100000"/>
              </a:lnSpc>
              <a:spcBef>
                <a:spcPts val="0"/>
              </a:spcBef>
              <a:spcAft>
                <a:spcPts val="0"/>
              </a:spcAft>
            </a:pPr>
            <a:r>
              <a:rPr sz="819" b="0" i="0">
                <a:solidFill>
                  <a:srgbClr val="1F2933"/>
                </a:solidFill>
                <a:latin typeface="Arial"/>
              </a:rPr>
              <a:t>Read-only least-privilege connectors (never </a:t>
            </a:r>
            <a:r>
              <a:rPr sz="819" b="0" i="0">
                <a:solidFill>
                  <a:srgbClr val="0E8C86"/>
                </a:solidFill>
                <a:latin typeface="Consolas"/>
              </a:rPr>
              <a:t>Decrypt</a:t>
            </a:r>
            <a:r>
              <a:rPr sz="819" b="0" i="0">
                <a:solidFill>
                  <a:srgbClr val="1F2933"/>
                </a:solidFill>
                <a:latin typeface="Arial"/>
              </a:rPr>
              <a:t>, never </a:t>
            </a:r>
            <a:r>
              <a:rPr sz="819" b="0" i="0">
                <a:solidFill>
                  <a:srgbClr val="0E8C86"/>
                </a:solidFill>
                <a:latin typeface="Consolas"/>
              </a:rPr>
              <a:t>Sign</a:t>
            </a:r>
            <a:r>
              <a:rPr sz="819" b="0" i="0">
                <a:solidFill>
                  <a:srgbClr val="1F2933"/>
                </a:solidFill>
                <a:latin typeface="Arial"/>
              </a:rPr>
              <a:t>)  ·  allowlist-gated probing, refused not warned  ·  </a:t>
            </a:r>
            <a:r>
              <a:rPr sz="819" b="0" i="0">
                <a:solidFill>
                  <a:srgbClr val="0E8C86"/>
                </a:solidFill>
                <a:latin typeface="Consolas"/>
              </a:rPr>
              <a:t>Z</a:t>
            </a:r>
            <a:r>
              <a:rPr sz="819" b="0" i="0">
                <a:solidFill>
                  <a:srgbClr val="1F2933"/>
                </a:solidFill>
                <a:latin typeface="Arial"/>
              </a:rPr>
              <a:t> and weights are role-gated  ·  every export audit-logged  ·  discovered private keys recorded as </a:t>
            </a:r>
            <a:r>
              <a:rPr sz="819" b="1" i="0">
                <a:solidFill>
                  <a:srgbClr val="1F2933"/>
                </a:solidFill>
                <a:latin typeface="Arial"/>
              </a:rPr>
              <a:t>fingerprint only</a:t>
            </a:r>
            <a:r>
              <a:rPr sz="819" b="0" i="0">
                <a:solidFill>
                  <a:srgbClr val="1F2933"/>
                </a:solidFill>
                <a:latin typeface="Arial"/>
              </a:rPr>
              <a:t>.</a:t>
            </a:r>
          </a:p>
        </p:txBody>
      </p:sp>
      <p:sp>
        <p:nvSpPr>
          <p:cNvPr id="17476" name="TextBox 17475"/>
          <p:cNvSpPr txBox="1"/>
          <p:nvPr/>
        </p:nvSpPr>
        <p:spPr>
          <a:xfrm>
            <a:off x="5984748" y="5747004"/>
            <a:ext cx="201168" cy="237744"/>
          </a:xfrm>
          <a:prstGeom prst="rect">
            <a:avLst/>
          </a:prstGeom>
          <a:noFill/>
        </p:spPr>
        <p:txBody>
          <a:bodyPr wrap="square" lIns="0" rIns="0" tIns="0" bIns="0" anchor="t">
            <a:noAutofit/>
          </a:bodyPr>
          <a:lstStyle/>
          <a:p>
            <a:pPr algn="ctr">
              <a:lnSpc>
                <a:spcPct val="100000"/>
              </a:lnSpc>
              <a:spcBef>
                <a:spcPts val="0"/>
              </a:spcBef>
              <a:spcAft>
                <a:spcPts val="0"/>
              </a:spcAft>
            </a:pPr>
            <a:r>
              <a:rPr sz="1100" b="0" i="0">
                <a:solidFill>
                  <a:srgbClr val="5A6B7C"/>
                </a:solidFill>
                <a:latin typeface="Arial"/>
              </a:rPr>
              <a:t>→</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1">
                <a:solidFill>
                  <a:srgbClr val="1F497D"/>
                </a:solidFill>
              </a:rPr>
              <a:t>Team Nexus</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Rectangle 17409"/>
          <p:cNvSpPr/>
          <p:nvPr/>
        </p:nvSpPr>
        <p:spPr>
          <a:xfrm>
            <a:off x="274320" y="1321307"/>
            <a:ext cx="5760720" cy="16459"/>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1" name="TextBox 17410"/>
          <p:cNvSpPr txBox="1"/>
          <p:nvPr/>
        </p:nvSpPr>
        <p:spPr>
          <a:xfrm>
            <a:off x="274320" y="1060704"/>
            <a:ext cx="5760720" cy="265176"/>
          </a:xfrm>
          <a:prstGeom prst="rect">
            <a:avLst/>
          </a:prstGeom>
          <a:noFill/>
        </p:spPr>
        <p:txBody>
          <a:bodyPr wrap="square" lIns="0" rIns="0" tIns="0" bIns="0" anchor="b">
            <a:noAutofit/>
          </a:bodyPr>
          <a:lstStyle/>
          <a:p>
            <a:pPr algn="l">
              <a:lnSpc>
                <a:spcPct val="100000"/>
              </a:lnSpc>
              <a:spcBef>
                <a:spcPts val="0"/>
              </a:spcBef>
              <a:spcAft>
                <a:spcPts val="0"/>
              </a:spcAft>
            </a:pPr>
            <a:r>
              <a:rPr sz="1250" b="1" i="0">
                <a:solidFill>
                  <a:srgbClr val="1F497D"/>
                </a:solidFill>
                <a:latin typeface="Arial"/>
              </a:rPr>
              <a:t>Potential impact on the target audience</a:t>
            </a:r>
          </a:p>
        </p:txBody>
      </p:sp>
      <p:sp>
        <p:nvSpPr>
          <p:cNvPr id="17412" name="Rounded Rectangle 17411"/>
          <p:cNvSpPr/>
          <p:nvPr/>
        </p:nvSpPr>
        <p:spPr>
          <a:xfrm>
            <a:off x="274320" y="1408176"/>
            <a:ext cx="5760720" cy="603504"/>
          </a:xfrm>
          <a:prstGeom prst="roundRect">
            <a:avLst>
              <a:gd name="adj" fmla="val 15151"/>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3" name="Rectangle 17412"/>
          <p:cNvSpPr/>
          <p:nvPr/>
        </p:nvSpPr>
        <p:spPr>
          <a:xfrm>
            <a:off x="274320" y="1408176"/>
            <a:ext cx="45720" cy="603504"/>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4" name="TextBox 17413"/>
          <p:cNvSpPr txBox="1"/>
          <p:nvPr/>
        </p:nvSpPr>
        <p:spPr>
          <a:xfrm>
            <a:off x="438912" y="1463040"/>
            <a:ext cx="5486400" cy="192024"/>
          </a:xfrm>
          <a:prstGeom prst="rect">
            <a:avLst/>
          </a:prstGeom>
          <a:noFill/>
        </p:spPr>
        <p:txBody>
          <a:bodyPr wrap="square" lIns="0" rIns="0" tIns="0" bIns="0" anchor="t">
            <a:noAutofit/>
          </a:bodyPr>
          <a:lstStyle/>
          <a:p>
            <a:pPr algn="l">
              <a:lnSpc>
                <a:spcPct val="100000"/>
              </a:lnSpc>
              <a:spcBef>
                <a:spcPts val="0"/>
              </a:spcBef>
              <a:spcAft>
                <a:spcPts val="0"/>
              </a:spcAft>
            </a:pPr>
            <a:r>
              <a:rPr sz="940" b="1" i="0">
                <a:solidFill>
                  <a:srgbClr val="1F497D"/>
                </a:solidFill>
                <a:latin typeface="Arial"/>
              </a:rPr>
              <a:t>CISO / risk officer</a:t>
            </a:r>
          </a:p>
        </p:txBody>
      </p:sp>
      <p:sp>
        <p:nvSpPr>
          <p:cNvPr id="17415" name="TextBox 17414"/>
          <p:cNvSpPr txBox="1"/>
          <p:nvPr/>
        </p:nvSpPr>
        <p:spPr>
          <a:xfrm>
            <a:off x="438912" y="1664208"/>
            <a:ext cx="5486400" cy="292608"/>
          </a:xfrm>
          <a:prstGeom prst="rect">
            <a:avLst/>
          </a:prstGeom>
          <a:noFill/>
        </p:spPr>
        <p:txBody>
          <a:bodyPr wrap="square" lIns="0" rIns="0" tIns="0" bIns="0" anchor="t">
            <a:noAutofit/>
          </a:bodyPr>
          <a:lstStyle/>
          <a:p>
            <a:pPr algn="l">
              <a:lnSpc>
                <a:spcPct val="100000"/>
              </a:lnSpc>
              <a:spcBef>
                <a:spcPts val="0"/>
              </a:spcBef>
              <a:spcAft>
                <a:spcPts val="0"/>
              </a:spcAft>
            </a:pPr>
            <a:r>
              <a:rPr sz="830" b="0" i="0">
                <a:solidFill>
                  <a:srgbClr val="1F2933"/>
                </a:solidFill>
                <a:latin typeface="Arial"/>
              </a:rPr>
              <a:t>Replaces a spreadsheet guess with a ranked, defensible board report — and owns the </a:t>
            </a:r>
            <a:r>
              <a:rPr sz="830" b="0" i="0">
                <a:solidFill>
                  <a:srgbClr val="0E8C86"/>
                </a:solidFill>
                <a:latin typeface="Consolas"/>
              </a:rPr>
              <a:t>Z</a:t>
            </a:r>
            <a:r>
              <a:rPr sz="830" b="0" i="0">
                <a:solidFill>
                  <a:srgbClr val="1F2933"/>
                </a:solidFill>
                <a:latin typeface="Arial"/>
              </a:rPr>
              <a:t> dial and the criticality weights that drive it.</a:t>
            </a:r>
          </a:p>
        </p:txBody>
      </p:sp>
      <p:sp>
        <p:nvSpPr>
          <p:cNvPr id="17416" name="Rounded Rectangle 17415"/>
          <p:cNvSpPr/>
          <p:nvPr/>
        </p:nvSpPr>
        <p:spPr>
          <a:xfrm>
            <a:off x="274320" y="2057400"/>
            <a:ext cx="5760720" cy="603504"/>
          </a:xfrm>
          <a:prstGeom prst="roundRect">
            <a:avLst>
              <a:gd name="adj" fmla="val 15151"/>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7" name="Rectangle 17416"/>
          <p:cNvSpPr/>
          <p:nvPr/>
        </p:nvSpPr>
        <p:spPr>
          <a:xfrm>
            <a:off x="274320" y="2057400"/>
            <a:ext cx="45720" cy="603504"/>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8" name="TextBox 17417"/>
          <p:cNvSpPr txBox="1"/>
          <p:nvPr/>
        </p:nvSpPr>
        <p:spPr>
          <a:xfrm>
            <a:off x="438912" y="2112264"/>
            <a:ext cx="5486400" cy="192024"/>
          </a:xfrm>
          <a:prstGeom prst="rect">
            <a:avLst/>
          </a:prstGeom>
          <a:noFill/>
        </p:spPr>
        <p:txBody>
          <a:bodyPr wrap="square" lIns="0" rIns="0" tIns="0" bIns="0" anchor="t">
            <a:noAutofit/>
          </a:bodyPr>
          <a:lstStyle/>
          <a:p>
            <a:pPr algn="l">
              <a:lnSpc>
                <a:spcPct val="100000"/>
              </a:lnSpc>
              <a:spcBef>
                <a:spcPts val="0"/>
              </a:spcBef>
              <a:spcAft>
                <a:spcPts val="0"/>
              </a:spcAft>
            </a:pPr>
            <a:r>
              <a:rPr sz="940" b="1" i="0">
                <a:solidFill>
                  <a:srgbClr val="1F497D"/>
                </a:solidFill>
                <a:latin typeface="Arial"/>
              </a:rPr>
              <a:t>Security / crypto engineer</a:t>
            </a:r>
          </a:p>
        </p:txBody>
      </p:sp>
      <p:sp>
        <p:nvSpPr>
          <p:cNvPr id="17419" name="TextBox 17418"/>
          <p:cNvSpPr txBox="1"/>
          <p:nvPr/>
        </p:nvSpPr>
        <p:spPr>
          <a:xfrm>
            <a:off x="438912" y="2313432"/>
            <a:ext cx="5486400" cy="292608"/>
          </a:xfrm>
          <a:prstGeom prst="rect">
            <a:avLst/>
          </a:prstGeom>
          <a:noFill/>
        </p:spPr>
        <p:txBody>
          <a:bodyPr wrap="square" lIns="0" rIns="0" tIns="0" bIns="0" anchor="t">
            <a:noAutofit/>
          </a:bodyPr>
          <a:lstStyle/>
          <a:p>
            <a:pPr algn="l">
              <a:lnSpc>
                <a:spcPct val="100000"/>
              </a:lnSpc>
              <a:spcBef>
                <a:spcPts val="0"/>
              </a:spcBef>
              <a:spcAft>
                <a:spcPts val="0"/>
              </a:spcAft>
            </a:pPr>
            <a:r>
              <a:rPr sz="830" b="0" i="0">
                <a:solidFill>
                  <a:srgbClr val="1F2933"/>
                </a:solidFill>
                <a:latin typeface="Arial"/>
              </a:rPr>
              <a:t>Algorithm, key size, library version and </a:t>
            </a:r>
            <a:r>
              <a:rPr sz="830" b="0" i="0">
                <a:solidFill>
                  <a:srgbClr val="0E8C86"/>
                </a:solidFill>
                <a:latin typeface="Consolas"/>
              </a:rPr>
              <a:t>file:line</a:t>
            </a:r>
            <a:r>
              <a:rPr sz="830" b="0" i="0">
                <a:solidFill>
                  <a:srgbClr val="1F2933"/>
                </a:solidFill>
                <a:latin typeface="Arial"/>
              </a:rPr>
              <a:t> per finding, with a confidence band attached to each one.</a:t>
            </a:r>
          </a:p>
        </p:txBody>
      </p:sp>
      <p:sp>
        <p:nvSpPr>
          <p:cNvPr id="17420" name="Rounded Rectangle 17419"/>
          <p:cNvSpPr/>
          <p:nvPr/>
        </p:nvSpPr>
        <p:spPr>
          <a:xfrm>
            <a:off x="274320" y="2706624"/>
            <a:ext cx="5760720" cy="603504"/>
          </a:xfrm>
          <a:prstGeom prst="roundRect">
            <a:avLst>
              <a:gd name="adj" fmla="val 15151"/>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1" name="Rectangle 17420"/>
          <p:cNvSpPr/>
          <p:nvPr/>
        </p:nvSpPr>
        <p:spPr>
          <a:xfrm>
            <a:off x="274320" y="2706624"/>
            <a:ext cx="45720" cy="603504"/>
          </a:xfrm>
          <a:prstGeom prst="rect">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2" name="TextBox 17421"/>
          <p:cNvSpPr txBox="1"/>
          <p:nvPr/>
        </p:nvSpPr>
        <p:spPr>
          <a:xfrm>
            <a:off x="438912" y="2761488"/>
            <a:ext cx="5486400" cy="192024"/>
          </a:xfrm>
          <a:prstGeom prst="rect">
            <a:avLst/>
          </a:prstGeom>
          <a:noFill/>
        </p:spPr>
        <p:txBody>
          <a:bodyPr wrap="square" lIns="0" rIns="0" tIns="0" bIns="0" anchor="t">
            <a:noAutofit/>
          </a:bodyPr>
          <a:lstStyle/>
          <a:p>
            <a:pPr algn="l">
              <a:lnSpc>
                <a:spcPct val="100000"/>
              </a:lnSpc>
              <a:spcBef>
                <a:spcPts val="0"/>
              </a:spcBef>
              <a:spcAft>
                <a:spcPts val="0"/>
              </a:spcAft>
            </a:pPr>
            <a:r>
              <a:rPr sz="940" b="1" i="0">
                <a:solidFill>
                  <a:srgbClr val="1F497D"/>
                </a:solidFill>
                <a:latin typeface="Arial"/>
              </a:rPr>
              <a:t>DevOps / platform team</a:t>
            </a:r>
          </a:p>
        </p:txBody>
      </p:sp>
      <p:sp>
        <p:nvSpPr>
          <p:cNvPr id="17423" name="TextBox 17422"/>
          <p:cNvSpPr txBox="1"/>
          <p:nvPr/>
        </p:nvSpPr>
        <p:spPr>
          <a:xfrm>
            <a:off x="438912" y="2962656"/>
            <a:ext cx="5486400" cy="292608"/>
          </a:xfrm>
          <a:prstGeom prst="rect">
            <a:avLst/>
          </a:prstGeom>
          <a:noFill/>
        </p:spPr>
        <p:txBody>
          <a:bodyPr wrap="square" lIns="0" rIns="0" tIns="0" bIns="0" anchor="t">
            <a:noAutofit/>
          </a:bodyPr>
          <a:lstStyle/>
          <a:p>
            <a:pPr algn="l">
              <a:lnSpc>
                <a:spcPct val="100000"/>
              </a:lnSpc>
              <a:spcBef>
                <a:spcPts val="0"/>
              </a:spcBef>
              <a:spcAft>
                <a:spcPts val="0"/>
              </a:spcAft>
            </a:pPr>
            <a:r>
              <a:rPr sz="830" b="0" i="0">
                <a:solidFill>
                  <a:srgbClr val="1F2933"/>
                </a:solidFill>
                <a:latin typeface="Arial"/>
              </a:rPr>
              <a:t>One command or one drag-and-drop. No agent, no cluster, no code leaving the building.</a:t>
            </a:r>
          </a:p>
        </p:txBody>
      </p:sp>
      <p:sp>
        <p:nvSpPr>
          <p:cNvPr id="17424" name="Rounded Rectangle 17423"/>
          <p:cNvSpPr/>
          <p:nvPr/>
        </p:nvSpPr>
        <p:spPr>
          <a:xfrm>
            <a:off x="274320" y="3355848"/>
            <a:ext cx="5760720" cy="603504"/>
          </a:xfrm>
          <a:prstGeom prst="roundRect">
            <a:avLst>
              <a:gd name="adj" fmla="val 15151"/>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5" name="Rectangle 17424"/>
          <p:cNvSpPr/>
          <p:nvPr/>
        </p:nvSpPr>
        <p:spPr>
          <a:xfrm>
            <a:off x="274320" y="3355848"/>
            <a:ext cx="45720" cy="603504"/>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6" name="TextBox 17425"/>
          <p:cNvSpPr txBox="1"/>
          <p:nvPr/>
        </p:nvSpPr>
        <p:spPr>
          <a:xfrm>
            <a:off x="438912" y="3410712"/>
            <a:ext cx="5486400" cy="192024"/>
          </a:xfrm>
          <a:prstGeom prst="rect">
            <a:avLst/>
          </a:prstGeom>
          <a:noFill/>
        </p:spPr>
        <p:txBody>
          <a:bodyPr wrap="square" lIns="0" rIns="0" tIns="0" bIns="0" anchor="t">
            <a:noAutofit/>
          </a:bodyPr>
          <a:lstStyle/>
          <a:p>
            <a:pPr algn="l">
              <a:lnSpc>
                <a:spcPct val="100000"/>
              </a:lnSpc>
              <a:spcBef>
                <a:spcPts val="0"/>
              </a:spcBef>
              <a:spcAft>
                <a:spcPts val="0"/>
              </a:spcAft>
            </a:pPr>
            <a:r>
              <a:rPr sz="940" b="1" i="0">
                <a:solidFill>
                  <a:srgbClr val="1F497D"/>
                </a:solidFill>
                <a:latin typeface="Arial"/>
              </a:rPr>
              <a:t>Compliance / audit lead</a:t>
            </a:r>
          </a:p>
        </p:txBody>
      </p:sp>
      <p:sp>
        <p:nvSpPr>
          <p:cNvPr id="17427" name="TextBox 17426"/>
          <p:cNvSpPr txBox="1"/>
          <p:nvPr/>
        </p:nvSpPr>
        <p:spPr>
          <a:xfrm>
            <a:off x="438912" y="3611880"/>
            <a:ext cx="5486400" cy="292608"/>
          </a:xfrm>
          <a:prstGeom prst="rect">
            <a:avLst/>
          </a:prstGeom>
          <a:noFill/>
        </p:spPr>
        <p:txBody>
          <a:bodyPr wrap="square" lIns="0" rIns="0" tIns="0" bIns="0" anchor="t">
            <a:noAutofit/>
          </a:bodyPr>
          <a:lstStyle/>
          <a:p>
            <a:pPr algn="l">
              <a:lnSpc>
                <a:spcPct val="100000"/>
              </a:lnSpc>
              <a:spcBef>
                <a:spcPts val="0"/>
              </a:spcBef>
              <a:spcAft>
                <a:spcPts val="0"/>
              </a:spcAft>
            </a:pPr>
            <a:r>
              <a:rPr sz="830" b="0" i="0">
                <a:solidFill>
                  <a:srgbClr val="1F2933"/>
                </a:solidFill>
                <a:latin typeface="Arial"/>
              </a:rPr>
              <a:t>A standards-conformant CycloneDX 1.7 CBOM is regulatory evidence. A screenshot is not.</a:t>
            </a:r>
          </a:p>
        </p:txBody>
      </p:sp>
      <p:sp>
        <p:nvSpPr>
          <p:cNvPr id="17428" name="Rounded Rectangle 17427"/>
          <p:cNvSpPr/>
          <p:nvPr/>
        </p:nvSpPr>
        <p:spPr>
          <a:xfrm>
            <a:off x="274320" y="4005072"/>
            <a:ext cx="5760720" cy="658368"/>
          </a:xfrm>
          <a:prstGeom prst="roundRect">
            <a:avLst>
              <a:gd name="adj" fmla="val 13888"/>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9" name="Rectangle 17428"/>
          <p:cNvSpPr/>
          <p:nvPr/>
        </p:nvSpPr>
        <p:spPr>
          <a:xfrm>
            <a:off x="274320" y="4005072"/>
            <a:ext cx="45720" cy="65836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0" name="TextBox 17429"/>
          <p:cNvSpPr txBox="1"/>
          <p:nvPr/>
        </p:nvSpPr>
        <p:spPr>
          <a:xfrm>
            <a:off x="438912" y="4059935"/>
            <a:ext cx="5486400" cy="192024"/>
          </a:xfrm>
          <a:prstGeom prst="rect">
            <a:avLst/>
          </a:prstGeom>
          <a:noFill/>
        </p:spPr>
        <p:txBody>
          <a:bodyPr wrap="square" lIns="0" rIns="0" tIns="0" bIns="0" anchor="t">
            <a:noAutofit/>
          </a:bodyPr>
          <a:lstStyle/>
          <a:p>
            <a:pPr algn="l">
              <a:lnSpc>
                <a:spcPct val="100000"/>
              </a:lnSpc>
              <a:spcBef>
                <a:spcPts val="0"/>
              </a:spcBef>
              <a:spcAft>
                <a:spcPts val="0"/>
              </a:spcAft>
            </a:pPr>
            <a:r>
              <a:rPr sz="940" b="1" i="0">
                <a:solidFill>
                  <a:srgbClr val="1F497D"/>
                </a:solidFill>
                <a:latin typeface="Arial"/>
              </a:rPr>
              <a:t>India, at national scale</a:t>
            </a:r>
          </a:p>
        </p:txBody>
      </p:sp>
      <p:sp>
        <p:nvSpPr>
          <p:cNvPr id="17431" name="TextBox 17430"/>
          <p:cNvSpPr txBox="1"/>
          <p:nvPr/>
        </p:nvSpPr>
        <p:spPr>
          <a:xfrm>
            <a:off x="438912" y="4261104"/>
            <a:ext cx="5486400" cy="347471"/>
          </a:xfrm>
          <a:prstGeom prst="rect">
            <a:avLst/>
          </a:prstGeom>
          <a:noFill/>
        </p:spPr>
        <p:txBody>
          <a:bodyPr wrap="square" lIns="0" rIns="0" tIns="0" bIns="0" anchor="t">
            <a:noAutofit/>
          </a:bodyPr>
          <a:lstStyle/>
          <a:p>
            <a:pPr algn="l">
              <a:lnSpc>
                <a:spcPct val="100000"/>
              </a:lnSpc>
              <a:spcBef>
                <a:spcPts val="0"/>
              </a:spcBef>
              <a:spcAft>
                <a:spcPts val="0"/>
              </a:spcAft>
            </a:pPr>
            <a:r>
              <a:rPr sz="830" b="0" i="0">
                <a:solidFill>
                  <a:srgbClr val="1F2933"/>
                </a:solidFill>
                <a:latin typeface="Arial"/>
              </a:rPr>
              <a:t>RBI, SEBI, UIDAI, defence and telecom all hold data with confidentiality requirements beyond 2035. Inventory is the step every PQC transition has to start from — and the step nobody has done.</a:t>
            </a:r>
          </a:p>
        </p:txBody>
      </p:sp>
      <p:pic>
        <p:nvPicPr>
          <p:cNvPr id="17432" name="Picture 17431" descr="recs.png"/>
          <p:cNvPicPr>
            <a:picLocks noChangeAspect="1"/>
          </p:cNvPicPr>
          <p:nvPr/>
        </p:nvPicPr>
        <p:blipFill>
          <a:blip r:embed="rId4"/>
          <a:stretch>
            <a:fillRect/>
          </a:stretch>
        </p:blipFill>
        <p:spPr>
          <a:xfrm>
            <a:off x="6172200" y="1408176"/>
            <a:ext cx="5742432" cy="2761488"/>
          </a:xfrm>
          <a:prstGeom prst="rect">
            <a:avLst/>
          </a:prstGeom>
        </p:spPr>
      </p:pic>
      <p:sp>
        <p:nvSpPr>
          <p:cNvPr id="17433" name="TextBox 17432"/>
          <p:cNvSpPr txBox="1"/>
          <p:nvPr/>
        </p:nvSpPr>
        <p:spPr>
          <a:xfrm>
            <a:off x="6172200" y="4187952"/>
            <a:ext cx="5742432" cy="219456"/>
          </a:xfrm>
          <a:prstGeom prst="rect">
            <a:avLst/>
          </a:prstGeom>
          <a:noFill/>
        </p:spPr>
        <p:txBody>
          <a:bodyPr wrap="square" lIns="0" rIns="0" tIns="0" bIns="0" anchor="t">
            <a:noAutofit/>
          </a:bodyPr>
          <a:lstStyle/>
          <a:p>
            <a:pPr algn="ctr">
              <a:lnSpc>
                <a:spcPct val="100000"/>
              </a:lnSpc>
              <a:spcBef>
                <a:spcPts val="0"/>
              </a:spcBef>
              <a:spcAft>
                <a:spcPts val="0"/>
              </a:spcAft>
            </a:pPr>
            <a:r>
              <a:rPr sz="800" b="0" i="0">
                <a:solidFill>
                  <a:srgbClr val="5A6B7C"/>
                </a:solidFill>
                <a:latin typeface="Arial"/>
              </a:rPr>
              <a:t>Recommendations — every broken asset gets a named NIST replacement, ranked, with hybrid and standards-maturity flags.</a:t>
            </a:r>
          </a:p>
        </p:txBody>
      </p:sp>
      <p:sp>
        <p:nvSpPr>
          <p:cNvPr id="17434" name="Rounded Rectangle 17433"/>
          <p:cNvSpPr/>
          <p:nvPr/>
        </p:nvSpPr>
        <p:spPr>
          <a:xfrm>
            <a:off x="6172200" y="4425696"/>
            <a:ext cx="5742432" cy="475488"/>
          </a:xfrm>
          <a:prstGeom prst="roundRect">
            <a:avLst>
              <a:gd name="adj" fmla="val 19230"/>
            </a:avLst>
          </a:prstGeom>
          <a:solidFill>
            <a:srgbClr val="FFF6E5"/>
          </a:solidFill>
          <a:ln w="9525">
            <a:solidFill>
              <a:srgbClr val="E8C88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5" name="Rectangle 17434"/>
          <p:cNvSpPr/>
          <p:nvPr/>
        </p:nvSpPr>
        <p:spPr>
          <a:xfrm>
            <a:off x="6172200" y="4425696"/>
            <a:ext cx="50292" cy="475488"/>
          </a:xfrm>
          <a:prstGeom prst="rect">
            <a:avLst/>
          </a:prstGeom>
          <a:solidFill>
            <a:srgbClr val="B977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6" name="TextBox 17435"/>
          <p:cNvSpPr txBox="1"/>
          <p:nvPr/>
        </p:nvSpPr>
        <p:spPr>
          <a:xfrm>
            <a:off x="6345936" y="4507992"/>
            <a:ext cx="5431536" cy="310896"/>
          </a:xfrm>
          <a:prstGeom prst="rect">
            <a:avLst/>
          </a:prstGeom>
          <a:noFill/>
        </p:spPr>
        <p:txBody>
          <a:bodyPr wrap="square" lIns="0" rIns="0" tIns="0" bIns="0" anchor="t">
            <a:noAutofit/>
          </a:bodyPr>
          <a:lstStyle/>
          <a:p>
            <a:pPr algn="l">
              <a:lnSpc>
                <a:spcPct val="103000"/>
              </a:lnSpc>
              <a:spcBef>
                <a:spcPts val="0"/>
              </a:spcBef>
              <a:spcAft>
                <a:spcPts val="0"/>
              </a:spcAft>
            </a:pPr>
            <a:r>
              <a:rPr sz="900" b="1" i="0">
                <a:solidFill>
                  <a:srgbClr val="6B4A08"/>
                </a:solidFill>
                <a:latin typeface="Arial"/>
              </a:rPr>
              <a:t>In plain English:</a:t>
            </a:r>
            <a:r>
              <a:rPr sz="900" b="0" i="0">
                <a:solidFill>
                  <a:srgbClr val="6B4A08"/>
                </a:solidFill>
                <a:latin typeface="Arial"/>
              </a:rPr>
              <a:t> it does not just say "this lock is weak". It says </a:t>
            </a:r>
            <a:r>
              <a:rPr sz="900" b="0" i="1">
                <a:solidFill>
                  <a:srgbClr val="6B4A08"/>
                </a:solidFill>
                <a:latin typeface="Arial"/>
              </a:rPr>
              <a:t>replace this exact lock, with this exact model, before this date</a:t>
            </a:r>
            <a:r>
              <a:rPr sz="900" b="0" i="0">
                <a:solidFill>
                  <a:srgbClr val="6B4A08"/>
                </a:solidFill>
                <a:latin typeface="Arial"/>
              </a:rPr>
              <a:t> — and puts the six that matter most at the top of the list.</a:t>
            </a:r>
          </a:p>
        </p:txBody>
      </p:sp>
      <p:sp>
        <p:nvSpPr>
          <p:cNvPr id="17437" name="Rectangle 17436"/>
          <p:cNvSpPr/>
          <p:nvPr/>
        </p:nvSpPr>
        <p:spPr>
          <a:xfrm>
            <a:off x="274320" y="5308092"/>
            <a:ext cx="11640312" cy="16459"/>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8" name="TextBox 17437"/>
          <p:cNvSpPr txBox="1"/>
          <p:nvPr/>
        </p:nvSpPr>
        <p:spPr>
          <a:xfrm>
            <a:off x="274320" y="5047488"/>
            <a:ext cx="11640312" cy="265176"/>
          </a:xfrm>
          <a:prstGeom prst="rect">
            <a:avLst/>
          </a:prstGeom>
          <a:noFill/>
        </p:spPr>
        <p:txBody>
          <a:bodyPr wrap="square" lIns="0" rIns="0" tIns="0" bIns="0" anchor="b">
            <a:noAutofit/>
          </a:bodyPr>
          <a:lstStyle/>
          <a:p>
            <a:pPr algn="l">
              <a:lnSpc>
                <a:spcPct val="100000"/>
              </a:lnSpc>
              <a:spcBef>
                <a:spcPts val="0"/>
              </a:spcBef>
              <a:spcAft>
                <a:spcPts val="0"/>
              </a:spcAft>
            </a:pPr>
            <a:r>
              <a:rPr sz="1250" b="1" i="0">
                <a:solidFill>
                  <a:srgbClr val="1F497D"/>
                </a:solidFill>
                <a:latin typeface="Arial"/>
              </a:rPr>
              <a:t>Benefits of the solution (social, economic, environmental, etc.)</a:t>
            </a:r>
          </a:p>
        </p:txBody>
      </p:sp>
      <p:sp>
        <p:nvSpPr>
          <p:cNvPr id="17439" name="Rounded Rectangle 17438"/>
          <p:cNvSpPr/>
          <p:nvPr/>
        </p:nvSpPr>
        <p:spPr>
          <a:xfrm>
            <a:off x="274320" y="5394960"/>
            <a:ext cx="2862072" cy="850392"/>
          </a:xfrm>
          <a:prstGeom prst="roundRect">
            <a:avLst>
              <a:gd name="adj" fmla="val 10752"/>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0" name="Rounded Rectangle 17439"/>
          <p:cNvSpPr/>
          <p:nvPr/>
        </p:nvSpPr>
        <p:spPr>
          <a:xfrm>
            <a:off x="274320" y="5394960"/>
            <a:ext cx="2862072" cy="196596"/>
          </a:xfrm>
          <a:prstGeom prst="roundRect">
            <a:avLst>
              <a:gd name="adj" fmla="val 46511"/>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1" name="TextBox 17440"/>
          <p:cNvSpPr txBox="1"/>
          <p:nvPr/>
        </p:nvSpPr>
        <p:spPr>
          <a:xfrm>
            <a:off x="329184" y="5408676"/>
            <a:ext cx="2752344" cy="173736"/>
          </a:xfrm>
          <a:prstGeom prst="rect">
            <a:avLst/>
          </a:prstGeom>
          <a:noFill/>
        </p:spPr>
        <p:txBody>
          <a:bodyPr wrap="square" lIns="0" rIns="0" tIns="0" bIns="0" anchor="ctr">
            <a:noAutofit/>
          </a:bodyPr>
          <a:lstStyle/>
          <a:p>
            <a:pPr algn="ctr">
              <a:lnSpc>
                <a:spcPct val="100000"/>
              </a:lnSpc>
              <a:spcBef>
                <a:spcPts val="0"/>
              </a:spcBef>
              <a:spcAft>
                <a:spcPts val="0"/>
              </a:spcAft>
            </a:pPr>
            <a:r>
              <a:rPr sz="819" b="1" i="0">
                <a:solidFill>
                  <a:srgbClr val="FFFFFF"/>
                </a:solidFill>
                <a:latin typeface="Arial"/>
              </a:rPr>
              <a:t>SOCIAL</a:t>
            </a:r>
          </a:p>
        </p:txBody>
      </p:sp>
      <p:sp>
        <p:nvSpPr>
          <p:cNvPr id="17442" name="TextBox 17441"/>
          <p:cNvSpPr txBox="1"/>
          <p:nvPr/>
        </p:nvSpPr>
        <p:spPr>
          <a:xfrm>
            <a:off x="393192" y="5623560"/>
            <a:ext cx="2624328" cy="585216"/>
          </a:xfrm>
          <a:prstGeom prst="rect">
            <a:avLst/>
          </a:prstGeom>
          <a:noFill/>
        </p:spPr>
        <p:txBody>
          <a:bodyPr wrap="square" lIns="0" rIns="0" tIns="0" bIns="0" anchor="t">
            <a:noAutofit/>
          </a:bodyPr>
          <a:lstStyle/>
          <a:p>
            <a:pPr algn="l">
              <a:lnSpc>
                <a:spcPct val="100000"/>
              </a:lnSpc>
              <a:spcBef>
                <a:spcPts val="0"/>
              </a:spcBef>
              <a:spcAft>
                <a:spcPts val="0"/>
              </a:spcAft>
            </a:pPr>
            <a:r>
              <a:rPr sz="770" b="0" i="0">
                <a:solidFill>
                  <a:srgbClr val="1F2933"/>
                </a:solidFill>
                <a:latin typeface="Arial"/>
              </a:rPr>
              <a:t>Citizen data recorded today — Aadhaar-linked, health, financial — stays private after Q-Day. Harvest-now-decrypt-later can only be defeated </a:t>
            </a:r>
            <a:r>
              <a:rPr sz="770" b="0" i="1">
                <a:solidFill>
                  <a:srgbClr val="1F2933"/>
                </a:solidFill>
                <a:latin typeface="Arial"/>
              </a:rPr>
              <a:t>before</a:t>
            </a:r>
            <a:r>
              <a:rPr sz="770" b="0" i="0">
                <a:solidFill>
                  <a:srgbClr val="1F2933"/>
                </a:solidFill>
                <a:latin typeface="Arial"/>
              </a:rPr>
              <a:t> it arrives.</a:t>
            </a:r>
          </a:p>
        </p:txBody>
      </p:sp>
      <p:sp>
        <p:nvSpPr>
          <p:cNvPr id="17443" name="Rounded Rectangle 17442"/>
          <p:cNvSpPr/>
          <p:nvPr/>
        </p:nvSpPr>
        <p:spPr>
          <a:xfrm>
            <a:off x="3212287" y="5394960"/>
            <a:ext cx="2862072" cy="850392"/>
          </a:xfrm>
          <a:prstGeom prst="roundRect">
            <a:avLst>
              <a:gd name="adj" fmla="val 10752"/>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4" name="Rounded Rectangle 17443"/>
          <p:cNvSpPr/>
          <p:nvPr/>
        </p:nvSpPr>
        <p:spPr>
          <a:xfrm>
            <a:off x="3212287" y="5394960"/>
            <a:ext cx="2862072" cy="196596"/>
          </a:xfrm>
          <a:prstGeom prst="roundRect">
            <a:avLst>
              <a:gd name="adj" fmla="val 46511"/>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5" name="TextBox 17444"/>
          <p:cNvSpPr txBox="1"/>
          <p:nvPr/>
        </p:nvSpPr>
        <p:spPr>
          <a:xfrm>
            <a:off x="3267151" y="5408676"/>
            <a:ext cx="2752344" cy="173736"/>
          </a:xfrm>
          <a:prstGeom prst="rect">
            <a:avLst/>
          </a:prstGeom>
          <a:noFill/>
        </p:spPr>
        <p:txBody>
          <a:bodyPr wrap="square" lIns="0" rIns="0" tIns="0" bIns="0" anchor="ctr">
            <a:noAutofit/>
          </a:bodyPr>
          <a:lstStyle/>
          <a:p>
            <a:pPr algn="ctr">
              <a:lnSpc>
                <a:spcPct val="100000"/>
              </a:lnSpc>
              <a:spcBef>
                <a:spcPts val="0"/>
              </a:spcBef>
              <a:spcAft>
                <a:spcPts val="0"/>
              </a:spcAft>
            </a:pPr>
            <a:r>
              <a:rPr sz="819" b="1" i="0">
                <a:solidFill>
                  <a:srgbClr val="FFFFFF"/>
                </a:solidFill>
                <a:latin typeface="Arial"/>
              </a:rPr>
              <a:t>ECONOMIC</a:t>
            </a:r>
          </a:p>
        </p:txBody>
      </p:sp>
      <p:sp>
        <p:nvSpPr>
          <p:cNvPr id="17446" name="TextBox 17445"/>
          <p:cNvSpPr txBox="1"/>
          <p:nvPr/>
        </p:nvSpPr>
        <p:spPr>
          <a:xfrm>
            <a:off x="3331159" y="5623560"/>
            <a:ext cx="2624328" cy="585216"/>
          </a:xfrm>
          <a:prstGeom prst="rect">
            <a:avLst/>
          </a:prstGeom>
          <a:noFill/>
        </p:spPr>
        <p:txBody>
          <a:bodyPr wrap="square" lIns="0" rIns="0" tIns="0" bIns="0" anchor="t">
            <a:noAutofit/>
          </a:bodyPr>
          <a:lstStyle/>
          <a:p>
            <a:pPr algn="l">
              <a:lnSpc>
                <a:spcPct val="100000"/>
              </a:lnSpc>
              <a:spcBef>
                <a:spcPts val="0"/>
              </a:spcBef>
              <a:spcAft>
                <a:spcPts val="0"/>
              </a:spcAft>
            </a:pPr>
            <a:r>
              <a:rPr sz="770" b="0" i="0">
                <a:solidFill>
                  <a:srgbClr val="1F2933"/>
                </a:solidFill>
                <a:latin typeface="Arial"/>
              </a:rPr>
              <a:t>Budget goes to the six assets that matter instead of a blanket rewrite. Discovery that costs a consultant weeks costs one command.</a:t>
            </a:r>
          </a:p>
        </p:txBody>
      </p:sp>
      <p:sp>
        <p:nvSpPr>
          <p:cNvPr id="17447" name="Rounded Rectangle 17446"/>
          <p:cNvSpPr/>
          <p:nvPr/>
        </p:nvSpPr>
        <p:spPr>
          <a:xfrm>
            <a:off x="6150254" y="5394960"/>
            <a:ext cx="2862072" cy="850392"/>
          </a:xfrm>
          <a:prstGeom prst="roundRect">
            <a:avLst>
              <a:gd name="adj" fmla="val 10752"/>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8" name="Rounded Rectangle 17447"/>
          <p:cNvSpPr/>
          <p:nvPr/>
        </p:nvSpPr>
        <p:spPr>
          <a:xfrm>
            <a:off x="6150254" y="5394960"/>
            <a:ext cx="2862072" cy="196596"/>
          </a:xfrm>
          <a:prstGeom prst="roundRect">
            <a:avLst>
              <a:gd name="adj" fmla="val 46511"/>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9" name="TextBox 17448"/>
          <p:cNvSpPr txBox="1"/>
          <p:nvPr/>
        </p:nvSpPr>
        <p:spPr>
          <a:xfrm>
            <a:off x="6205118" y="5408676"/>
            <a:ext cx="2752344" cy="173736"/>
          </a:xfrm>
          <a:prstGeom prst="rect">
            <a:avLst/>
          </a:prstGeom>
          <a:noFill/>
        </p:spPr>
        <p:txBody>
          <a:bodyPr wrap="square" lIns="0" rIns="0" tIns="0" bIns="0" anchor="ctr">
            <a:noAutofit/>
          </a:bodyPr>
          <a:lstStyle/>
          <a:p>
            <a:pPr algn="ctr">
              <a:lnSpc>
                <a:spcPct val="100000"/>
              </a:lnSpc>
              <a:spcBef>
                <a:spcPts val="0"/>
              </a:spcBef>
              <a:spcAft>
                <a:spcPts val="0"/>
              </a:spcAft>
            </a:pPr>
            <a:r>
              <a:rPr sz="819" b="1" i="0">
                <a:solidFill>
                  <a:srgbClr val="FFFFFF"/>
                </a:solidFill>
                <a:latin typeface="Arial"/>
              </a:rPr>
              <a:t>STRATEGIC</a:t>
            </a:r>
          </a:p>
        </p:txBody>
      </p:sp>
      <p:sp>
        <p:nvSpPr>
          <p:cNvPr id="17450" name="TextBox 17449"/>
          <p:cNvSpPr txBox="1"/>
          <p:nvPr/>
        </p:nvSpPr>
        <p:spPr>
          <a:xfrm>
            <a:off x="6269126" y="5623560"/>
            <a:ext cx="2624328" cy="585216"/>
          </a:xfrm>
          <a:prstGeom prst="rect">
            <a:avLst/>
          </a:prstGeom>
          <a:noFill/>
        </p:spPr>
        <p:txBody>
          <a:bodyPr wrap="square" lIns="0" rIns="0" tIns="0" bIns="0" anchor="t">
            <a:noAutofit/>
          </a:bodyPr>
          <a:lstStyle/>
          <a:p>
            <a:pPr algn="l">
              <a:lnSpc>
                <a:spcPct val="100000"/>
              </a:lnSpc>
              <a:spcBef>
                <a:spcPts val="0"/>
              </a:spcBef>
              <a:spcAft>
                <a:spcPts val="0"/>
              </a:spcAft>
            </a:pPr>
            <a:r>
              <a:rPr sz="770" b="0" i="0">
                <a:solidFill>
                  <a:srgbClr val="1F2933"/>
                </a:solidFill>
                <a:latin typeface="Arial"/>
              </a:rPr>
              <a:t>Open and self-hosted. No Indian organisation has to hand a map of its cryptographic weak points to a foreign SaaS vendor.</a:t>
            </a:r>
          </a:p>
        </p:txBody>
      </p:sp>
      <p:sp>
        <p:nvSpPr>
          <p:cNvPr id="17451" name="Rounded Rectangle 17450"/>
          <p:cNvSpPr/>
          <p:nvPr/>
        </p:nvSpPr>
        <p:spPr>
          <a:xfrm>
            <a:off x="9088221" y="5394960"/>
            <a:ext cx="2862072" cy="850392"/>
          </a:xfrm>
          <a:prstGeom prst="roundRect">
            <a:avLst>
              <a:gd name="adj" fmla="val 10752"/>
            </a:avLst>
          </a:prstGeom>
          <a:solidFill>
            <a:srgbClr val="FFFFFF"/>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2" name="Rounded Rectangle 17451"/>
          <p:cNvSpPr/>
          <p:nvPr/>
        </p:nvSpPr>
        <p:spPr>
          <a:xfrm>
            <a:off x="9088221" y="5394960"/>
            <a:ext cx="2862072" cy="196596"/>
          </a:xfrm>
          <a:prstGeom prst="roundRect">
            <a:avLst>
              <a:gd name="adj" fmla="val 46511"/>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53" name="TextBox 17452"/>
          <p:cNvSpPr txBox="1"/>
          <p:nvPr/>
        </p:nvSpPr>
        <p:spPr>
          <a:xfrm>
            <a:off x="9143085" y="5408676"/>
            <a:ext cx="2752344" cy="173736"/>
          </a:xfrm>
          <a:prstGeom prst="rect">
            <a:avLst/>
          </a:prstGeom>
          <a:noFill/>
        </p:spPr>
        <p:txBody>
          <a:bodyPr wrap="square" lIns="0" rIns="0" tIns="0" bIns="0" anchor="ctr">
            <a:noAutofit/>
          </a:bodyPr>
          <a:lstStyle/>
          <a:p>
            <a:pPr algn="ctr">
              <a:lnSpc>
                <a:spcPct val="100000"/>
              </a:lnSpc>
              <a:spcBef>
                <a:spcPts val="0"/>
              </a:spcBef>
              <a:spcAft>
                <a:spcPts val="0"/>
              </a:spcAft>
            </a:pPr>
            <a:r>
              <a:rPr sz="819" b="1" i="0">
                <a:solidFill>
                  <a:srgbClr val="FFFFFF"/>
                </a:solidFill>
                <a:latin typeface="Arial"/>
              </a:rPr>
              <a:t>ENVIRONMENTAL</a:t>
            </a:r>
          </a:p>
        </p:txBody>
      </p:sp>
      <p:sp>
        <p:nvSpPr>
          <p:cNvPr id="17454" name="TextBox 17453"/>
          <p:cNvSpPr txBox="1"/>
          <p:nvPr/>
        </p:nvSpPr>
        <p:spPr>
          <a:xfrm>
            <a:off x="9207093" y="5623560"/>
            <a:ext cx="2624328" cy="585216"/>
          </a:xfrm>
          <a:prstGeom prst="rect">
            <a:avLst/>
          </a:prstGeom>
          <a:noFill/>
        </p:spPr>
        <p:txBody>
          <a:bodyPr wrap="square" lIns="0" rIns="0" tIns="0" bIns="0" anchor="t">
            <a:noAutofit/>
          </a:bodyPr>
          <a:lstStyle/>
          <a:p>
            <a:pPr algn="l">
              <a:lnSpc>
                <a:spcPct val="100000"/>
              </a:lnSpc>
              <a:spcBef>
                <a:spcPts val="0"/>
              </a:spcBef>
              <a:spcAft>
                <a:spcPts val="0"/>
              </a:spcAft>
            </a:pPr>
            <a:r>
              <a:rPr sz="770" b="0" i="0">
                <a:solidFill>
                  <a:srgbClr val="1F2933"/>
                </a:solidFill>
                <a:latin typeface="Arial"/>
              </a:rPr>
              <a:t>Static analysis on a laptop. No GPU, no always-on agent, no cluster — a full 144-asset scan finishes in about a second.</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100" b="1">
                <a:solidFill>
                  <a:srgbClr val="1F497D"/>
                </a:solidFill>
              </a:rPr>
              <a:t>Team Nexus</a:t>
            </a:r>
            <a:endParaRPr lang="en-IN" dirty="0"/>
          </a:p>
        </p:txBody>
      </p:sp>
      <p:pic>
        <p:nvPicPr>
          <p:cNvPr id="11"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Rectangle 17409"/>
          <p:cNvSpPr/>
          <p:nvPr/>
        </p:nvSpPr>
        <p:spPr>
          <a:xfrm>
            <a:off x="274320" y="1321307"/>
            <a:ext cx="11640312" cy="16459"/>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1" name="TextBox 17410"/>
          <p:cNvSpPr txBox="1"/>
          <p:nvPr/>
        </p:nvSpPr>
        <p:spPr>
          <a:xfrm>
            <a:off x="274320" y="1060704"/>
            <a:ext cx="11640312" cy="265176"/>
          </a:xfrm>
          <a:prstGeom prst="rect">
            <a:avLst/>
          </a:prstGeom>
          <a:noFill/>
        </p:spPr>
        <p:txBody>
          <a:bodyPr wrap="square" lIns="0" rIns="0" tIns="0" bIns="0" anchor="b">
            <a:noAutofit/>
          </a:bodyPr>
          <a:lstStyle/>
          <a:p>
            <a:pPr algn="l">
              <a:lnSpc>
                <a:spcPct val="100000"/>
              </a:lnSpc>
              <a:spcBef>
                <a:spcPts val="0"/>
              </a:spcBef>
              <a:spcAft>
                <a:spcPts val="0"/>
              </a:spcAft>
            </a:pPr>
            <a:r>
              <a:rPr sz="1250" b="1" i="0">
                <a:solidFill>
                  <a:srgbClr val="1F497D"/>
                </a:solidFill>
                <a:latin typeface="Arial"/>
              </a:rPr>
              <a:t>Details / Links of the reference and research work</a:t>
            </a:r>
          </a:p>
        </p:txBody>
      </p:sp>
      <p:sp>
        <p:nvSpPr>
          <p:cNvPr id="17412" name="Rounded Rectangle 17411"/>
          <p:cNvSpPr/>
          <p:nvPr/>
        </p:nvSpPr>
        <p:spPr>
          <a:xfrm>
            <a:off x="274320" y="1408176"/>
            <a:ext cx="3776472" cy="2395728"/>
          </a:xfrm>
          <a:prstGeom prst="roundRect">
            <a:avLst>
              <a:gd name="adj" fmla="val 3816"/>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3" name="Rounded Rectangle 17412"/>
          <p:cNvSpPr/>
          <p:nvPr/>
        </p:nvSpPr>
        <p:spPr>
          <a:xfrm>
            <a:off x="274320" y="1408176"/>
            <a:ext cx="3776472" cy="274320"/>
          </a:xfrm>
          <a:prstGeom prst="roundRect">
            <a:avLst>
              <a:gd name="adj" fmla="val 33333"/>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4" name="TextBox 17413"/>
          <p:cNvSpPr txBox="1"/>
          <p:nvPr/>
        </p:nvSpPr>
        <p:spPr>
          <a:xfrm>
            <a:off x="365760" y="1421892"/>
            <a:ext cx="3593591" cy="246888"/>
          </a:xfrm>
          <a:prstGeom prst="rect">
            <a:avLst/>
          </a:prstGeom>
          <a:noFill/>
        </p:spPr>
        <p:txBody>
          <a:bodyPr wrap="square" lIns="0" rIns="0" tIns="0" bIns="0" anchor="ctr">
            <a:noAutofit/>
          </a:bodyPr>
          <a:lstStyle/>
          <a:p>
            <a:pPr algn="ctr">
              <a:lnSpc>
                <a:spcPct val="100000"/>
              </a:lnSpc>
              <a:spcBef>
                <a:spcPts val="0"/>
              </a:spcBef>
              <a:spcAft>
                <a:spcPts val="0"/>
              </a:spcAft>
            </a:pPr>
            <a:r>
              <a:rPr sz="960" b="1" i="0">
                <a:solidFill>
                  <a:srgbClr val="FFFFFF"/>
                </a:solidFill>
                <a:latin typeface="Arial"/>
              </a:rPr>
              <a:t>Standards we implement</a:t>
            </a:r>
          </a:p>
        </p:txBody>
      </p:sp>
      <p:sp>
        <p:nvSpPr>
          <p:cNvPr id="17415" name="TextBox 17414"/>
          <p:cNvSpPr txBox="1"/>
          <p:nvPr/>
        </p:nvSpPr>
        <p:spPr>
          <a:xfrm>
            <a:off x="429768" y="1764792"/>
            <a:ext cx="3465576" cy="2011680"/>
          </a:xfrm>
          <a:prstGeom prst="rect">
            <a:avLst/>
          </a:prstGeom>
          <a:noFill/>
        </p:spPr>
        <p:txBody>
          <a:bodyPr wrap="square" lIns="0" rIns="0" tIns="0" bIns="0" anchor="t">
            <a:noAutofit/>
          </a:bodyPr>
          <a:lstStyle/>
          <a:p>
            <a:pPr algn="l">
              <a:lnSpc>
                <a:spcPct val="102000"/>
              </a:lnSpc>
              <a:spcBef>
                <a:spcPts val="0"/>
              </a:spcBef>
              <a:spcAft>
                <a:spcPts val="0"/>
              </a:spcAft>
            </a:pPr>
            <a:r>
              <a:rPr sz="750" b="1" i="0">
                <a:solidFill>
                  <a:srgbClr val="1F2933"/>
                </a:solidFill>
                <a:latin typeface="Arial"/>
              </a:rPr>
              <a:t>NIST IR 8547 (ipd)</a:t>
            </a:r>
            <a:r>
              <a:rPr sz="750" b="0" i="0">
                <a:solidFill>
                  <a:srgbClr val="1F2933"/>
                </a:solidFill>
                <a:latin typeface="Arial"/>
              </a:rPr>
              <a:t> — </a:t>
            </a:r>
            <a:r>
              <a:rPr sz="750" b="0" i="1">
                <a:solidFill>
                  <a:srgbClr val="1F2933"/>
                </a:solidFill>
                <a:latin typeface="Arial"/>
              </a:rPr>
              <a:t>Transition to Post-Quantum Cryptography Standards.</a:t>
            </a:r>
            <a:r>
              <a:rPr sz="750" b="0" i="0">
                <a:solidFill>
                  <a:srgbClr val="1F2933"/>
                </a:solidFill>
                <a:latin typeface="Arial"/>
              </a:rPr>
              <a:t> RSA and ECC </a:t>
            </a:r>
            <a:r>
              <a:rPr sz="750" b="1" i="0">
                <a:solidFill>
                  <a:srgbClr val="1F2933"/>
                </a:solidFill>
                <a:latin typeface="Arial"/>
              </a:rPr>
              <a:t>deprecated after 2030, disallowed after 2035</a:t>
            </a:r>
            <a:r>
              <a:rPr sz="750" b="0" i="0">
                <a:solidFill>
                  <a:srgbClr val="1F2933"/>
                </a:solidFill>
                <a:latin typeface="Arial"/>
              </a:rPr>
              <a:t>. This is the second, </a:t>
            </a:r>
            <a:r>
              <a:rPr sz="750" b="0" i="1">
                <a:solidFill>
                  <a:srgbClr val="1F2933"/>
                </a:solidFill>
                <a:latin typeface="Arial"/>
              </a:rPr>
              <a:t>certain</a:t>
            </a:r>
            <a:r>
              <a:rPr sz="750" b="0" i="0">
                <a:solidFill>
                  <a:srgbClr val="1F2933"/>
                </a:solidFill>
                <a:latin typeface="Arial"/>
              </a:rPr>
              <a:t> clock we score alongside Q-Day.</a:t>
            </a:r>
          </a:p>
          <a:p>
            <a:pPr algn="l">
              <a:lnSpc>
                <a:spcPct val="102000"/>
              </a:lnSpc>
              <a:spcBef>
                <a:spcPts val="0"/>
              </a:spcBef>
              <a:spcAft>
                <a:spcPts val="0"/>
              </a:spcAft>
            </a:pPr>
            <a:r>
              <a:rPr sz="750" b="0" i="0">
                <a:solidFill>
                  <a:srgbClr val="0E8C86"/>
                </a:solidFill>
                <a:latin typeface="Consolas"/>
              </a:rPr>
              <a:t>nvlpubs.nist.gov/nistpubs/ir/2024/NIST.IR.8547.ipd.pdf</a:t>
            </a:r>
          </a:p>
          <a:p>
            <a:pPr algn="l">
              <a:lnSpc>
                <a:spcPct val="102000"/>
              </a:lnSpc>
              <a:spcBef>
                <a:spcPts val="300"/>
              </a:spcBef>
              <a:spcAft>
                <a:spcPts val="0"/>
              </a:spcAft>
            </a:pPr>
            <a:r>
              <a:rPr sz="750" b="1" i="0">
                <a:solidFill>
                  <a:srgbClr val="1F2933"/>
                </a:solidFill>
                <a:latin typeface="Arial"/>
              </a:rPr>
              <a:t>NIST FIPS 203</a:t>
            </a:r>
            <a:r>
              <a:rPr sz="750" b="0" i="0">
                <a:solidFill>
                  <a:srgbClr val="1F2933"/>
                </a:solidFill>
                <a:latin typeface="Arial"/>
              </a:rPr>
              <a:t> ML-KEM  ·  </a:t>
            </a:r>
            <a:r>
              <a:rPr sz="750" b="1" i="0">
                <a:solidFill>
                  <a:srgbClr val="1F2933"/>
                </a:solidFill>
                <a:latin typeface="Arial"/>
              </a:rPr>
              <a:t>FIPS 204</a:t>
            </a:r>
            <a:r>
              <a:rPr sz="750" b="0" i="0">
                <a:solidFill>
                  <a:srgbClr val="1F2933"/>
                </a:solidFill>
                <a:latin typeface="Arial"/>
              </a:rPr>
              <a:t> ML-DSA  ·  </a:t>
            </a:r>
            <a:r>
              <a:rPr sz="750" b="1" i="0">
                <a:solidFill>
                  <a:srgbClr val="1F2933"/>
                </a:solidFill>
                <a:latin typeface="Arial"/>
              </a:rPr>
              <a:t>FIPS 205</a:t>
            </a:r>
            <a:r>
              <a:rPr sz="750" b="0" i="0">
                <a:solidFill>
                  <a:srgbClr val="1F2933"/>
                </a:solidFill>
                <a:latin typeface="Arial"/>
              </a:rPr>
              <a:t> SLH-DSA  ·  </a:t>
            </a:r>
            <a:r>
              <a:rPr sz="750" b="1" i="0">
                <a:solidFill>
                  <a:srgbClr val="1F2933"/>
                </a:solidFill>
                <a:latin typeface="Arial"/>
              </a:rPr>
              <a:t>FIPS 206 (ipd)</a:t>
            </a:r>
            <a:r>
              <a:rPr sz="750" b="0" i="0">
                <a:solidFill>
                  <a:srgbClr val="1F2933"/>
                </a:solidFill>
                <a:latin typeface="Arial"/>
              </a:rPr>
              <a:t> FN-DSA — the replacement algorithms we name per asset. FIPS 206 is not final, so it carries a maturity badge and is never a default.</a:t>
            </a:r>
          </a:p>
          <a:p>
            <a:pPr algn="l">
              <a:lnSpc>
                <a:spcPct val="102000"/>
              </a:lnSpc>
              <a:spcBef>
                <a:spcPts val="300"/>
              </a:spcBef>
              <a:spcAft>
                <a:spcPts val="0"/>
              </a:spcAft>
            </a:pPr>
            <a:r>
              <a:rPr sz="750" b="1" i="0">
                <a:solidFill>
                  <a:srgbClr val="1F2933"/>
                </a:solidFill>
                <a:latin typeface="Arial"/>
              </a:rPr>
              <a:t>NIST SP 800-208</a:t>
            </a:r>
            <a:r>
              <a:rPr sz="750" b="0" i="0">
                <a:solidFill>
                  <a:srgbClr val="1F2933"/>
                </a:solidFill>
                <a:latin typeface="Arial"/>
              </a:rPr>
              <a:t> — stateful hash-based signatures (LMS / XMSS) for firmware and code signing.</a:t>
            </a:r>
          </a:p>
          <a:p>
            <a:pPr algn="l">
              <a:lnSpc>
                <a:spcPct val="102000"/>
              </a:lnSpc>
              <a:spcBef>
                <a:spcPts val="300"/>
              </a:spcBef>
              <a:spcAft>
                <a:spcPts val="0"/>
              </a:spcAft>
            </a:pPr>
            <a:r>
              <a:rPr sz="750" b="1" i="0">
                <a:solidFill>
                  <a:srgbClr val="1F2933"/>
                </a:solidFill>
                <a:latin typeface="Arial"/>
              </a:rPr>
              <a:t>NSA CNSA 2.0</a:t>
            </a:r>
            <a:r>
              <a:rPr sz="750" b="0" i="0">
                <a:solidFill>
                  <a:srgbClr val="1F2933"/>
                </a:solidFill>
                <a:latin typeface="Arial"/>
              </a:rPr>
              <a:t> suite and timeline — the source of our AES-256 / SHA-384 policy flags, which we raise as </a:t>
            </a:r>
            <a:r>
              <a:rPr sz="750" b="0" i="1">
                <a:solidFill>
                  <a:srgbClr val="1F2933"/>
                </a:solidFill>
                <a:latin typeface="Arial"/>
              </a:rPr>
              <a:t>policy</a:t>
            </a:r>
            <a:r>
              <a:rPr sz="750" b="0" i="0">
                <a:solidFill>
                  <a:srgbClr val="1F2933"/>
                </a:solidFill>
                <a:latin typeface="Arial"/>
              </a:rPr>
              <a:t>, never as a quantum break.</a:t>
            </a:r>
          </a:p>
        </p:txBody>
      </p:sp>
      <p:sp>
        <p:nvSpPr>
          <p:cNvPr id="17416" name="Rounded Rectangle 17415"/>
          <p:cNvSpPr/>
          <p:nvPr/>
        </p:nvSpPr>
        <p:spPr>
          <a:xfrm>
            <a:off x="4192524" y="1408176"/>
            <a:ext cx="3776472" cy="2395728"/>
          </a:xfrm>
          <a:prstGeom prst="roundRect">
            <a:avLst>
              <a:gd name="adj" fmla="val 3816"/>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7" name="Rounded Rectangle 17416"/>
          <p:cNvSpPr/>
          <p:nvPr/>
        </p:nvSpPr>
        <p:spPr>
          <a:xfrm>
            <a:off x="4192524" y="1408176"/>
            <a:ext cx="3776472" cy="274320"/>
          </a:xfrm>
          <a:prstGeom prst="roundRect">
            <a:avLst>
              <a:gd name="adj" fmla="val 33333"/>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8" name="TextBox 17417"/>
          <p:cNvSpPr txBox="1"/>
          <p:nvPr/>
        </p:nvSpPr>
        <p:spPr>
          <a:xfrm>
            <a:off x="4283964" y="1421892"/>
            <a:ext cx="3593591" cy="246888"/>
          </a:xfrm>
          <a:prstGeom prst="rect">
            <a:avLst/>
          </a:prstGeom>
          <a:noFill/>
        </p:spPr>
        <p:txBody>
          <a:bodyPr wrap="square" lIns="0" rIns="0" tIns="0" bIns="0" anchor="ctr">
            <a:noAutofit/>
          </a:bodyPr>
          <a:lstStyle/>
          <a:p>
            <a:pPr algn="ctr">
              <a:lnSpc>
                <a:spcPct val="100000"/>
              </a:lnSpc>
              <a:spcBef>
                <a:spcPts val="0"/>
              </a:spcBef>
              <a:spcAft>
                <a:spcPts val="0"/>
              </a:spcAft>
            </a:pPr>
            <a:r>
              <a:rPr sz="960" b="1" i="0">
                <a:solidFill>
                  <a:srgbClr val="FFFFFF"/>
                </a:solidFill>
                <a:latin typeface="Arial"/>
              </a:rPr>
              <a:t>Formats and prior art</a:t>
            </a:r>
          </a:p>
        </p:txBody>
      </p:sp>
      <p:sp>
        <p:nvSpPr>
          <p:cNvPr id="17419" name="TextBox 17418"/>
          <p:cNvSpPr txBox="1"/>
          <p:nvPr/>
        </p:nvSpPr>
        <p:spPr>
          <a:xfrm>
            <a:off x="4347972" y="1764792"/>
            <a:ext cx="3465576" cy="2011680"/>
          </a:xfrm>
          <a:prstGeom prst="rect">
            <a:avLst/>
          </a:prstGeom>
          <a:noFill/>
        </p:spPr>
        <p:txBody>
          <a:bodyPr wrap="square" lIns="0" rIns="0" tIns="0" bIns="0" anchor="t">
            <a:noAutofit/>
          </a:bodyPr>
          <a:lstStyle/>
          <a:p>
            <a:pPr algn="l">
              <a:lnSpc>
                <a:spcPct val="102000"/>
              </a:lnSpc>
              <a:spcBef>
                <a:spcPts val="0"/>
              </a:spcBef>
              <a:spcAft>
                <a:spcPts val="0"/>
              </a:spcAft>
            </a:pPr>
            <a:r>
              <a:rPr sz="750" b="1" i="0">
                <a:solidFill>
                  <a:srgbClr val="1F2933"/>
                </a:solidFill>
                <a:latin typeface="Arial"/>
              </a:rPr>
              <a:t>CycloneDX — CBOM capability</a:t>
            </a:r>
          </a:p>
          <a:p>
            <a:pPr algn="l">
              <a:lnSpc>
                <a:spcPct val="102000"/>
              </a:lnSpc>
              <a:spcBef>
                <a:spcPts val="0"/>
              </a:spcBef>
              <a:spcAft>
                <a:spcPts val="0"/>
              </a:spcAft>
            </a:pPr>
            <a:r>
              <a:rPr sz="750" b="0" i="0">
                <a:solidFill>
                  <a:srgbClr val="0E8C86"/>
                </a:solidFill>
                <a:latin typeface="Consolas"/>
              </a:rPr>
              <a:t>cyclonedx.org/capabilities/cbom/</a:t>
            </a:r>
          </a:p>
          <a:p>
            <a:pPr algn="l">
              <a:lnSpc>
                <a:spcPct val="102000"/>
              </a:lnSpc>
              <a:spcBef>
                <a:spcPts val="300"/>
              </a:spcBef>
              <a:spcAft>
                <a:spcPts val="0"/>
              </a:spcAft>
            </a:pPr>
            <a:r>
              <a:rPr sz="750" b="1" i="0">
                <a:solidFill>
                  <a:srgbClr val="1F2933"/>
                </a:solidFill>
                <a:latin typeface="Arial"/>
              </a:rPr>
              <a:t>CycloneDX v1.7</a:t>
            </a:r>
            <a:r>
              <a:rPr sz="750" b="0" i="0">
                <a:solidFill>
                  <a:srgbClr val="1F2933"/>
                </a:solidFill>
                <a:latin typeface="Arial"/>
              </a:rPr>
              <a:t> (Oct 2025), ratified as </a:t>
            </a:r>
            <a:r>
              <a:rPr sz="750" b="1" i="0">
                <a:solidFill>
                  <a:srgbClr val="1F2933"/>
                </a:solidFill>
                <a:latin typeface="Arial"/>
              </a:rPr>
              <a:t>ECMA-424 2nd Edition</a:t>
            </a:r>
            <a:r>
              <a:rPr sz="750" b="0" i="0">
                <a:solidFill>
                  <a:srgbClr val="1F2933"/>
                </a:solidFill>
                <a:latin typeface="Arial"/>
              </a:rPr>
              <a:t> (Dec 2025).</a:t>
            </a:r>
          </a:p>
          <a:p>
            <a:pPr algn="l">
              <a:lnSpc>
                <a:spcPct val="102000"/>
              </a:lnSpc>
              <a:spcBef>
                <a:spcPts val="0"/>
              </a:spcBef>
              <a:spcAft>
                <a:spcPts val="0"/>
              </a:spcAft>
            </a:pPr>
            <a:r>
              <a:rPr sz="750" b="0" i="0">
                <a:solidFill>
                  <a:srgbClr val="0E8C86"/>
                </a:solidFill>
                <a:latin typeface="Consolas"/>
              </a:rPr>
              <a:t>ecma-international.org/publications-and-standards/standards/ecma-424/</a:t>
            </a:r>
          </a:p>
          <a:p>
            <a:pPr algn="l">
              <a:lnSpc>
                <a:spcPct val="102000"/>
              </a:lnSpc>
              <a:spcBef>
                <a:spcPts val="300"/>
              </a:spcBef>
              <a:spcAft>
                <a:spcPts val="0"/>
              </a:spcAft>
            </a:pPr>
            <a:r>
              <a:rPr sz="750" b="1" i="0">
                <a:solidFill>
                  <a:srgbClr val="1F2933"/>
                </a:solidFill>
                <a:latin typeface="Arial"/>
              </a:rPr>
              <a:t>CycloneDX Cryptography Registry</a:t>
            </a:r>
            <a:r>
              <a:rPr sz="750" b="0" i="0">
                <a:solidFill>
                  <a:srgbClr val="1F2933"/>
                </a:solidFill>
                <a:latin typeface="Arial"/>
              </a:rPr>
              <a:t> — algorithm-name normalisation, so our output is directly comparable with other vendors' CBOMs instead of using private names.</a:t>
            </a:r>
          </a:p>
          <a:p>
            <a:pPr algn="l">
              <a:lnSpc>
                <a:spcPct val="102000"/>
              </a:lnSpc>
              <a:spcBef>
                <a:spcPts val="300"/>
              </a:spcBef>
              <a:spcAft>
                <a:spcPts val="0"/>
              </a:spcAft>
            </a:pPr>
            <a:r>
              <a:rPr sz="750" b="1" i="0">
                <a:solidFill>
                  <a:srgbClr val="1F2933"/>
                </a:solidFill>
                <a:latin typeface="Arial"/>
              </a:rPr>
              <a:t>IBM CBOM</a:t>
            </a:r>
            <a:r>
              <a:rPr sz="750" b="0" i="0">
                <a:solidFill>
                  <a:srgbClr val="1F2933"/>
                </a:solidFill>
                <a:latin typeface="Arial"/>
              </a:rPr>
              <a:t> reference implementation — the closest prior art to this problem statement, and the baseline we measured our own output shape against.</a:t>
            </a:r>
          </a:p>
          <a:p>
            <a:pPr algn="l">
              <a:lnSpc>
                <a:spcPct val="102000"/>
              </a:lnSpc>
              <a:spcBef>
                <a:spcPts val="0"/>
              </a:spcBef>
              <a:spcAft>
                <a:spcPts val="0"/>
              </a:spcAft>
            </a:pPr>
            <a:r>
              <a:rPr sz="750" b="0" i="0">
                <a:solidFill>
                  <a:srgbClr val="0E8C86"/>
                </a:solidFill>
                <a:latin typeface="Consolas"/>
              </a:rPr>
              <a:t>github.com/IBM/CBOM</a:t>
            </a:r>
          </a:p>
        </p:txBody>
      </p:sp>
      <p:sp>
        <p:nvSpPr>
          <p:cNvPr id="17420" name="Rounded Rectangle 17419"/>
          <p:cNvSpPr/>
          <p:nvPr/>
        </p:nvSpPr>
        <p:spPr>
          <a:xfrm>
            <a:off x="8110728" y="1408176"/>
            <a:ext cx="3776472" cy="2395728"/>
          </a:xfrm>
          <a:prstGeom prst="roundRect">
            <a:avLst>
              <a:gd name="adj" fmla="val 3816"/>
            </a:avLst>
          </a:prstGeom>
          <a:solidFill>
            <a:srgbClr val="F3F8FC"/>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1" name="Rounded Rectangle 17420"/>
          <p:cNvSpPr/>
          <p:nvPr/>
        </p:nvSpPr>
        <p:spPr>
          <a:xfrm>
            <a:off x="8110728" y="1408176"/>
            <a:ext cx="3776472" cy="274320"/>
          </a:xfrm>
          <a:prstGeom prst="roundRect">
            <a:avLst>
              <a:gd name="adj" fmla="val 33333"/>
            </a:avLst>
          </a:prstGeom>
          <a:solidFill>
            <a:srgbClr val="0E8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2" name="TextBox 17421"/>
          <p:cNvSpPr txBox="1"/>
          <p:nvPr/>
        </p:nvSpPr>
        <p:spPr>
          <a:xfrm>
            <a:off x="8202168" y="1421892"/>
            <a:ext cx="3593591" cy="246888"/>
          </a:xfrm>
          <a:prstGeom prst="rect">
            <a:avLst/>
          </a:prstGeom>
          <a:noFill/>
        </p:spPr>
        <p:txBody>
          <a:bodyPr wrap="square" lIns="0" rIns="0" tIns="0" bIns="0" anchor="ctr">
            <a:noAutofit/>
          </a:bodyPr>
          <a:lstStyle/>
          <a:p>
            <a:pPr algn="ctr">
              <a:lnSpc>
                <a:spcPct val="100000"/>
              </a:lnSpc>
              <a:spcBef>
                <a:spcPts val="0"/>
              </a:spcBef>
              <a:spcAft>
                <a:spcPts val="0"/>
              </a:spcAft>
            </a:pPr>
            <a:r>
              <a:rPr sz="960" b="1" i="0">
                <a:solidFill>
                  <a:srgbClr val="FFFFFF"/>
                </a:solidFill>
                <a:latin typeface="Arial"/>
              </a:rPr>
              <a:t>Method and theory</a:t>
            </a:r>
          </a:p>
        </p:txBody>
      </p:sp>
      <p:sp>
        <p:nvSpPr>
          <p:cNvPr id="17423" name="TextBox 17422"/>
          <p:cNvSpPr txBox="1"/>
          <p:nvPr/>
        </p:nvSpPr>
        <p:spPr>
          <a:xfrm>
            <a:off x="8266176" y="1764792"/>
            <a:ext cx="3465576" cy="2011680"/>
          </a:xfrm>
          <a:prstGeom prst="rect">
            <a:avLst/>
          </a:prstGeom>
          <a:noFill/>
        </p:spPr>
        <p:txBody>
          <a:bodyPr wrap="square" lIns="0" rIns="0" tIns="0" bIns="0" anchor="t">
            <a:noAutofit/>
          </a:bodyPr>
          <a:lstStyle/>
          <a:p>
            <a:pPr algn="l">
              <a:lnSpc>
                <a:spcPct val="102000"/>
              </a:lnSpc>
              <a:spcBef>
                <a:spcPts val="0"/>
              </a:spcBef>
              <a:spcAft>
                <a:spcPts val="0"/>
              </a:spcAft>
            </a:pPr>
            <a:r>
              <a:rPr sz="750" b="1" i="0">
                <a:solidFill>
                  <a:srgbClr val="1F2933"/>
                </a:solidFill>
                <a:latin typeface="Arial"/>
              </a:rPr>
              <a:t>M. Mosca</a:t>
            </a:r>
            <a:r>
              <a:rPr sz="750" b="0" i="0">
                <a:solidFill>
                  <a:srgbClr val="1F2933"/>
                </a:solidFill>
                <a:latin typeface="Arial"/>
              </a:rPr>
              <a:t> — </a:t>
            </a:r>
            <a:r>
              <a:rPr sz="750" b="0" i="1">
                <a:solidFill>
                  <a:srgbClr val="1F2933"/>
                </a:solidFill>
                <a:latin typeface="Arial"/>
              </a:rPr>
              <a:t>Cybersecurity in an era with quantum computers: will we be ready?</a:t>
            </a:r>
            <a:r>
              <a:rPr sz="750" b="0" i="0">
                <a:solidFill>
                  <a:srgbClr val="1F2933"/>
                </a:solidFill>
                <a:latin typeface="Arial"/>
              </a:rPr>
              <a:t> The </a:t>
            </a:r>
            <a:r>
              <a:rPr sz="750" b="1" i="0">
                <a:solidFill>
                  <a:srgbClr val="1F2933"/>
                </a:solidFill>
                <a:latin typeface="Arial"/>
              </a:rPr>
              <a:t>X + Y &gt; Z</a:t>
            </a:r>
            <a:r>
              <a:rPr sz="750" b="0" i="0">
                <a:solidFill>
                  <a:srgbClr val="1F2933"/>
                </a:solidFill>
                <a:latin typeface="Arial"/>
              </a:rPr>
              <a:t> inequality is the backbone of our priority score.</a:t>
            </a:r>
          </a:p>
          <a:p>
            <a:pPr algn="l">
              <a:lnSpc>
                <a:spcPct val="102000"/>
              </a:lnSpc>
              <a:spcBef>
                <a:spcPts val="300"/>
              </a:spcBef>
              <a:spcAft>
                <a:spcPts val="0"/>
              </a:spcAft>
            </a:pPr>
            <a:r>
              <a:rPr sz="750" b="1" i="0">
                <a:solidFill>
                  <a:srgbClr val="1F2933"/>
                </a:solidFill>
                <a:latin typeface="Arial"/>
              </a:rPr>
              <a:t>P. Shor (1994)</a:t>
            </a:r>
            <a:r>
              <a:rPr sz="750" b="0" i="0">
                <a:solidFill>
                  <a:srgbClr val="1F2933"/>
                </a:solidFill>
                <a:latin typeface="Arial"/>
              </a:rPr>
              <a:t> — efficient factoring and discrete log. This is </a:t>
            </a:r>
            <a:r>
              <a:rPr sz="750" b="0" i="1">
                <a:solidFill>
                  <a:srgbClr val="1F2933"/>
                </a:solidFill>
                <a:latin typeface="Arial"/>
              </a:rPr>
              <a:t>why</a:t>
            </a:r>
            <a:r>
              <a:rPr sz="750" b="0" i="0">
                <a:solidFill>
                  <a:srgbClr val="1F2933"/>
                </a:solidFill>
                <a:latin typeface="Arial"/>
              </a:rPr>
              <a:t> RSA, DSA, DH, ECDSA and ECDH break outright rather than merely weaken: there is no key-size fix, the mathematics is gone.</a:t>
            </a:r>
          </a:p>
          <a:p>
            <a:pPr algn="l">
              <a:lnSpc>
                <a:spcPct val="102000"/>
              </a:lnSpc>
              <a:spcBef>
                <a:spcPts val="300"/>
              </a:spcBef>
              <a:spcAft>
                <a:spcPts val="0"/>
              </a:spcAft>
            </a:pPr>
            <a:r>
              <a:rPr sz="750" b="1" i="0">
                <a:solidFill>
                  <a:srgbClr val="1F2933"/>
                </a:solidFill>
                <a:latin typeface="Arial"/>
              </a:rPr>
              <a:t>L. Grover (1996)</a:t>
            </a:r>
            <a:r>
              <a:rPr sz="750" b="0" i="0">
                <a:solidFill>
                  <a:srgbClr val="1F2933"/>
                </a:solidFill>
                <a:latin typeface="Arial"/>
              </a:rPr>
              <a:t> and </a:t>
            </a:r>
            <a:r>
              <a:rPr sz="750" b="1" i="0">
                <a:solidFill>
                  <a:srgbClr val="1F2933"/>
                </a:solidFill>
                <a:latin typeface="Arial"/>
              </a:rPr>
              <a:t>Brassard–Høyer–Tapp</a:t>
            </a:r>
            <a:r>
              <a:rPr sz="750" b="0" i="0">
                <a:solidFill>
                  <a:srgbClr val="1F2933"/>
                </a:solidFill>
                <a:latin typeface="Arial"/>
              </a:rPr>
              <a:t> — and why they matter far less than the headlines claim. Grover needs ~2⁶⁴ </a:t>
            </a:r>
            <a:r>
              <a:rPr sz="750" b="0" i="1">
                <a:solidFill>
                  <a:srgbClr val="1F2933"/>
                </a:solidFill>
                <a:latin typeface="Arial"/>
              </a:rPr>
              <a:t>sequential</a:t>
            </a:r>
            <a:r>
              <a:rPr sz="750" b="0" i="0">
                <a:solidFill>
                  <a:srgbClr val="1F2933"/>
                </a:solidFill>
                <a:latin typeface="Arial"/>
              </a:rPr>
              <a:t> operations and parallelises poorly; BHT's cube-root speedup does not beat the classical birthday bound once quantum memory is costed. This reading is why we classify </a:t>
            </a:r>
            <a:r>
              <a:rPr sz="750" b="1" i="0">
                <a:solidFill>
                  <a:srgbClr val="1F2933"/>
                </a:solidFill>
                <a:latin typeface="Arial"/>
              </a:rPr>
              <a:t>AES-128 and SHA-256 as adequate</a:t>
            </a:r>
            <a:r>
              <a:rPr sz="750" b="0" i="0">
                <a:solidFill>
                  <a:srgbClr val="1F2933"/>
                </a:solidFill>
                <a:latin typeface="Arial"/>
              </a:rPr>
              <a:t>.</a:t>
            </a:r>
          </a:p>
        </p:txBody>
      </p:sp>
      <p:sp>
        <p:nvSpPr>
          <p:cNvPr id="17424" name="Rounded Rectangle 17423"/>
          <p:cNvSpPr/>
          <p:nvPr/>
        </p:nvSpPr>
        <p:spPr>
          <a:xfrm>
            <a:off x="274320" y="3931920"/>
            <a:ext cx="11640312" cy="2313432"/>
          </a:xfrm>
          <a:prstGeom prst="roundRect">
            <a:avLst>
              <a:gd name="adj" fmla="val 3952"/>
            </a:avLst>
          </a:prstGeom>
          <a:solidFill>
            <a:srgbClr val="EAF3FA"/>
          </a:solidFill>
          <a:ln w="9525">
            <a:solidFill>
              <a:srgbClr val="CBDDE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5" name="Rounded Rectangle 17424"/>
          <p:cNvSpPr/>
          <p:nvPr/>
        </p:nvSpPr>
        <p:spPr>
          <a:xfrm>
            <a:off x="274320" y="3931920"/>
            <a:ext cx="11640312" cy="274320"/>
          </a:xfrm>
          <a:prstGeom prst="roundRect">
            <a:avLst>
              <a:gd name="adj" fmla="val 33333"/>
            </a:avLst>
          </a:prstGeom>
          <a:solidFill>
            <a:srgbClr val="12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6" name="TextBox 17425"/>
          <p:cNvSpPr txBox="1"/>
          <p:nvPr/>
        </p:nvSpPr>
        <p:spPr>
          <a:xfrm>
            <a:off x="420624" y="3945636"/>
            <a:ext cx="11338560" cy="246888"/>
          </a:xfrm>
          <a:prstGeom prst="rect">
            <a:avLst/>
          </a:prstGeom>
          <a:noFill/>
        </p:spPr>
        <p:txBody>
          <a:bodyPr wrap="square" lIns="0" rIns="0" tIns="0" bIns="0" anchor="ctr">
            <a:noAutofit/>
          </a:bodyPr>
          <a:lstStyle/>
          <a:p>
            <a:pPr algn="l">
              <a:lnSpc>
                <a:spcPct val="100000"/>
              </a:lnSpc>
              <a:spcBef>
                <a:spcPts val="0"/>
              </a:spcBef>
              <a:spcAft>
                <a:spcPts val="0"/>
              </a:spcAft>
            </a:pPr>
            <a:r>
              <a:rPr sz="960" b="1" i="0">
                <a:solidFill>
                  <a:srgbClr val="FFFFFF"/>
                </a:solidFill>
                <a:latin typeface="Arial"/>
              </a:rPr>
              <a:t>Our own research — not just citations</a:t>
            </a:r>
          </a:p>
        </p:txBody>
      </p:sp>
      <p:sp>
        <p:nvSpPr>
          <p:cNvPr id="17427" name="TextBox 17426"/>
          <p:cNvSpPr txBox="1"/>
          <p:nvPr/>
        </p:nvSpPr>
        <p:spPr>
          <a:xfrm>
            <a:off x="420624" y="4297680"/>
            <a:ext cx="3730752" cy="201168"/>
          </a:xfrm>
          <a:prstGeom prst="rect">
            <a:avLst/>
          </a:prstGeom>
          <a:noFill/>
        </p:spPr>
        <p:txBody>
          <a:bodyPr wrap="square" lIns="0" rIns="0" tIns="0" bIns="0" anchor="t">
            <a:noAutofit/>
          </a:bodyPr>
          <a:lstStyle/>
          <a:p>
            <a:pPr algn="l">
              <a:lnSpc>
                <a:spcPct val="100000"/>
              </a:lnSpc>
              <a:spcBef>
                <a:spcPts val="0"/>
              </a:spcBef>
              <a:spcAft>
                <a:spcPts val="0"/>
              </a:spcAft>
            </a:pPr>
            <a:r>
              <a:rPr sz="860" b="1" i="0">
                <a:solidFill>
                  <a:srgbClr val="0E8C86"/>
                </a:solidFill>
                <a:latin typeface="Consolas"/>
              </a:rPr>
              <a:t>corpus/</a:t>
            </a:r>
            <a:r>
              <a:rPr sz="860" b="1" i="0">
                <a:solidFill>
                  <a:srgbClr val="1F497D"/>
                </a:solidFill>
                <a:latin typeface="Arial"/>
              </a:rPr>
              <a:t> — a labelled ground truth we built</a:t>
            </a:r>
          </a:p>
        </p:txBody>
      </p:sp>
      <p:sp>
        <p:nvSpPr>
          <p:cNvPr id="17428" name="TextBox 17427"/>
          <p:cNvSpPr txBox="1"/>
          <p:nvPr/>
        </p:nvSpPr>
        <p:spPr>
          <a:xfrm>
            <a:off x="420624" y="4526280"/>
            <a:ext cx="3730752" cy="932688"/>
          </a:xfrm>
          <a:prstGeom prst="rect">
            <a:avLst/>
          </a:prstGeom>
          <a:noFill/>
        </p:spPr>
        <p:txBody>
          <a:bodyPr wrap="square" lIns="0" rIns="0" tIns="0" bIns="0" anchor="t">
            <a:noAutofit/>
          </a:bodyPr>
          <a:lstStyle/>
          <a:p>
            <a:pPr algn="l">
              <a:lnSpc>
                <a:spcPct val="103000"/>
              </a:lnSpc>
              <a:spcBef>
                <a:spcPts val="0"/>
              </a:spcBef>
              <a:spcAft>
                <a:spcPts val="0"/>
              </a:spcAft>
            </a:pPr>
            <a:r>
              <a:rPr sz="780" b="0" i="0">
                <a:solidFill>
                  <a:srgbClr val="1F2933"/>
                </a:solidFill>
                <a:latin typeface="Arial"/>
              </a:rPr>
              <a:t>50 cryptographic usages hand-labelled from source across Python, Java, JS and Go, plus </a:t>
            </a:r>
            <a:r>
              <a:rPr sz="780" b="1" i="0">
                <a:solidFill>
                  <a:srgbClr val="1F2933"/>
                </a:solidFill>
                <a:latin typeface="Arial"/>
              </a:rPr>
              <a:t>4 negative controls</a:t>
            </a:r>
            <a:r>
              <a:rPr sz="780" b="0" i="0">
                <a:solidFill>
                  <a:srgbClr val="1F2933"/>
                </a:solidFill>
                <a:latin typeface="Arial"/>
              </a:rPr>
              <a:t> that discuss cryptography in prose and identifiers while performing none. Building it surfaced </a:t>
            </a:r>
            <a:r>
              <a:rPr sz="780" b="1" i="0">
                <a:solidFill>
                  <a:srgbClr val="1F2933"/>
                </a:solidFill>
                <a:latin typeface="Arial"/>
              </a:rPr>
              <a:t>7 real bugs in our own scanner</a:t>
            </a:r>
            <a:r>
              <a:rPr sz="780" b="0" i="0">
                <a:solidFill>
                  <a:srgbClr val="1F2933"/>
                </a:solidFill>
                <a:latin typeface="Arial"/>
              </a:rPr>
              <a:t> — Triple-DES reported as single DES, every pycryptodome cipher mode silently dropped.</a:t>
            </a:r>
          </a:p>
        </p:txBody>
      </p:sp>
      <p:sp>
        <p:nvSpPr>
          <p:cNvPr id="17429" name="TextBox 17428"/>
          <p:cNvSpPr txBox="1"/>
          <p:nvPr/>
        </p:nvSpPr>
        <p:spPr>
          <a:xfrm>
            <a:off x="4288536" y="4297680"/>
            <a:ext cx="3730752" cy="201168"/>
          </a:xfrm>
          <a:prstGeom prst="rect">
            <a:avLst/>
          </a:prstGeom>
          <a:noFill/>
        </p:spPr>
        <p:txBody>
          <a:bodyPr wrap="square" lIns="0" rIns="0" tIns="0" bIns="0" anchor="t">
            <a:noAutofit/>
          </a:bodyPr>
          <a:lstStyle/>
          <a:p>
            <a:pPr algn="l">
              <a:lnSpc>
                <a:spcPct val="100000"/>
              </a:lnSpc>
              <a:spcBef>
                <a:spcPts val="0"/>
              </a:spcBef>
              <a:spcAft>
                <a:spcPts val="0"/>
              </a:spcAft>
            </a:pPr>
            <a:r>
              <a:rPr sz="860" b="1" i="0">
                <a:solidFill>
                  <a:srgbClr val="1F497D"/>
                </a:solidFill>
                <a:latin typeface="Arial"/>
              </a:rPr>
              <a:t>Measured, not asserted  ·  </a:t>
            </a:r>
            <a:r>
              <a:rPr sz="860" b="1" i="0">
                <a:solidFill>
                  <a:srgbClr val="0E8C86"/>
                </a:solidFill>
                <a:latin typeface="Consolas"/>
              </a:rPr>
              <a:t>cbom-compass eval</a:t>
            </a:r>
          </a:p>
        </p:txBody>
      </p:sp>
      <p:sp>
        <p:nvSpPr>
          <p:cNvPr id="17430" name="TextBox 17429"/>
          <p:cNvSpPr txBox="1"/>
          <p:nvPr/>
        </p:nvSpPr>
        <p:spPr>
          <a:xfrm>
            <a:off x="4288536" y="4526280"/>
            <a:ext cx="3730752" cy="932688"/>
          </a:xfrm>
          <a:prstGeom prst="rect">
            <a:avLst/>
          </a:prstGeom>
          <a:noFill/>
        </p:spPr>
        <p:txBody>
          <a:bodyPr wrap="square" lIns="0" rIns="0" tIns="0" bIns="0" anchor="t">
            <a:noAutofit/>
          </a:bodyPr>
          <a:lstStyle/>
          <a:p>
            <a:pPr algn="l">
              <a:lnSpc>
                <a:spcPct val="103000"/>
              </a:lnSpc>
              <a:spcBef>
                <a:spcPts val="0"/>
              </a:spcBef>
              <a:spcAft>
                <a:spcPts val="0"/>
              </a:spcAft>
            </a:pPr>
            <a:r>
              <a:rPr sz="780" b="0" i="0">
                <a:solidFill>
                  <a:srgbClr val="1F2933"/>
                </a:solidFill>
                <a:latin typeface="Arial"/>
              </a:rPr>
              <a:t>Algorithm level </a:t>
            </a:r>
            <a:r>
              <a:rPr sz="780" b="1" i="0">
                <a:solidFill>
                  <a:srgbClr val="1F2933"/>
                </a:solidFill>
                <a:latin typeface="Arial"/>
              </a:rPr>
              <a:t>100% precision / 95% recall</a:t>
            </a:r>
            <a:r>
              <a:rPr sz="780" b="0" i="0">
                <a:solidFill>
                  <a:srgbClr val="1F2933"/>
                </a:solidFill>
                <a:latin typeface="Arial"/>
              </a:rPr>
              <a:t>; strict — key size, mode </a:t>
            </a:r>
            <a:r>
              <a:rPr sz="780" b="0" i="1">
                <a:solidFill>
                  <a:srgbClr val="1F2933"/>
                </a:solidFill>
                <a:latin typeface="Arial"/>
              </a:rPr>
              <a:t>and</a:t>
            </a:r>
            <a:r>
              <a:rPr sz="780" b="0" i="0">
                <a:solidFill>
                  <a:srgbClr val="1F2933"/>
                </a:solidFill>
                <a:latin typeface="Arial"/>
              </a:rPr>
              <a:t> curve — </a:t>
            </a:r>
            <a:r>
              <a:rPr sz="780" b="1" i="0">
                <a:solidFill>
                  <a:srgbClr val="1F2933"/>
                </a:solidFill>
                <a:latin typeface="Arial"/>
              </a:rPr>
              <a:t>97.9% / 94%</a:t>
            </a:r>
            <a:r>
              <a:rPr sz="780" b="0" i="0">
                <a:solidFill>
                  <a:srgbClr val="1F2933"/>
                </a:solidFill>
                <a:latin typeface="Arial"/>
              </a:rPr>
              <a:t>. Zero findings on the negative controls. Every remaining miss is a documented dynamic-resolution case, and </a:t>
            </a:r>
            <a:r>
              <a:rPr sz="780" b="0" i="0">
                <a:solidFill>
                  <a:srgbClr val="0E8C86"/>
                </a:solidFill>
                <a:latin typeface="Consolas"/>
              </a:rPr>
              <a:t>test_evaluate.py</a:t>
            </a:r>
            <a:r>
              <a:rPr sz="780" b="0" i="0">
                <a:solidFill>
                  <a:srgbClr val="1F2933"/>
                </a:solidFill>
                <a:latin typeface="Arial"/>
              </a:rPr>
              <a:t> asserts no miss appears anywhere else, so a regression fails CI instead of shipping quietly.</a:t>
            </a:r>
          </a:p>
        </p:txBody>
      </p:sp>
      <p:sp>
        <p:nvSpPr>
          <p:cNvPr id="17431" name="TextBox 17430"/>
          <p:cNvSpPr txBox="1"/>
          <p:nvPr/>
        </p:nvSpPr>
        <p:spPr>
          <a:xfrm>
            <a:off x="8156448" y="4297680"/>
            <a:ext cx="3730752" cy="201168"/>
          </a:xfrm>
          <a:prstGeom prst="rect">
            <a:avLst/>
          </a:prstGeom>
          <a:noFill/>
        </p:spPr>
        <p:txBody>
          <a:bodyPr wrap="square" lIns="0" rIns="0" tIns="0" bIns="0" anchor="t">
            <a:noAutofit/>
          </a:bodyPr>
          <a:lstStyle/>
          <a:p>
            <a:pPr algn="l">
              <a:lnSpc>
                <a:spcPct val="100000"/>
              </a:lnSpc>
              <a:spcBef>
                <a:spcPts val="0"/>
              </a:spcBef>
              <a:spcAft>
                <a:spcPts val="0"/>
              </a:spcAft>
            </a:pPr>
            <a:r>
              <a:rPr sz="860" b="1" i="0">
                <a:solidFill>
                  <a:srgbClr val="1F497D"/>
                </a:solidFill>
                <a:latin typeface="Arial"/>
              </a:rPr>
              <a:t>Proof the findings are real  ·  </a:t>
            </a:r>
            <a:r>
              <a:rPr sz="860" b="1" i="0">
                <a:solidFill>
                  <a:srgbClr val="0E8C86"/>
                </a:solidFill>
                <a:latin typeface="Consolas"/>
              </a:rPr>
              <a:t>cbom-compass verify</a:t>
            </a:r>
          </a:p>
        </p:txBody>
      </p:sp>
      <p:sp>
        <p:nvSpPr>
          <p:cNvPr id="17432" name="TextBox 17431"/>
          <p:cNvSpPr txBox="1"/>
          <p:nvPr/>
        </p:nvSpPr>
        <p:spPr>
          <a:xfrm>
            <a:off x="8156448" y="4526280"/>
            <a:ext cx="3730752" cy="932688"/>
          </a:xfrm>
          <a:prstGeom prst="rect">
            <a:avLst/>
          </a:prstGeom>
          <a:noFill/>
        </p:spPr>
        <p:txBody>
          <a:bodyPr wrap="square" lIns="0" rIns="0" tIns="0" bIns="0" anchor="t">
            <a:noAutofit/>
          </a:bodyPr>
          <a:lstStyle/>
          <a:p>
            <a:pPr algn="l">
              <a:lnSpc>
                <a:spcPct val="103000"/>
              </a:lnSpc>
              <a:spcBef>
                <a:spcPts val="0"/>
              </a:spcBef>
              <a:spcAft>
                <a:spcPts val="0"/>
              </a:spcAft>
            </a:pPr>
            <a:r>
              <a:rPr sz="780" b="0" i="0">
                <a:solidFill>
                  <a:srgbClr val="1F2933"/>
                </a:solidFill>
                <a:latin typeface="Arial"/>
              </a:rPr>
              <a:t>Re-opens each artefact on disk and re-checks the claim by a </a:t>
            </a:r>
            <a:r>
              <a:rPr sz="780" b="1" i="0">
                <a:solidFill>
                  <a:srgbClr val="1F2933"/>
                </a:solidFill>
                <a:latin typeface="Arial"/>
              </a:rPr>
              <a:t>deliberately different technique</a:t>
            </a:r>
            <a:r>
              <a:rPr sz="780" b="0" i="0">
                <a:solidFill>
                  <a:srgbClr val="1F2933"/>
                </a:solidFill>
                <a:latin typeface="Arial"/>
              </a:rPr>
              <a:t>, quoting the line so a sceptic can repeat it by hand. </a:t>
            </a:r>
            <a:r>
              <a:rPr sz="780" b="0" i="0">
                <a:solidFill>
                  <a:srgbClr val="0E8C86"/>
                </a:solidFill>
                <a:latin typeface="Consolas"/>
              </a:rPr>
              <a:t>test_verify.py</a:t>
            </a:r>
            <a:r>
              <a:rPr sz="780" b="0" i="0">
                <a:solidFill>
                  <a:srgbClr val="1F2933"/>
                </a:solidFill>
                <a:latin typeface="Arial"/>
              </a:rPr>
              <a:t> plants fabricated findings and asserts every one is rejected — a verifier that confirms everything proves nothing.</a:t>
            </a:r>
          </a:p>
        </p:txBody>
      </p:sp>
      <p:sp>
        <p:nvSpPr>
          <p:cNvPr id="17433" name="Rectangle 17432"/>
          <p:cNvSpPr/>
          <p:nvPr/>
        </p:nvSpPr>
        <p:spPr>
          <a:xfrm>
            <a:off x="420624" y="5522976"/>
            <a:ext cx="11347704" cy="10972"/>
          </a:xfrm>
          <a:prstGeom prst="rect">
            <a:avLst/>
          </a:prstGeom>
          <a:solidFill>
            <a:srgbClr val="CBDD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4" name="TextBox 17433"/>
          <p:cNvSpPr txBox="1"/>
          <p:nvPr/>
        </p:nvSpPr>
        <p:spPr>
          <a:xfrm>
            <a:off x="420624" y="5605272"/>
            <a:ext cx="11347704" cy="420624"/>
          </a:xfrm>
          <a:prstGeom prst="rect">
            <a:avLst/>
          </a:prstGeom>
          <a:noFill/>
        </p:spPr>
        <p:txBody>
          <a:bodyPr wrap="square" lIns="0" rIns="0" tIns="0" bIns="0" anchor="t">
            <a:noAutofit/>
          </a:bodyPr>
          <a:lstStyle/>
          <a:p>
            <a:pPr algn="l">
              <a:lnSpc>
                <a:spcPct val="103000"/>
              </a:lnSpc>
              <a:spcBef>
                <a:spcPts val="0"/>
              </a:spcBef>
              <a:spcAft>
                <a:spcPts val="0"/>
              </a:spcAft>
            </a:pPr>
            <a:r>
              <a:rPr sz="780" b="1" i="0">
                <a:solidFill>
                  <a:srgbClr val="1F2933"/>
                </a:solidFill>
                <a:latin typeface="Arial"/>
              </a:rPr>
              <a:t>Research that changed the design.</a:t>
            </a:r>
            <a:r>
              <a:rPr sz="780" b="0" i="0">
                <a:solidFill>
                  <a:srgbClr val="1F2933"/>
                </a:solidFill>
                <a:latin typeface="Arial"/>
              </a:rPr>
              <a:t> Our own PRD v1.0 targeted CycloneDX 1.6; reading the </a:t>
            </a:r>
            <a:r>
              <a:rPr sz="780" b="1" i="0">
                <a:solidFill>
                  <a:srgbClr val="1F2933"/>
                </a:solidFill>
                <a:latin typeface="Arial"/>
              </a:rPr>
              <a:t>ECMA-424 2nd Edition</a:t>
            </a:r>
            <a:r>
              <a:rPr sz="780" b="0" i="0">
                <a:solidFill>
                  <a:srgbClr val="1F2933"/>
                </a:solidFill>
                <a:latin typeface="Arial"/>
              </a:rPr>
              <a:t> ratification moved us to </a:t>
            </a:r>
            <a:r>
              <a:rPr sz="780" b="1" i="0">
                <a:solidFill>
                  <a:srgbClr val="1F2933"/>
                </a:solidFill>
                <a:latin typeface="Arial"/>
              </a:rPr>
              <a:t>1.7</a:t>
            </a:r>
            <a:r>
              <a:rPr sz="780" b="0" i="0">
                <a:solidFill>
                  <a:srgbClr val="1F2933"/>
                </a:solidFill>
                <a:latin typeface="Arial"/>
              </a:rPr>
              <a:t>, where </a:t>
            </a:r>
            <a:r>
              <a:rPr sz="780" b="0" i="0">
                <a:solidFill>
                  <a:srgbClr val="0E8C86"/>
                </a:solidFill>
                <a:latin typeface="Consolas"/>
              </a:rPr>
              <a:t>nistQuantumSecurityLevel</a:t>
            </a:r>
            <a:r>
              <a:rPr sz="780" b="0" i="0">
                <a:solidFill>
                  <a:srgbClr val="1F2933"/>
                </a:solidFill>
                <a:latin typeface="Arial"/>
              </a:rPr>
              <a:t> is a native schema field rather than a vendor extension. A scan of real third-party code (</a:t>
            </a:r>
            <a:r>
              <a:rPr sz="780" b="0" i="1">
                <a:solidFill>
                  <a:srgbClr val="1F2933"/>
                </a:solidFill>
                <a:latin typeface="Arial"/>
              </a:rPr>
              <a:t>paramiko</a:t>
            </a:r>
            <a:r>
              <a:rPr sz="780" b="0" i="0">
                <a:solidFill>
                  <a:srgbClr val="1F2933"/>
                </a:solidFill>
                <a:latin typeface="Arial"/>
              </a:rPr>
              <a:t>) scored an </a:t>
            </a:r>
            <a:r>
              <a:rPr sz="780" b="1" i="0">
                <a:solidFill>
                  <a:srgbClr val="1F2933"/>
                </a:solidFill>
                <a:latin typeface="Arial"/>
              </a:rPr>
              <a:t>already-migrated ML-KEM key exchange at 0.60</a:t>
            </a:r>
            <a:r>
              <a:rPr sz="780" b="0" i="0">
                <a:solidFill>
                  <a:srgbClr val="1F2933"/>
                </a:solidFill>
                <a:latin typeface="Arial"/>
              </a:rPr>
              <a:t> — that single finding rewrote the priority formula from a flat </a:t>
            </a:r>
            <a:r>
              <a:rPr sz="780" b="0" i="0">
                <a:solidFill>
                  <a:srgbClr val="0E8C86"/>
                </a:solidFill>
                <a:latin typeface="Consolas"/>
              </a:rPr>
              <a:t>max()</a:t>
            </a:r>
            <a:r>
              <a:rPr sz="780" b="0" i="0">
                <a:solidFill>
                  <a:srgbClr val="1F2933"/>
                </a:solidFill>
                <a:latin typeface="Arial"/>
              </a:rPr>
              <a:t> across peer axes to </a:t>
            </a:r>
            <a:r>
              <a:rPr sz="780" b="0" i="0">
                <a:solidFill>
                  <a:srgbClr val="0E8C86"/>
                </a:solidFill>
                <a:latin typeface="Consolas"/>
              </a:rPr>
              <a:t>vulnerability × timing</a:t>
            </a:r>
            <a:r>
              <a:rPr sz="780" b="0" i="0">
                <a:solidFill>
                  <a:srgbClr val="1F2933"/>
                </a:solidFill>
                <a:latin typeface="Arial"/>
              </a:rPr>
              <a:t>. And running </a:t>
            </a:r>
            <a:r>
              <a:rPr sz="780" b="0" i="0">
                <a:solidFill>
                  <a:srgbClr val="0E8C86"/>
                </a:solidFill>
                <a:latin typeface="Consolas"/>
              </a:rPr>
              <a:t>verify</a:t>
            </a:r>
            <a:r>
              <a:rPr sz="780" b="0" i="0">
                <a:solidFill>
                  <a:srgbClr val="1F2933"/>
                </a:solidFill>
                <a:latin typeface="Arial"/>
              </a:rPr>
              <a:t> against real code exposed findings anchored to </a:t>
            </a:r>
            <a:r>
              <a:rPr sz="780" b="0" i="1">
                <a:solidFill>
                  <a:srgbClr val="1F2933"/>
                </a:solidFill>
                <a:latin typeface="Arial"/>
              </a:rPr>
              <a:t>commented-out</a:t>
            </a:r>
            <a:r>
              <a:rPr sz="780" b="0" i="0">
                <a:solidFill>
                  <a:srgbClr val="1F2933"/>
                </a:solidFill>
                <a:latin typeface="Arial"/>
              </a:rPr>
              <a:t> declarations in jjwt; filtering comments removed </a:t>
            </a:r>
            <a:r>
              <a:rPr sz="780" b="1" i="0">
                <a:solidFill>
                  <a:srgbClr val="1F2933"/>
                </a:solidFill>
                <a:latin typeface="Arial"/>
              </a:rPr>
              <a:t>14 false positives</a:t>
            </a:r>
            <a:r>
              <a:rPr sz="780" b="0" i="0">
                <a:solidFill>
                  <a:srgbClr val="1F2933"/>
                </a:solidFill>
                <a:latin typeface="Arial"/>
              </a:rPr>
              <a:t>.</a:t>
            </a:r>
          </a:p>
        </p:txBody>
      </p:sp>
      <p:sp>
        <p:nvSpPr>
          <p:cNvPr id="17435" name="TextBox 17434"/>
          <p:cNvSpPr txBox="1"/>
          <p:nvPr/>
        </p:nvSpPr>
        <p:spPr>
          <a:xfrm>
            <a:off x="420624" y="6035040"/>
            <a:ext cx="11347704" cy="182880"/>
          </a:xfrm>
          <a:prstGeom prst="rect">
            <a:avLst/>
          </a:prstGeom>
          <a:noFill/>
        </p:spPr>
        <p:txBody>
          <a:bodyPr wrap="square" lIns="0" rIns="0" tIns="0" bIns="0" anchor="t">
            <a:noAutofit/>
          </a:bodyPr>
          <a:lstStyle/>
          <a:p>
            <a:pPr algn="l">
              <a:lnSpc>
                <a:spcPct val="100000"/>
              </a:lnSpc>
              <a:spcBef>
                <a:spcPts val="0"/>
              </a:spcBef>
              <a:spcAft>
                <a:spcPts val="0"/>
              </a:spcAft>
            </a:pPr>
            <a:r>
              <a:rPr sz="760" b="0" i="0">
                <a:solidFill>
                  <a:srgbClr val="5A6B7C"/>
                </a:solidFill>
                <a:latin typeface="Arial"/>
              </a:rPr>
              <a:t>Full specification and design record: </a:t>
            </a:r>
            <a:r>
              <a:rPr sz="760" b="0" i="0">
                <a:solidFill>
                  <a:srgbClr val="0E8C86"/>
                </a:solidFill>
                <a:latin typeface="Consolas"/>
              </a:rPr>
              <a:t>docs/cbom-compass-prd.md</a:t>
            </a:r>
            <a:r>
              <a:rPr sz="760" b="0" i="0">
                <a:solidFill>
                  <a:srgbClr val="5A6B7C"/>
                </a:solidFill>
                <a:latin typeface="Arial"/>
              </a:rPr>
              <a:t> (PRD v1.2)  ·  scanner accuracy notes: </a:t>
            </a:r>
            <a:r>
              <a:rPr sz="760" b="0" i="0">
                <a:solidFill>
                  <a:srgbClr val="0E8C86"/>
                </a:solidFill>
                <a:latin typeface="Consolas"/>
              </a:rPr>
              <a:t>corpus/README.md</a:t>
            </a:r>
            <a:r>
              <a:rPr sz="760" b="0" i="0">
                <a:solidFill>
                  <a:srgbClr val="5A6B7C"/>
                </a:solidFill>
                <a:latin typeface="Arial"/>
              </a:rPr>
              <a:t>  ·  architecture, security model and stated limits: repository </a:t>
            </a:r>
            <a:r>
              <a:rPr sz="760" b="0" i="0">
                <a:solidFill>
                  <a:srgbClr val="0E8C86"/>
                </a:solidFill>
                <a:latin typeface="Consolas"/>
              </a:rPr>
              <a:t>README.md</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7487</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2025</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147</cp:revision>
  <dcterms:created xsi:type="dcterms:W3CDTF">2013-12-12T18:46:50Z</dcterms:created>
  <dcterms:modified xsi:type="dcterms:W3CDTF">2025-06-26T06:39:00Z</dcterms:modified>
  <cp:category/>
</cp:coreProperties>
</file>